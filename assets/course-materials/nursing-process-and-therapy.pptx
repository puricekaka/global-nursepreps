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0" d="100"/>
          <a:sy n="70" d="100"/>
        </p:scale>
        <p:origin x="138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800" b="1" i="0">
                <a:solidFill>
                  <a:srgbClr val="FF0066"/>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F0066"/>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F0066"/>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F0066"/>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163" y="22682"/>
            <a:ext cx="9059672" cy="452120"/>
          </a:xfrm>
          <a:prstGeom prst="rect">
            <a:avLst/>
          </a:prstGeom>
        </p:spPr>
        <p:txBody>
          <a:bodyPr wrap="square" lIns="0" tIns="0" rIns="0" bIns="0">
            <a:spAutoFit/>
          </a:bodyPr>
          <a:lstStyle>
            <a:lvl1pPr>
              <a:defRPr sz="2800" b="1" i="0">
                <a:solidFill>
                  <a:srgbClr val="FF0066"/>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241198" y="2825939"/>
            <a:ext cx="8368842" cy="380993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5.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88595" y="561340"/>
            <a:ext cx="8816340" cy="5593080"/>
          </a:xfrm>
          <a:prstGeom prst="rect">
            <a:avLst/>
          </a:prstGeom>
        </p:spPr>
        <p:txBody>
          <a:bodyPr vert="horz" wrap="square" lIns="0" tIns="12065" rIns="0" bIns="0" rtlCol="0">
            <a:noAutofit/>
          </a:bodyPr>
          <a:lstStyle/>
          <a:p>
            <a:pPr marL="57785" algn="ctr">
              <a:lnSpc>
                <a:spcPct val="100000"/>
              </a:lnSpc>
              <a:spcBef>
                <a:spcPts val="95"/>
              </a:spcBef>
            </a:pPr>
            <a:r>
              <a:rPr sz="3100" dirty="0">
                <a:latin typeface="Times New Roman" panose="02020603050405020304"/>
                <a:cs typeface="Times New Roman" panose="02020603050405020304"/>
              </a:rPr>
              <a:t>Nursing</a:t>
            </a:r>
            <a:r>
              <a:rPr sz="3100" spc="-55" dirty="0">
                <a:latin typeface="Times New Roman" panose="02020603050405020304"/>
                <a:cs typeface="Times New Roman" panose="02020603050405020304"/>
              </a:rPr>
              <a:t> </a:t>
            </a:r>
            <a:r>
              <a:rPr sz="3100" dirty="0">
                <a:latin typeface="Times New Roman" panose="02020603050405020304"/>
                <a:cs typeface="Times New Roman" panose="02020603050405020304"/>
              </a:rPr>
              <a:t>Process</a:t>
            </a:r>
            <a:r>
              <a:rPr sz="3100" spc="-40" dirty="0">
                <a:latin typeface="Times New Roman" panose="02020603050405020304"/>
                <a:cs typeface="Times New Roman" panose="02020603050405020304"/>
              </a:rPr>
              <a:t> </a:t>
            </a:r>
            <a:r>
              <a:rPr sz="3100" dirty="0">
                <a:latin typeface="Times New Roman" panose="02020603050405020304"/>
                <a:cs typeface="Times New Roman" panose="02020603050405020304"/>
              </a:rPr>
              <a:t>in</a:t>
            </a:r>
            <a:r>
              <a:rPr sz="3100" spc="-75" dirty="0">
                <a:latin typeface="Times New Roman" panose="02020603050405020304"/>
                <a:cs typeface="Times New Roman" panose="02020603050405020304"/>
              </a:rPr>
              <a:t> </a:t>
            </a:r>
            <a:r>
              <a:rPr sz="3100" dirty="0">
                <a:latin typeface="Times New Roman" panose="02020603050405020304"/>
                <a:cs typeface="Times New Roman" panose="02020603050405020304"/>
              </a:rPr>
              <a:t>Drug</a:t>
            </a:r>
            <a:r>
              <a:rPr sz="3100" spc="-120" dirty="0">
                <a:latin typeface="Times New Roman" panose="02020603050405020304"/>
                <a:cs typeface="Times New Roman" panose="02020603050405020304"/>
              </a:rPr>
              <a:t> </a:t>
            </a:r>
            <a:r>
              <a:rPr sz="3100" spc="-10" dirty="0">
                <a:latin typeface="Times New Roman" panose="02020603050405020304"/>
                <a:cs typeface="Times New Roman" panose="02020603050405020304"/>
              </a:rPr>
              <a:t>Therapy</a:t>
            </a:r>
            <a:endParaRPr sz="3100">
              <a:latin typeface="Times New Roman" panose="02020603050405020304"/>
              <a:cs typeface="Times New Roman" panose="02020603050405020304"/>
            </a:endParaRPr>
          </a:p>
          <a:p>
            <a:pPr marL="12700">
              <a:lnSpc>
                <a:spcPct val="100000"/>
              </a:lnSpc>
              <a:spcBef>
                <a:spcPts val="2405"/>
              </a:spcBef>
            </a:pPr>
            <a:r>
              <a:rPr sz="3000" b="1" u="none" spc="165" dirty="0">
                <a:uFill>
                  <a:solidFill>
                    <a:srgbClr val="000000"/>
                  </a:solidFill>
                </a:uFill>
                <a:latin typeface="Cambria" panose="02040503050406030204"/>
                <a:cs typeface="Cambria" panose="02040503050406030204"/>
              </a:rPr>
              <a:t>Objectives:</a:t>
            </a:r>
            <a:endParaRPr sz="3000" u="none">
              <a:latin typeface="Cambria" panose="02040503050406030204"/>
              <a:cs typeface="Cambria" panose="02040503050406030204"/>
            </a:endParaRPr>
          </a:p>
          <a:p>
            <a:pPr marL="12700" marR="12065">
              <a:lnSpc>
                <a:spcPct val="110000"/>
              </a:lnSpc>
              <a:spcBef>
                <a:spcPts val="1120"/>
              </a:spcBef>
            </a:pPr>
            <a:r>
              <a:rPr sz="2600" dirty="0">
                <a:latin typeface="Times New Roman" panose="02020603050405020304"/>
                <a:cs typeface="Times New Roman" panose="02020603050405020304"/>
              </a:rPr>
              <a:t>Upon</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completion</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this lecture,</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student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will</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be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able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answer</a:t>
            </a:r>
            <a:r>
              <a:rPr sz="2600" spc="-25" dirty="0">
                <a:latin typeface="Times New Roman" panose="02020603050405020304"/>
                <a:cs typeface="Times New Roman" panose="02020603050405020304"/>
              </a:rPr>
              <a:t> the </a:t>
            </a:r>
            <a:r>
              <a:rPr sz="2600" dirty="0">
                <a:latin typeface="Times New Roman" panose="02020603050405020304"/>
                <a:cs typeface="Times New Roman" panose="02020603050405020304"/>
              </a:rPr>
              <a:t>following</a:t>
            </a:r>
            <a:r>
              <a:rPr sz="2600" spc="-1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questions:</a:t>
            </a:r>
            <a:endParaRPr sz="2600">
              <a:latin typeface="Times New Roman" panose="02020603050405020304"/>
              <a:cs typeface="Times New Roman" panose="02020603050405020304"/>
            </a:endParaRPr>
          </a:p>
          <a:p>
            <a:pPr marL="527685" indent="-514985">
              <a:lnSpc>
                <a:spcPct val="100000"/>
              </a:lnSpc>
              <a:spcBef>
                <a:spcPts val="935"/>
              </a:spcBef>
              <a:buAutoNum type="arabicPeriod"/>
              <a:tabLst>
                <a:tab pos="527685" algn="l"/>
              </a:tabLst>
            </a:pPr>
            <a:r>
              <a:rPr sz="2600" dirty="0">
                <a:latin typeface="Times New Roman" panose="02020603050405020304"/>
                <a:cs typeface="Times New Roman" panose="02020603050405020304"/>
              </a:rPr>
              <a:t>What</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are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responsibilities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 nurses</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in</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therapy?</a:t>
            </a:r>
            <a:endParaRPr sz="2600">
              <a:latin typeface="Times New Roman" panose="02020603050405020304"/>
              <a:cs typeface="Times New Roman" panose="02020603050405020304"/>
            </a:endParaRPr>
          </a:p>
          <a:p>
            <a:pPr marL="527685" marR="483870" indent="-515620">
              <a:lnSpc>
                <a:spcPct val="110000"/>
              </a:lnSpc>
              <a:spcBef>
                <a:spcPts val="630"/>
              </a:spcBef>
              <a:buAutoNum type="arabicPeriod"/>
              <a:tabLst>
                <a:tab pos="527685" algn="l"/>
              </a:tabLst>
            </a:pPr>
            <a:r>
              <a:rPr sz="2600" dirty="0">
                <a:latin typeface="Times New Roman" panose="02020603050405020304"/>
                <a:cs typeface="Times New Roman" panose="02020603050405020304"/>
              </a:rPr>
              <a:t>Define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Medication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Errors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explain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general</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principles</a:t>
            </a:r>
            <a:r>
              <a:rPr sz="2600" spc="-35"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of </a:t>
            </a:r>
            <a:r>
              <a:rPr sz="2600" dirty="0">
                <a:latin typeface="Times New Roman" panose="02020603050405020304"/>
                <a:cs typeface="Times New Roman" panose="02020603050405020304"/>
              </a:rPr>
              <a:t>drug</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administration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prevent</a:t>
            </a:r>
            <a:r>
              <a:rPr sz="2600" spc="-55" dirty="0">
                <a:latin typeface="Times New Roman" panose="02020603050405020304"/>
                <a:cs typeface="Times New Roman" panose="02020603050405020304"/>
              </a:rPr>
              <a:t> </a:t>
            </a:r>
            <a:r>
              <a:rPr sz="2600" dirty="0">
                <a:latin typeface="Times New Roman" panose="02020603050405020304"/>
                <a:cs typeface="Times New Roman" panose="02020603050405020304"/>
              </a:rPr>
              <a:t>medication</a:t>
            </a:r>
            <a:r>
              <a:rPr sz="2600" spc="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errors</a:t>
            </a:r>
            <a:endParaRPr sz="2600">
              <a:latin typeface="Times New Roman" panose="02020603050405020304"/>
              <a:cs typeface="Times New Roman" panose="02020603050405020304"/>
            </a:endParaRPr>
          </a:p>
          <a:p>
            <a:pPr marL="527685" indent="-514985">
              <a:lnSpc>
                <a:spcPct val="100000"/>
              </a:lnSpc>
              <a:spcBef>
                <a:spcPts val="990"/>
              </a:spcBef>
              <a:buAutoNum type="arabicPeriod"/>
              <a:tabLst>
                <a:tab pos="527685" algn="l"/>
              </a:tabLst>
            </a:pPr>
            <a:r>
              <a:rPr sz="2600" dirty="0">
                <a:latin typeface="Times New Roman" panose="02020603050405020304"/>
                <a:cs typeface="Times New Roman" panose="02020603050405020304"/>
              </a:rPr>
              <a:t>Define</a:t>
            </a:r>
            <a:r>
              <a:rPr sz="26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general</a:t>
            </a:r>
            <a:endParaRPr sz="2800">
              <a:latin typeface="Times New Roman" panose="02020603050405020304"/>
              <a:cs typeface="Times New Roman" panose="02020603050405020304"/>
            </a:endParaRPr>
          </a:p>
          <a:p>
            <a:pPr marL="527685" indent="-514985">
              <a:lnSpc>
                <a:spcPct val="100000"/>
              </a:lnSpc>
              <a:spcBef>
                <a:spcPts val="955"/>
              </a:spcBef>
              <a:buAutoNum type="arabicPeriod"/>
              <a:tabLst>
                <a:tab pos="527685" algn="l"/>
              </a:tabLst>
            </a:pPr>
            <a:r>
              <a:rPr sz="2600" dirty="0">
                <a:latin typeface="Times New Roman" panose="02020603050405020304"/>
                <a:cs typeface="Times New Roman" panose="02020603050405020304"/>
              </a:rPr>
              <a:t>Explain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what</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involved</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each</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step</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nursing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process</a:t>
            </a:r>
            <a:r>
              <a:rPr sz="2600" spc="-25" dirty="0">
                <a:latin typeface="Times New Roman" panose="02020603050405020304"/>
                <a:cs typeface="Times New Roman" panose="02020603050405020304"/>
              </a:rPr>
              <a:t> as</a:t>
            </a:r>
            <a:r>
              <a:rPr lang="en-US" altLang="" sz="2600" spc="-25" dirty="0">
                <a:latin typeface="Times New Roman" panose="02020603050405020304"/>
                <a:cs typeface="Times New Roman" panose="02020603050405020304"/>
              </a:rPr>
              <a:t> it relates to drug therapy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01267" y="437387"/>
            <a:ext cx="7187183" cy="173736"/>
          </a:xfrm>
          <a:prstGeom prst="rect">
            <a:avLst/>
          </a:prstGeom>
        </p:spPr>
      </p:pic>
      <p:pic>
        <p:nvPicPr>
          <p:cNvPr id="3" name="object 3"/>
          <p:cNvPicPr/>
          <p:nvPr/>
        </p:nvPicPr>
        <p:blipFill>
          <a:blip r:embed="rId3" cstate="print"/>
          <a:stretch>
            <a:fillRect/>
          </a:stretch>
        </p:blipFill>
        <p:spPr>
          <a:xfrm>
            <a:off x="3596787" y="960138"/>
            <a:ext cx="1990052" cy="174450"/>
          </a:xfrm>
          <a:prstGeom prst="rect">
            <a:avLst/>
          </a:prstGeom>
        </p:spPr>
      </p:pic>
      <p:pic>
        <p:nvPicPr>
          <p:cNvPr id="4" name="object 4"/>
          <p:cNvPicPr/>
          <p:nvPr/>
        </p:nvPicPr>
        <p:blipFill>
          <a:blip r:embed="rId4" cstate="print"/>
          <a:stretch>
            <a:fillRect/>
          </a:stretch>
        </p:blipFill>
        <p:spPr>
          <a:xfrm>
            <a:off x="990853" y="436879"/>
            <a:ext cx="7178675" cy="386969"/>
          </a:xfrm>
          <a:prstGeom prst="rect">
            <a:avLst/>
          </a:prstGeom>
        </p:spPr>
      </p:pic>
      <p:pic>
        <p:nvPicPr>
          <p:cNvPr id="5" name="object 5"/>
          <p:cNvPicPr/>
          <p:nvPr/>
        </p:nvPicPr>
        <p:blipFill>
          <a:blip r:embed="rId5" cstate="print"/>
          <a:stretch>
            <a:fillRect/>
          </a:stretch>
        </p:blipFill>
        <p:spPr>
          <a:xfrm>
            <a:off x="3581527" y="1048512"/>
            <a:ext cx="1979168" cy="291084"/>
          </a:xfrm>
          <a:prstGeom prst="rect">
            <a:avLst/>
          </a:prstGeom>
        </p:spPr>
      </p:pic>
      <p:grpSp>
        <p:nvGrpSpPr>
          <p:cNvPr id="6" name="object 6"/>
          <p:cNvGrpSpPr/>
          <p:nvPr/>
        </p:nvGrpSpPr>
        <p:grpSpPr>
          <a:xfrm>
            <a:off x="76300" y="2555748"/>
            <a:ext cx="1033780" cy="372110"/>
            <a:chOff x="76300" y="2555748"/>
            <a:chExt cx="1033780" cy="372110"/>
          </a:xfrm>
        </p:grpSpPr>
        <p:pic>
          <p:nvPicPr>
            <p:cNvPr id="7" name="object 7"/>
            <p:cNvPicPr/>
            <p:nvPr/>
          </p:nvPicPr>
          <p:blipFill>
            <a:blip r:embed="rId6" cstate="print"/>
            <a:stretch>
              <a:fillRect/>
            </a:stretch>
          </p:blipFill>
          <p:spPr>
            <a:xfrm>
              <a:off x="76300" y="2642973"/>
              <a:ext cx="103230" cy="91816"/>
            </a:xfrm>
            <a:prstGeom prst="rect">
              <a:avLst/>
            </a:prstGeom>
          </p:spPr>
        </p:pic>
        <p:pic>
          <p:nvPicPr>
            <p:cNvPr id="8" name="object 8"/>
            <p:cNvPicPr/>
            <p:nvPr/>
          </p:nvPicPr>
          <p:blipFill>
            <a:blip r:embed="rId7" cstate="print"/>
            <a:stretch>
              <a:fillRect/>
            </a:stretch>
          </p:blipFill>
          <p:spPr>
            <a:xfrm>
              <a:off x="161544" y="2555748"/>
              <a:ext cx="757428" cy="371855"/>
            </a:xfrm>
            <a:prstGeom prst="rect">
              <a:avLst/>
            </a:prstGeom>
          </p:spPr>
        </p:pic>
        <p:pic>
          <p:nvPicPr>
            <p:cNvPr id="9" name="object 9"/>
            <p:cNvPicPr/>
            <p:nvPr/>
          </p:nvPicPr>
          <p:blipFill>
            <a:blip r:embed="rId8" cstate="print"/>
            <a:stretch>
              <a:fillRect/>
            </a:stretch>
          </p:blipFill>
          <p:spPr>
            <a:xfrm>
              <a:off x="446532" y="2555748"/>
              <a:ext cx="662940" cy="371855"/>
            </a:xfrm>
            <a:prstGeom prst="rect">
              <a:avLst/>
            </a:prstGeom>
          </p:spPr>
        </p:pic>
      </p:grpSp>
      <p:grpSp>
        <p:nvGrpSpPr>
          <p:cNvPr id="10" name="object 10"/>
          <p:cNvGrpSpPr/>
          <p:nvPr/>
        </p:nvGrpSpPr>
        <p:grpSpPr>
          <a:xfrm>
            <a:off x="76300" y="4417695"/>
            <a:ext cx="1033780" cy="633095"/>
            <a:chOff x="76300" y="4417695"/>
            <a:chExt cx="1033780" cy="633095"/>
          </a:xfrm>
        </p:grpSpPr>
        <p:pic>
          <p:nvPicPr>
            <p:cNvPr id="11" name="object 11"/>
            <p:cNvPicPr/>
            <p:nvPr/>
          </p:nvPicPr>
          <p:blipFill>
            <a:blip r:embed="rId9" cstate="print"/>
            <a:stretch>
              <a:fillRect/>
            </a:stretch>
          </p:blipFill>
          <p:spPr>
            <a:xfrm>
              <a:off x="76300" y="4765905"/>
              <a:ext cx="103230" cy="91816"/>
            </a:xfrm>
            <a:prstGeom prst="rect">
              <a:avLst/>
            </a:prstGeom>
          </p:spPr>
        </p:pic>
        <p:pic>
          <p:nvPicPr>
            <p:cNvPr id="12" name="object 12"/>
            <p:cNvPicPr/>
            <p:nvPr/>
          </p:nvPicPr>
          <p:blipFill>
            <a:blip r:embed="rId10" cstate="print"/>
            <a:stretch>
              <a:fillRect/>
            </a:stretch>
          </p:blipFill>
          <p:spPr>
            <a:xfrm>
              <a:off x="161544" y="4678680"/>
              <a:ext cx="757428" cy="371856"/>
            </a:xfrm>
            <a:prstGeom prst="rect">
              <a:avLst/>
            </a:prstGeom>
          </p:spPr>
        </p:pic>
        <p:pic>
          <p:nvPicPr>
            <p:cNvPr id="13" name="object 13"/>
            <p:cNvPicPr/>
            <p:nvPr/>
          </p:nvPicPr>
          <p:blipFill>
            <a:blip r:embed="rId11" cstate="print"/>
            <a:stretch>
              <a:fillRect/>
            </a:stretch>
          </p:blipFill>
          <p:spPr>
            <a:xfrm>
              <a:off x="446532" y="4678680"/>
              <a:ext cx="662940" cy="371856"/>
            </a:xfrm>
            <a:prstGeom prst="rect">
              <a:avLst/>
            </a:prstGeom>
          </p:spPr>
        </p:pic>
        <p:sp>
          <p:nvSpPr>
            <p:cNvPr id="14" name="object 14"/>
            <p:cNvSpPr/>
            <p:nvPr/>
          </p:nvSpPr>
          <p:spPr>
            <a:xfrm>
              <a:off x="404710" y="4422267"/>
              <a:ext cx="177165" cy="265430"/>
            </a:xfrm>
            <a:custGeom>
              <a:avLst/>
              <a:gdLst/>
              <a:ahLst/>
              <a:cxnLst/>
              <a:rect l="l" t="t" r="r" b="b"/>
              <a:pathLst>
                <a:path w="177165" h="265429">
                  <a:moveTo>
                    <a:pt x="85013" y="0"/>
                  </a:moveTo>
                  <a:lnTo>
                    <a:pt x="39605" y="10340"/>
                  </a:lnTo>
                  <a:lnTo>
                    <a:pt x="15705" y="42120"/>
                  </a:lnTo>
                  <a:lnTo>
                    <a:pt x="14090" y="57975"/>
                  </a:lnTo>
                  <a:lnTo>
                    <a:pt x="11895" y="74973"/>
                  </a:lnTo>
                  <a:lnTo>
                    <a:pt x="9118" y="93090"/>
                  </a:lnTo>
                  <a:lnTo>
                    <a:pt x="24739" y="93090"/>
                  </a:lnTo>
                  <a:lnTo>
                    <a:pt x="38976" y="53212"/>
                  </a:lnTo>
                  <a:lnTo>
                    <a:pt x="71437" y="42671"/>
                  </a:lnTo>
                  <a:lnTo>
                    <a:pt x="80600" y="43432"/>
                  </a:lnTo>
                  <a:lnTo>
                    <a:pt x="110315" y="69516"/>
                  </a:lnTo>
                  <a:lnTo>
                    <a:pt x="113106" y="89534"/>
                  </a:lnTo>
                  <a:lnTo>
                    <a:pt x="112246" y="100984"/>
                  </a:lnTo>
                  <a:lnTo>
                    <a:pt x="90367" y="150000"/>
                  </a:lnTo>
                  <a:lnTo>
                    <a:pt x="59859" y="185191"/>
                  </a:lnTo>
                  <a:lnTo>
                    <a:pt x="0" y="244347"/>
                  </a:lnTo>
                  <a:lnTo>
                    <a:pt x="0" y="265175"/>
                  </a:lnTo>
                  <a:lnTo>
                    <a:pt x="51484" y="263747"/>
                  </a:lnTo>
                  <a:lnTo>
                    <a:pt x="91719" y="263270"/>
                  </a:lnTo>
                  <a:lnTo>
                    <a:pt x="135809" y="263747"/>
                  </a:lnTo>
                  <a:lnTo>
                    <a:pt x="155900" y="264342"/>
                  </a:lnTo>
                  <a:lnTo>
                    <a:pt x="174688" y="265175"/>
                  </a:lnTo>
                  <a:lnTo>
                    <a:pt x="176733" y="263270"/>
                  </a:lnTo>
                  <a:lnTo>
                    <a:pt x="175488" y="255650"/>
                  </a:lnTo>
                  <a:lnTo>
                    <a:pt x="174879" y="249046"/>
                  </a:lnTo>
                  <a:lnTo>
                    <a:pt x="174879" y="238251"/>
                  </a:lnTo>
                  <a:lnTo>
                    <a:pt x="175488" y="230250"/>
                  </a:lnTo>
                  <a:lnTo>
                    <a:pt x="176733" y="219582"/>
                  </a:lnTo>
                  <a:lnTo>
                    <a:pt x="174688" y="217169"/>
                  </a:lnTo>
                  <a:lnTo>
                    <a:pt x="160105" y="218243"/>
                  </a:lnTo>
                  <a:lnTo>
                    <a:pt x="142779" y="218995"/>
                  </a:lnTo>
                  <a:lnTo>
                    <a:pt x="122710" y="219438"/>
                  </a:lnTo>
                  <a:lnTo>
                    <a:pt x="56184" y="219582"/>
                  </a:lnTo>
                  <a:lnTo>
                    <a:pt x="55067" y="217169"/>
                  </a:lnTo>
                  <a:lnTo>
                    <a:pt x="89402" y="185548"/>
                  </a:lnTo>
                  <a:lnTo>
                    <a:pt x="116320" y="159273"/>
                  </a:lnTo>
                  <a:lnTo>
                    <a:pt x="147904" y="122808"/>
                  </a:lnTo>
                  <a:lnTo>
                    <a:pt x="163595" y="84411"/>
                  </a:lnTo>
                  <a:lnTo>
                    <a:pt x="164642" y="71627"/>
                  </a:lnTo>
                  <a:lnTo>
                    <a:pt x="163304" y="56552"/>
                  </a:lnTo>
                  <a:lnTo>
                    <a:pt x="143243" y="20065"/>
                  </a:lnTo>
                  <a:lnTo>
                    <a:pt x="102468" y="1260"/>
                  </a:lnTo>
                  <a:lnTo>
                    <a:pt x="85013" y="0"/>
                  </a:lnTo>
                  <a:close/>
                </a:path>
              </a:pathLst>
            </a:custGeom>
            <a:solidFill>
              <a:srgbClr val="FF0000"/>
            </a:solidFill>
          </p:spPr>
          <p:txBody>
            <a:bodyPr wrap="square" lIns="0" tIns="0" rIns="0" bIns="0" rtlCol="0"/>
            <a:lstStyle/>
            <a:p>
              <a:endParaRPr/>
            </a:p>
          </p:txBody>
        </p:sp>
        <p:sp>
          <p:nvSpPr>
            <p:cNvPr id="15" name="object 15"/>
            <p:cNvSpPr/>
            <p:nvPr/>
          </p:nvSpPr>
          <p:spPr>
            <a:xfrm>
              <a:off x="404710" y="4422267"/>
              <a:ext cx="177165" cy="265430"/>
            </a:xfrm>
            <a:custGeom>
              <a:avLst/>
              <a:gdLst/>
              <a:ahLst/>
              <a:cxnLst/>
              <a:rect l="l" t="t" r="r" b="b"/>
              <a:pathLst>
                <a:path w="177165" h="265429">
                  <a:moveTo>
                    <a:pt x="85013" y="0"/>
                  </a:moveTo>
                  <a:lnTo>
                    <a:pt x="131582" y="11304"/>
                  </a:lnTo>
                  <a:lnTo>
                    <a:pt x="159291" y="42941"/>
                  </a:lnTo>
                  <a:lnTo>
                    <a:pt x="164642" y="71627"/>
                  </a:lnTo>
                  <a:lnTo>
                    <a:pt x="163595" y="84411"/>
                  </a:lnTo>
                  <a:lnTo>
                    <a:pt x="147904" y="122808"/>
                  </a:lnTo>
                  <a:lnTo>
                    <a:pt x="116320" y="159273"/>
                  </a:lnTo>
                  <a:lnTo>
                    <a:pt x="55067" y="217169"/>
                  </a:lnTo>
                  <a:lnTo>
                    <a:pt x="56184" y="219582"/>
                  </a:lnTo>
                  <a:lnTo>
                    <a:pt x="99898" y="219582"/>
                  </a:lnTo>
                  <a:lnTo>
                    <a:pt x="122710" y="219438"/>
                  </a:lnTo>
                  <a:lnTo>
                    <a:pt x="142779" y="218995"/>
                  </a:lnTo>
                  <a:lnTo>
                    <a:pt x="160105" y="218243"/>
                  </a:lnTo>
                  <a:lnTo>
                    <a:pt x="174688" y="217169"/>
                  </a:lnTo>
                  <a:lnTo>
                    <a:pt x="176733" y="219582"/>
                  </a:lnTo>
                  <a:lnTo>
                    <a:pt x="175488" y="230250"/>
                  </a:lnTo>
                  <a:lnTo>
                    <a:pt x="174879" y="238251"/>
                  </a:lnTo>
                  <a:lnTo>
                    <a:pt x="174879" y="243585"/>
                  </a:lnTo>
                  <a:lnTo>
                    <a:pt x="174879" y="249046"/>
                  </a:lnTo>
                  <a:lnTo>
                    <a:pt x="175488" y="255650"/>
                  </a:lnTo>
                  <a:lnTo>
                    <a:pt x="176733" y="263270"/>
                  </a:lnTo>
                  <a:lnTo>
                    <a:pt x="174688" y="265175"/>
                  </a:lnTo>
                  <a:lnTo>
                    <a:pt x="155900" y="264342"/>
                  </a:lnTo>
                  <a:lnTo>
                    <a:pt x="135809" y="263747"/>
                  </a:lnTo>
                  <a:lnTo>
                    <a:pt x="114414" y="263390"/>
                  </a:lnTo>
                  <a:lnTo>
                    <a:pt x="91719" y="263270"/>
                  </a:lnTo>
                  <a:lnTo>
                    <a:pt x="73007" y="263390"/>
                  </a:lnTo>
                  <a:lnTo>
                    <a:pt x="51484" y="263747"/>
                  </a:lnTo>
                  <a:lnTo>
                    <a:pt x="27148" y="264342"/>
                  </a:lnTo>
                  <a:lnTo>
                    <a:pt x="0" y="265175"/>
                  </a:lnTo>
                  <a:lnTo>
                    <a:pt x="0" y="244347"/>
                  </a:lnTo>
                  <a:lnTo>
                    <a:pt x="38328" y="206882"/>
                  </a:lnTo>
                  <a:lnTo>
                    <a:pt x="77206" y="166227"/>
                  </a:lnTo>
                  <a:lnTo>
                    <a:pt x="105364" y="124503"/>
                  </a:lnTo>
                  <a:lnTo>
                    <a:pt x="113106" y="89534"/>
                  </a:lnTo>
                  <a:lnTo>
                    <a:pt x="112408" y="78865"/>
                  </a:lnTo>
                  <a:lnTo>
                    <a:pt x="88738" y="45704"/>
                  </a:lnTo>
                  <a:lnTo>
                    <a:pt x="71437" y="42671"/>
                  </a:lnTo>
                  <a:lnTo>
                    <a:pt x="64489" y="43074"/>
                  </a:lnTo>
                  <a:lnTo>
                    <a:pt x="31826" y="64515"/>
                  </a:lnTo>
                  <a:lnTo>
                    <a:pt x="24739" y="93090"/>
                  </a:lnTo>
                  <a:lnTo>
                    <a:pt x="9118" y="93090"/>
                  </a:lnTo>
                  <a:lnTo>
                    <a:pt x="11895" y="74973"/>
                  </a:lnTo>
                  <a:lnTo>
                    <a:pt x="14090" y="57975"/>
                  </a:lnTo>
                  <a:lnTo>
                    <a:pt x="15705" y="42120"/>
                  </a:lnTo>
                  <a:lnTo>
                    <a:pt x="16738" y="27431"/>
                  </a:lnTo>
                  <a:lnTo>
                    <a:pt x="24118" y="20766"/>
                  </a:lnTo>
                  <a:lnTo>
                    <a:pt x="65277" y="1682"/>
                  </a:lnTo>
                  <a:lnTo>
                    <a:pt x="74874" y="424"/>
                  </a:lnTo>
                  <a:lnTo>
                    <a:pt x="85013" y="0"/>
                  </a:lnTo>
                  <a:close/>
                </a:path>
              </a:pathLst>
            </a:custGeom>
            <a:ln w="9144">
              <a:solidFill>
                <a:srgbClr val="000000"/>
              </a:solidFill>
            </a:ln>
          </p:spPr>
          <p:txBody>
            <a:bodyPr wrap="square" lIns="0" tIns="0" rIns="0" bIns="0" rtlCol="0"/>
            <a:lstStyle/>
            <a:p>
              <a:endParaRPr/>
            </a:p>
          </p:txBody>
        </p:sp>
        <p:pic>
          <p:nvPicPr>
            <p:cNvPr id="16" name="object 16"/>
            <p:cNvPicPr/>
            <p:nvPr/>
          </p:nvPicPr>
          <p:blipFill>
            <a:blip r:embed="rId12" cstate="print"/>
            <a:stretch>
              <a:fillRect/>
            </a:stretch>
          </p:blipFill>
          <p:spPr>
            <a:xfrm>
              <a:off x="696099" y="4626737"/>
              <a:ext cx="68681" cy="68580"/>
            </a:xfrm>
            <a:prstGeom prst="rect">
              <a:avLst/>
            </a:prstGeom>
          </p:spPr>
        </p:pic>
      </p:grpSp>
      <p:pic>
        <p:nvPicPr>
          <p:cNvPr id="17" name="object 17"/>
          <p:cNvPicPr/>
          <p:nvPr/>
        </p:nvPicPr>
        <p:blipFill>
          <a:blip r:embed="rId13" cstate="print"/>
          <a:stretch>
            <a:fillRect/>
          </a:stretch>
        </p:blipFill>
        <p:spPr>
          <a:xfrm>
            <a:off x="70633" y="2377439"/>
            <a:ext cx="103458" cy="103505"/>
          </a:xfrm>
          <a:prstGeom prst="rect">
            <a:avLst/>
          </a:prstGeom>
        </p:spPr>
      </p:pic>
      <p:grpSp>
        <p:nvGrpSpPr>
          <p:cNvPr id="18" name="object 18"/>
          <p:cNvGrpSpPr/>
          <p:nvPr/>
        </p:nvGrpSpPr>
        <p:grpSpPr>
          <a:xfrm>
            <a:off x="398652" y="2297302"/>
            <a:ext cx="173990" cy="271780"/>
            <a:chOff x="398652" y="2297302"/>
            <a:chExt cx="173990" cy="271780"/>
          </a:xfrm>
        </p:grpSpPr>
        <p:sp>
          <p:nvSpPr>
            <p:cNvPr id="19" name="object 19"/>
            <p:cNvSpPr/>
            <p:nvPr/>
          </p:nvSpPr>
          <p:spPr>
            <a:xfrm>
              <a:off x="403224" y="2301874"/>
              <a:ext cx="164465" cy="262255"/>
            </a:xfrm>
            <a:custGeom>
              <a:avLst/>
              <a:gdLst/>
              <a:ahLst/>
              <a:cxnLst/>
              <a:rect l="l" t="t" r="r" b="b"/>
              <a:pathLst>
                <a:path w="164465" h="262255">
                  <a:moveTo>
                    <a:pt x="117576" y="0"/>
                  </a:moveTo>
                  <a:lnTo>
                    <a:pt x="93018" y="9429"/>
                  </a:lnTo>
                  <a:lnTo>
                    <a:pt x="65484" y="19050"/>
                  </a:lnTo>
                  <a:lnTo>
                    <a:pt x="34973" y="28860"/>
                  </a:lnTo>
                  <a:lnTo>
                    <a:pt x="1485" y="38862"/>
                  </a:lnTo>
                  <a:lnTo>
                    <a:pt x="0" y="41655"/>
                  </a:lnTo>
                  <a:lnTo>
                    <a:pt x="1612" y="47625"/>
                  </a:lnTo>
                  <a:lnTo>
                    <a:pt x="2908" y="55245"/>
                  </a:lnTo>
                  <a:lnTo>
                    <a:pt x="3898" y="64262"/>
                  </a:lnTo>
                  <a:lnTo>
                    <a:pt x="6324" y="65786"/>
                  </a:lnTo>
                  <a:lnTo>
                    <a:pt x="59842" y="41401"/>
                  </a:lnTo>
                  <a:lnTo>
                    <a:pt x="61569" y="40894"/>
                  </a:lnTo>
                  <a:lnTo>
                    <a:pt x="64554" y="40894"/>
                  </a:lnTo>
                  <a:lnTo>
                    <a:pt x="67348" y="104901"/>
                  </a:lnTo>
                  <a:lnTo>
                    <a:pt x="66975" y="149494"/>
                  </a:lnTo>
                  <a:lnTo>
                    <a:pt x="65849" y="200278"/>
                  </a:lnTo>
                  <a:lnTo>
                    <a:pt x="61518" y="239013"/>
                  </a:lnTo>
                  <a:lnTo>
                    <a:pt x="17297" y="246634"/>
                  </a:lnTo>
                  <a:lnTo>
                    <a:pt x="15443" y="248792"/>
                  </a:lnTo>
                  <a:lnTo>
                    <a:pt x="15443" y="259969"/>
                  </a:lnTo>
                  <a:lnTo>
                    <a:pt x="17297" y="262254"/>
                  </a:lnTo>
                  <a:lnTo>
                    <a:pt x="55999" y="261286"/>
                  </a:lnTo>
                  <a:lnTo>
                    <a:pt x="91719" y="260985"/>
                  </a:lnTo>
                  <a:lnTo>
                    <a:pt x="162039" y="262254"/>
                  </a:lnTo>
                  <a:lnTo>
                    <a:pt x="164261" y="259969"/>
                  </a:lnTo>
                  <a:lnTo>
                    <a:pt x="164261" y="248792"/>
                  </a:lnTo>
                  <a:lnTo>
                    <a:pt x="162039" y="246634"/>
                  </a:lnTo>
                  <a:lnTo>
                    <a:pt x="147256" y="245560"/>
                  </a:lnTo>
                  <a:lnTo>
                    <a:pt x="136034" y="244427"/>
                  </a:lnTo>
                  <a:lnTo>
                    <a:pt x="117726" y="201132"/>
                  </a:lnTo>
                  <a:lnTo>
                    <a:pt x="117576" y="181483"/>
                  </a:lnTo>
                  <a:lnTo>
                    <a:pt x="117875" y="122713"/>
                  </a:lnTo>
                  <a:lnTo>
                    <a:pt x="118783" y="73278"/>
                  </a:lnTo>
                  <a:lnTo>
                    <a:pt x="120294" y="33321"/>
                  </a:lnTo>
                  <a:lnTo>
                    <a:pt x="121279" y="16861"/>
                  </a:lnTo>
                  <a:lnTo>
                    <a:pt x="122415" y="2794"/>
                  </a:lnTo>
                  <a:lnTo>
                    <a:pt x="117576" y="0"/>
                  </a:lnTo>
                  <a:close/>
                </a:path>
              </a:pathLst>
            </a:custGeom>
            <a:solidFill>
              <a:srgbClr val="FF0000"/>
            </a:solidFill>
          </p:spPr>
          <p:txBody>
            <a:bodyPr wrap="square" lIns="0" tIns="0" rIns="0" bIns="0" rtlCol="0"/>
            <a:lstStyle/>
            <a:p>
              <a:endParaRPr/>
            </a:p>
          </p:txBody>
        </p:sp>
        <p:sp>
          <p:nvSpPr>
            <p:cNvPr id="20" name="object 20"/>
            <p:cNvSpPr/>
            <p:nvPr/>
          </p:nvSpPr>
          <p:spPr>
            <a:xfrm>
              <a:off x="403224" y="2301874"/>
              <a:ext cx="164465" cy="262255"/>
            </a:xfrm>
            <a:custGeom>
              <a:avLst/>
              <a:gdLst/>
              <a:ahLst/>
              <a:cxnLst/>
              <a:rect l="l" t="t" r="r" b="b"/>
              <a:pathLst>
                <a:path w="164465" h="262255">
                  <a:moveTo>
                    <a:pt x="117576" y="0"/>
                  </a:moveTo>
                  <a:lnTo>
                    <a:pt x="122415" y="2794"/>
                  </a:lnTo>
                  <a:lnTo>
                    <a:pt x="121279" y="16861"/>
                  </a:lnTo>
                  <a:lnTo>
                    <a:pt x="120294" y="33321"/>
                  </a:lnTo>
                  <a:lnTo>
                    <a:pt x="118783" y="73278"/>
                  </a:lnTo>
                  <a:lnTo>
                    <a:pt x="117875" y="122713"/>
                  </a:lnTo>
                  <a:lnTo>
                    <a:pt x="117576" y="181483"/>
                  </a:lnTo>
                  <a:lnTo>
                    <a:pt x="117726" y="201132"/>
                  </a:lnTo>
                  <a:lnTo>
                    <a:pt x="122161" y="240791"/>
                  </a:lnTo>
                  <a:lnTo>
                    <a:pt x="162039" y="246634"/>
                  </a:lnTo>
                  <a:lnTo>
                    <a:pt x="164261" y="248792"/>
                  </a:lnTo>
                  <a:lnTo>
                    <a:pt x="164261" y="259969"/>
                  </a:lnTo>
                  <a:lnTo>
                    <a:pt x="162039" y="262254"/>
                  </a:lnTo>
                  <a:lnTo>
                    <a:pt x="138963" y="261747"/>
                  </a:lnTo>
                  <a:lnTo>
                    <a:pt x="122894" y="261413"/>
                  </a:lnTo>
                  <a:lnTo>
                    <a:pt x="109664" y="261175"/>
                  </a:lnTo>
                  <a:lnTo>
                    <a:pt x="99272" y="261032"/>
                  </a:lnTo>
                  <a:lnTo>
                    <a:pt x="91719" y="260985"/>
                  </a:lnTo>
                  <a:lnTo>
                    <a:pt x="74231" y="261058"/>
                  </a:lnTo>
                  <a:lnTo>
                    <a:pt x="55999" y="261286"/>
                  </a:lnTo>
                  <a:lnTo>
                    <a:pt x="37021" y="261681"/>
                  </a:lnTo>
                  <a:lnTo>
                    <a:pt x="17297" y="262254"/>
                  </a:lnTo>
                  <a:lnTo>
                    <a:pt x="15443" y="259969"/>
                  </a:lnTo>
                  <a:lnTo>
                    <a:pt x="15443" y="248792"/>
                  </a:lnTo>
                  <a:lnTo>
                    <a:pt x="17297" y="246634"/>
                  </a:lnTo>
                  <a:lnTo>
                    <a:pt x="33203" y="245108"/>
                  </a:lnTo>
                  <a:lnTo>
                    <a:pt x="45204" y="243760"/>
                  </a:lnTo>
                  <a:lnTo>
                    <a:pt x="65849" y="200278"/>
                  </a:lnTo>
                  <a:lnTo>
                    <a:pt x="66975" y="149494"/>
                  </a:lnTo>
                  <a:lnTo>
                    <a:pt x="67348" y="104901"/>
                  </a:lnTo>
                  <a:lnTo>
                    <a:pt x="67277" y="80664"/>
                  </a:lnTo>
                  <a:lnTo>
                    <a:pt x="65735" y="42037"/>
                  </a:lnTo>
                  <a:lnTo>
                    <a:pt x="64554" y="40894"/>
                  </a:lnTo>
                  <a:lnTo>
                    <a:pt x="62687" y="40894"/>
                  </a:lnTo>
                  <a:lnTo>
                    <a:pt x="61569" y="40894"/>
                  </a:lnTo>
                  <a:lnTo>
                    <a:pt x="59842" y="41401"/>
                  </a:lnTo>
                  <a:lnTo>
                    <a:pt x="57480" y="42417"/>
                  </a:lnTo>
                  <a:lnTo>
                    <a:pt x="6324" y="65786"/>
                  </a:lnTo>
                  <a:lnTo>
                    <a:pt x="3898" y="64262"/>
                  </a:lnTo>
                  <a:lnTo>
                    <a:pt x="2908" y="55245"/>
                  </a:lnTo>
                  <a:lnTo>
                    <a:pt x="1612" y="47625"/>
                  </a:lnTo>
                  <a:lnTo>
                    <a:pt x="0" y="41655"/>
                  </a:lnTo>
                  <a:lnTo>
                    <a:pt x="1485" y="38862"/>
                  </a:lnTo>
                  <a:lnTo>
                    <a:pt x="34973" y="28860"/>
                  </a:lnTo>
                  <a:lnTo>
                    <a:pt x="65484" y="19050"/>
                  </a:lnTo>
                  <a:lnTo>
                    <a:pt x="93018" y="9429"/>
                  </a:lnTo>
                  <a:lnTo>
                    <a:pt x="117576" y="0"/>
                  </a:lnTo>
                  <a:close/>
                </a:path>
              </a:pathLst>
            </a:custGeom>
            <a:ln w="9144">
              <a:solidFill>
                <a:srgbClr val="000000"/>
              </a:solidFill>
            </a:ln>
          </p:spPr>
          <p:txBody>
            <a:bodyPr wrap="square" lIns="0" tIns="0" rIns="0" bIns="0" rtlCol="0"/>
            <a:lstStyle/>
            <a:p>
              <a:endParaRPr/>
            </a:p>
          </p:txBody>
        </p:sp>
      </p:grpSp>
      <p:pic>
        <p:nvPicPr>
          <p:cNvPr id="21" name="object 21"/>
          <p:cNvPicPr/>
          <p:nvPr/>
        </p:nvPicPr>
        <p:blipFill>
          <a:blip r:embed="rId14" cstate="print"/>
          <a:stretch>
            <a:fillRect/>
          </a:stretch>
        </p:blipFill>
        <p:spPr>
          <a:xfrm>
            <a:off x="696099" y="2503677"/>
            <a:ext cx="68681" cy="68707"/>
          </a:xfrm>
          <a:prstGeom prst="rect">
            <a:avLst/>
          </a:prstGeom>
        </p:spPr>
      </p:pic>
      <p:pic>
        <p:nvPicPr>
          <p:cNvPr id="22" name="object 22"/>
          <p:cNvPicPr/>
          <p:nvPr/>
        </p:nvPicPr>
        <p:blipFill>
          <a:blip r:embed="rId13" cstate="print"/>
          <a:stretch>
            <a:fillRect/>
          </a:stretch>
        </p:blipFill>
        <p:spPr>
          <a:xfrm>
            <a:off x="70633" y="4500371"/>
            <a:ext cx="103458" cy="103505"/>
          </a:xfrm>
          <a:prstGeom prst="rect">
            <a:avLst/>
          </a:prstGeom>
        </p:spPr>
      </p:pic>
      <p:sp>
        <p:nvSpPr>
          <p:cNvPr id="23" name="object 23"/>
          <p:cNvSpPr txBox="1"/>
          <p:nvPr/>
        </p:nvSpPr>
        <p:spPr>
          <a:xfrm>
            <a:off x="41910" y="1768475"/>
            <a:ext cx="8778240" cy="4449445"/>
          </a:xfrm>
          <a:prstGeom prst="rect">
            <a:avLst/>
          </a:prstGeom>
        </p:spPr>
        <p:txBody>
          <a:bodyPr vert="horz" wrap="square" lIns="0" tIns="12065" rIns="0" bIns="0" rtlCol="0">
            <a:noAutofit/>
          </a:bodyPr>
          <a:lstStyle/>
          <a:p>
            <a:pPr marL="467995" marR="176530" indent="-455930">
              <a:lnSpc>
                <a:spcPct val="100000"/>
              </a:lnSpc>
              <a:spcBef>
                <a:spcPts val="95"/>
              </a:spcBef>
              <a:buFont typeface="Courier New" panose="02070309020205020404"/>
              <a:buChar char="o"/>
              <a:tabLst>
                <a:tab pos="469900" algn="l"/>
              </a:tabLst>
            </a:pP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responsibilities</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nurses</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regarding</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drugs,</a:t>
            </a:r>
            <a:r>
              <a:rPr sz="2800" spc="-7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including: 	</a:t>
            </a:r>
            <a:r>
              <a:rPr sz="2800" dirty="0">
                <a:latin typeface="Times New Roman" panose="02020603050405020304"/>
                <a:cs typeface="Times New Roman" panose="02020603050405020304"/>
              </a:rPr>
              <a:t>before,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during,</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after</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administration.</a:t>
            </a:r>
            <a:endParaRPr sz="2800">
              <a:latin typeface="Times New Roman" panose="02020603050405020304"/>
              <a:cs typeface="Times New Roman" panose="02020603050405020304"/>
            </a:endParaRPr>
          </a:p>
          <a:p>
            <a:pPr marL="831215">
              <a:lnSpc>
                <a:spcPct val="100000"/>
              </a:lnSpc>
              <a:spcBef>
                <a:spcPts val="405"/>
              </a:spcBef>
            </a:pPr>
            <a:r>
              <a:rPr sz="2800" dirty="0">
                <a:latin typeface="Times New Roman" panose="02020603050405020304"/>
                <a:cs typeface="Times New Roman" panose="02020603050405020304"/>
              </a:rPr>
              <a:t>Understand</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pharmacological</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principles</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all</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drugs</a:t>
            </a:r>
            <a:endParaRPr sz="2800">
              <a:latin typeface="Times New Roman" panose="02020603050405020304"/>
              <a:cs typeface="Times New Roman" panose="02020603050405020304"/>
            </a:endParaRPr>
          </a:p>
          <a:p>
            <a:pPr marL="355600" marR="77470">
              <a:lnSpc>
                <a:spcPct val="115000"/>
              </a:lnSpc>
              <a:spcBef>
                <a:spcPts val="75"/>
              </a:spcBef>
            </a:pPr>
            <a:r>
              <a:rPr sz="2800" dirty="0">
                <a:latin typeface="Times New Roman" panose="02020603050405020304"/>
                <a:cs typeface="Times New Roman" panose="02020603050405020304"/>
              </a:rPr>
              <a:t>given</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each</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patient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have</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adequate</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knowledge</a:t>
            </a:r>
            <a:r>
              <a:rPr sz="2800" spc="-1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about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patients</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who</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are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receiving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these</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disorder </a:t>
            </a:r>
            <a:r>
              <a:rPr sz="2800" dirty="0">
                <a:latin typeface="Times New Roman" panose="02020603050405020304"/>
                <a:cs typeface="Times New Roman" panose="02020603050405020304"/>
              </a:rPr>
              <a:t>for</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which</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patient</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being</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treated.</a:t>
            </a:r>
            <a:endParaRPr sz="2800">
              <a:latin typeface="Times New Roman" panose="02020603050405020304"/>
              <a:cs typeface="Times New Roman" panose="02020603050405020304"/>
            </a:endParaRPr>
          </a:p>
          <a:p>
            <a:pPr marL="355600" marR="207010" indent="475615">
              <a:lnSpc>
                <a:spcPct val="104000"/>
              </a:lnSpc>
              <a:spcBef>
                <a:spcPts val="1550"/>
              </a:spcBef>
            </a:pPr>
            <a:r>
              <a:rPr sz="2800" dirty="0">
                <a:latin typeface="Times New Roman" panose="02020603050405020304"/>
                <a:cs typeface="Times New Roman" panose="02020603050405020304"/>
              </a:rPr>
              <a:t>Intervene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make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regimen</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more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tolerable</a:t>
            </a:r>
            <a:r>
              <a:rPr sz="2800" spc="-4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for </a:t>
            </a:r>
            <a:r>
              <a:rPr sz="2800" spc="-10" dirty="0">
                <a:latin typeface="Times New Roman" panose="02020603050405020304"/>
                <a:cs typeface="Times New Roman" panose="02020603050405020304"/>
              </a:rPr>
              <a:t>patients.</a:t>
            </a:r>
            <a:endParaRPr sz="280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2375" y="348995"/>
            <a:ext cx="1033780" cy="370840"/>
            <a:chOff x="112375" y="348995"/>
            <a:chExt cx="1033780" cy="370840"/>
          </a:xfrm>
        </p:grpSpPr>
        <p:pic>
          <p:nvPicPr>
            <p:cNvPr id="3" name="object 3"/>
            <p:cNvPicPr/>
            <p:nvPr/>
          </p:nvPicPr>
          <p:blipFill>
            <a:blip r:embed="rId2" cstate="print"/>
            <a:stretch>
              <a:fillRect/>
            </a:stretch>
          </p:blipFill>
          <p:spPr>
            <a:xfrm>
              <a:off x="112375" y="435863"/>
              <a:ext cx="103385" cy="91439"/>
            </a:xfrm>
            <a:prstGeom prst="rect">
              <a:avLst/>
            </a:prstGeom>
          </p:spPr>
        </p:pic>
        <p:pic>
          <p:nvPicPr>
            <p:cNvPr id="4" name="object 4"/>
            <p:cNvPicPr/>
            <p:nvPr/>
          </p:nvPicPr>
          <p:blipFill>
            <a:blip r:embed="rId3" cstate="print"/>
            <a:stretch>
              <a:fillRect/>
            </a:stretch>
          </p:blipFill>
          <p:spPr>
            <a:xfrm>
              <a:off x="198120" y="348995"/>
              <a:ext cx="757427" cy="370331"/>
            </a:xfrm>
            <a:prstGeom prst="rect">
              <a:avLst/>
            </a:prstGeom>
          </p:spPr>
        </p:pic>
        <p:pic>
          <p:nvPicPr>
            <p:cNvPr id="5" name="object 5"/>
            <p:cNvPicPr/>
            <p:nvPr/>
          </p:nvPicPr>
          <p:blipFill>
            <a:blip r:embed="rId4" cstate="print"/>
            <a:stretch>
              <a:fillRect/>
            </a:stretch>
          </p:blipFill>
          <p:spPr>
            <a:xfrm>
              <a:off x="483107" y="348995"/>
              <a:ext cx="662940" cy="370331"/>
            </a:xfrm>
            <a:prstGeom prst="rect">
              <a:avLst/>
            </a:prstGeom>
          </p:spPr>
        </p:pic>
      </p:grpSp>
      <p:pic>
        <p:nvPicPr>
          <p:cNvPr id="6" name="object 6"/>
          <p:cNvPicPr/>
          <p:nvPr/>
        </p:nvPicPr>
        <p:blipFill>
          <a:blip r:embed="rId5" cstate="print"/>
          <a:stretch>
            <a:fillRect/>
          </a:stretch>
        </p:blipFill>
        <p:spPr>
          <a:xfrm>
            <a:off x="107146" y="169926"/>
            <a:ext cx="103458" cy="103377"/>
          </a:xfrm>
          <a:prstGeom prst="rect">
            <a:avLst/>
          </a:prstGeom>
        </p:spPr>
      </p:pic>
      <p:grpSp>
        <p:nvGrpSpPr>
          <p:cNvPr id="7" name="object 7"/>
          <p:cNvGrpSpPr/>
          <p:nvPr/>
        </p:nvGrpSpPr>
        <p:grpSpPr>
          <a:xfrm>
            <a:off x="438696" y="87248"/>
            <a:ext cx="179070" cy="277495"/>
            <a:chOff x="438696" y="87248"/>
            <a:chExt cx="179070" cy="277495"/>
          </a:xfrm>
        </p:grpSpPr>
        <p:sp>
          <p:nvSpPr>
            <p:cNvPr id="8" name="object 8"/>
            <p:cNvSpPr/>
            <p:nvPr/>
          </p:nvSpPr>
          <p:spPr>
            <a:xfrm>
              <a:off x="443268" y="91820"/>
              <a:ext cx="170180" cy="268605"/>
            </a:xfrm>
            <a:custGeom>
              <a:avLst/>
              <a:gdLst/>
              <a:ahLst/>
              <a:cxnLst/>
              <a:rect l="l" t="t" r="r" b="b"/>
              <a:pathLst>
                <a:path w="170179" h="268605">
                  <a:moveTo>
                    <a:pt x="85775" y="0"/>
                  </a:moveTo>
                  <a:lnTo>
                    <a:pt x="46167" y="6992"/>
                  </a:lnTo>
                  <a:lnTo>
                    <a:pt x="22239" y="32849"/>
                  </a:lnTo>
                  <a:lnTo>
                    <a:pt x="19578" y="47371"/>
                  </a:lnTo>
                  <a:lnTo>
                    <a:pt x="16195" y="62464"/>
                  </a:lnTo>
                  <a:lnTo>
                    <a:pt x="12090" y="78104"/>
                  </a:lnTo>
                  <a:lnTo>
                    <a:pt x="26796" y="78867"/>
                  </a:lnTo>
                  <a:lnTo>
                    <a:pt x="57848" y="41401"/>
                  </a:lnTo>
                  <a:lnTo>
                    <a:pt x="65189" y="40004"/>
                  </a:lnTo>
                  <a:lnTo>
                    <a:pt x="73101" y="40004"/>
                  </a:lnTo>
                  <a:lnTo>
                    <a:pt x="108491" y="61198"/>
                  </a:lnTo>
                  <a:lnTo>
                    <a:pt x="111061" y="75437"/>
                  </a:lnTo>
                  <a:lnTo>
                    <a:pt x="110268" y="83841"/>
                  </a:lnTo>
                  <a:lnTo>
                    <a:pt x="83716" y="113395"/>
                  </a:lnTo>
                  <a:lnTo>
                    <a:pt x="65125" y="116331"/>
                  </a:lnTo>
                  <a:lnTo>
                    <a:pt x="62649" y="116331"/>
                  </a:lnTo>
                  <a:lnTo>
                    <a:pt x="53822" y="115570"/>
                  </a:lnTo>
                  <a:lnTo>
                    <a:pt x="49841" y="131984"/>
                  </a:lnTo>
                  <a:lnTo>
                    <a:pt x="46050" y="144779"/>
                  </a:lnTo>
                  <a:lnTo>
                    <a:pt x="48640" y="147320"/>
                  </a:lnTo>
                  <a:lnTo>
                    <a:pt x="57162" y="145414"/>
                  </a:lnTo>
                  <a:lnTo>
                    <a:pt x="64389" y="144399"/>
                  </a:lnTo>
                  <a:lnTo>
                    <a:pt x="70319" y="144399"/>
                  </a:lnTo>
                  <a:lnTo>
                    <a:pt x="81643" y="145256"/>
                  </a:lnTo>
                  <a:lnTo>
                    <a:pt x="113950" y="165619"/>
                  </a:lnTo>
                  <a:lnTo>
                    <a:pt x="121665" y="194945"/>
                  </a:lnTo>
                  <a:lnTo>
                    <a:pt x="120830" y="205922"/>
                  </a:lnTo>
                  <a:lnTo>
                    <a:pt x="93021" y="242966"/>
                  </a:lnTo>
                  <a:lnTo>
                    <a:pt x="73939" y="246506"/>
                  </a:lnTo>
                  <a:lnTo>
                    <a:pt x="64223" y="245770"/>
                  </a:lnTo>
                  <a:lnTo>
                    <a:pt x="24960" y="219011"/>
                  </a:lnTo>
                  <a:lnTo>
                    <a:pt x="13398" y="195199"/>
                  </a:lnTo>
                  <a:lnTo>
                    <a:pt x="0" y="198500"/>
                  </a:lnTo>
                  <a:lnTo>
                    <a:pt x="5141" y="228758"/>
                  </a:lnTo>
                  <a:lnTo>
                    <a:pt x="9245" y="257301"/>
                  </a:lnTo>
                  <a:lnTo>
                    <a:pt x="16802" y="260857"/>
                  </a:lnTo>
                  <a:lnTo>
                    <a:pt x="24523" y="263651"/>
                  </a:lnTo>
                  <a:lnTo>
                    <a:pt x="40259" y="267334"/>
                  </a:lnTo>
                  <a:lnTo>
                    <a:pt x="48285" y="268350"/>
                  </a:lnTo>
                  <a:lnTo>
                    <a:pt x="56464" y="268350"/>
                  </a:lnTo>
                  <a:lnTo>
                    <a:pt x="95496" y="262270"/>
                  </a:lnTo>
                  <a:lnTo>
                    <a:pt x="130441" y="244094"/>
                  </a:lnTo>
                  <a:lnTo>
                    <a:pt x="159862" y="211836"/>
                  </a:lnTo>
                  <a:lnTo>
                    <a:pt x="169672" y="172720"/>
                  </a:lnTo>
                  <a:lnTo>
                    <a:pt x="169252" y="164556"/>
                  </a:lnTo>
                  <a:lnTo>
                    <a:pt x="150461" y="126640"/>
                  </a:lnTo>
                  <a:lnTo>
                    <a:pt x="111810" y="113283"/>
                  </a:lnTo>
                  <a:lnTo>
                    <a:pt x="122976" y="107021"/>
                  </a:lnTo>
                  <a:lnTo>
                    <a:pt x="152436" y="72691"/>
                  </a:lnTo>
                  <a:lnTo>
                    <a:pt x="154787" y="55625"/>
                  </a:lnTo>
                  <a:lnTo>
                    <a:pt x="153661" y="43836"/>
                  </a:lnTo>
                  <a:lnTo>
                    <a:pt x="126852" y="8733"/>
                  </a:lnTo>
                  <a:lnTo>
                    <a:pt x="101344" y="974"/>
                  </a:lnTo>
                  <a:lnTo>
                    <a:pt x="85775" y="0"/>
                  </a:lnTo>
                  <a:close/>
                </a:path>
              </a:pathLst>
            </a:custGeom>
            <a:solidFill>
              <a:srgbClr val="FF0000"/>
            </a:solidFill>
          </p:spPr>
          <p:txBody>
            <a:bodyPr wrap="square" lIns="0" tIns="0" rIns="0" bIns="0" rtlCol="0"/>
            <a:lstStyle/>
            <a:p>
              <a:endParaRPr/>
            </a:p>
          </p:txBody>
        </p:sp>
        <p:sp>
          <p:nvSpPr>
            <p:cNvPr id="9" name="object 9"/>
            <p:cNvSpPr/>
            <p:nvPr/>
          </p:nvSpPr>
          <p:spPr>
            <a:xfrm>
              <a:off x="443268" y="91820"/>
              <a:ext cx="170180" cy="268605"/>
            </a:xfrm>
            <a:custGeom>
              <a:avLst/>
              <a:gdLst/>
              <a:ahLst/>
              <a:cxnLst/>
              <a:rect l="l" t="t" r="r" b="b"/>
              <a:pathLst>
                <a:path w="170179" h="268605">
                  <a:moveTo>
                    <a:pt x="85775" y="0"/>
                  </a:moveTo>
                  <a:lnTo>
                    <a:pt x="126852" y="8733"/>
                  </a:lnTo>
                  <a:lnTo>
                    <a:pt x="153661" y="43836"/>
                  </a:lnTo>
                  <a:lnTo>
                    <a:pt x="154787" y="55625"/>
                  </a:lnTo>
                  <a:lnTo>
                    <a:pt x="154199" y="64462"/>
                  </a:lnTo>
                  <a:lnTo>
                    <a:pt x="132295" y="100615"/>
                  </a:lnTo>
                  <a:lnTo>
                    <a:pt x="111810" y="113283"/>
                  </a:lnTo>
                  <a:lnTo>
                    <a:pt x="122269" y="114879"/>
                  </a:lnTo>
                  <a:lnTo>
                    <a:pt x="159347" y="136685"/>
                  </a:lnTo>
                  <a:lnTo>
                    <a:pt x="169672" y="172720"/>
                  </a:lnTo>
                  <a:lnTo>
                    <a:pt x="167219" y="193123"/>
                  </a:lnTo>
                  <a:lnTo>
                    <a:pt x="147603" y="228834"/>
                  </a:lnTo>
                  <a:lnTo>
                    <a:pt x="113480" y="254688"/>
                  </a:lnTo>
                  <a:lnTo>
                    <a:pt x="76490" y="266828"/>
                  </a:lnTo>
                  <a:lnTo>
                    <a:pt x="56464" y="268350"/>
                  </a:lnTo>
                  <a:lnTo>
                    <a:pt x="48285" y="268350"/>
                  </a:lnTo>
                  <a:lnTo>
                    <a:pt x="9245" y="257301"/>
                  </a:lnTo>
                  <a:lnTo>
                    <a:pt x="7324" y="243256"/>
                  </a:lnTo>
                  <a:lnTo>
                    <a:pt x="5141" y="228758"/>
                  </a:lnTo>
                  <a:lnTo>
                    <a:pt x="2700" y="213832"/>
                  </a:lnTo>
                  <a:lnTo>
                    <a:pt x="0" y="198500"/>
                  </a:lnTo>
                  <a:lnTo>
                    <a:pt x="13398" y="195199"/>
                  </a:lnTo>
                  <a:lnTo>
                    <a:pt x="38836" y="234823"/>
                  </a:lnTo>
                  <a:lnTo>
                    <a:pt x="73939" y="246506"/>
                  </a:lnTo>
                  <a:lnTo>
                    <a:pt x="83957" y="245623"/>
                  </a:lnTo>
                  <a:lnTo>
                    <a:pt x="118322" y="215804"/>
                  </a:lnTo>
                  <a:lnTo>
                    <a:pt x="121665" y="194945"/>
                  </a:lnTo>
                  <a:lnTo>
                    <a:pt x="120808" y="184011"/>
                  </a:lnTo>
                  <a:lnTo>
                    <a:pt x="91687" y="147827"/>
                  </a:lnTo>
                  <a:lnTo>
                    <a:pt x="70319" y="144399"/>
                  </a:lnTo>
                  <a:lnTo>
                    <a:pt x="64389" y="144399"/>
                  </a:lnTo>
                  <a:lnTo>
                    <a:pt x="57162" y="145414"/>
                  </a:lnTo>
                  <a:lnTo>
                    <a:pt x="48640" y="147320"/>
                  </a:lnTo>
                  <a:lnTo>
                    <a:pt x="46050" y="144779"/>
                  </a:lnTo>
                  <a:lnTo>
                    <a:pt x="47921" y="138822"/>
                  </a:lnTo>
                  <a:lnTo>
                    <a:pt x="49841" y="131984"/>
                  </a:lnTo>
                  <a:lnTo>
                    <a:pt x="51808" y="124241"/>
                  </a:lnTo>
                  <a:lnTo>
                    <a:pt x="53822" y="115570"/>
                  </a:lnTo>
                  <a:lnTo>
                    <a:pt x="58889" y="116077"/>
                  </a:lnTo>
                  <a:lnTo>
                    <a:pt x="62649" y="116331"/>
                  </a:lnTo>
                  <a:lnTo>
                    <a:pt x="65125" y="116331"/>
                  </a:lnTo>
                  <a:lnTo>
                    <a:pt x="103924" y="98458"/>
                  </a:lnTo>
                  <a:lnTo>
                    <a:pt x="111061" y="75437"/>
                  </a:lnTo>
                  <a:lnTo>
                    <a:pt x="110418" y="67931"/>
                  </a:lnTo>
                  <a:lnTo>
                    <a:pt x="81354" y="40624"/>
                  </a:lnTo>
                  <a:lnTo>
                    <a:pt x="73101" y="40004"/>
                  </a:lnTo>
                  <a:lnTo>
                    <a:pt x="65189" y="40004"/>
                  </a:lnTo>
                  <a:lnTo>
                    <a:pt x="57848" y="41401"/>
                  </a:lnTo>
                  <a:lnTo>
                    <a:pt x="51054" y="44323"/>
                  </a:lnTo>
                  <a:lnTo>
                    <a:pt x="44259" y="47117"/>
                  </a:lnTo>
                  <a:lnTo>
                    <a:pt x="26796" y="78867"/>
                  </a:lnTo>
                  <a:lnTo>
                    <a:pt x="12090" y="78104"/>
                  </a:lnTo>
                  <a:lnTo>
                    <a:pt x="16195" y="62464"/>
                  </a:lnTo>
                  <a:lnTo>
                    <a:pt x="19578" y="47371"/>
                  </a:lnTo>
                  <a:lnTo>
                    <a:pt x="22239" y="32849"/>
                  </a:lnTo>
                  <a:lnTo>
                    <a:pt x="24180" y="18923"/>
                  </a:lnTo>
                  <a:lnTo>
                    <a:pt x="31512" y="14231"/>
                  </a:lnTo>
                  <a:lnTo>
                    <a:pt x="68895" y="1127"/>
                  </a:lnTo>
                  <a:lnTo>
                    <a:pt x="77150" y="283"/>
                  </a:lnTo>
                  <a:lnTo>
                    <a:pt x="85775" y="0"/>
                  </a:lnTo>
                  <a:close/>
                </a:path>
              </a:pathLst>
            </a:custGeom>
            <a:ln w="9144">
              <a:solidFill>
                <a:srgbClr val="000000"/>
              </a:solidFill>
            </a:ln>
          </p:spPr>
          <p:txBody>
            <a:bodyPr wrap="square" lIns="0" tIns="0" rIns="0" bIns="0" rtlCol="0"/>
            <a:lstStyle/>
            <a:p>
              <a:endParaRPr/>
            </a:p>
          </p:txBody>
        </p:sp>
      </p:grpSp>
      <p:pic>
        <p:nvPicPr>
          <p:cNvPr id="10" name="object 10"/>
          <p:cNvPicPr/>
          <p:nvPr/>
        </p:nvPicPr>
        <p:blipFill>
          <a:blip r:embed="rId6" cstate="print"/>
          <a:stretch>
            <a:fillRect/>
          </a:stretch>
        </p:blipFill>
        <p:spPr>
          <a:xfrm>
            <a:off x="732612" y="296163"/>
            <a:ext cx="68681" cy="68707"/>
          </a:xfrm>
          <a:prstGeom prst="rect">
            <a:avLst/>
          </a:prstGeom>
        </p:spPr>
      </p:pic>
      <p:sp>
        <p:nvSpPr>
          <p:cNvPr id="11" name="object 11"/>
          <p:cNvSpPr txBox="1">
            <a:spLocks noGrp="1"/>
          </p:cNvSpPr>
          <p:nvPr>
            <p:ph type="title"/>
          </p:nvPr>
        </p:nvSpPr>
        <p:spPr>
          <a:xfrm>
            <a:off x="421640" y="-12699"/>
            <a:ext cx="7814309" cy="845185"/>
          </a:xfrm>
          <a:prstGeom prst="rect">
            <a:avLst/>
          </a:prstGeom>
        </p:spPr>
        <p:txBody>
          <a:bodyPr vert="horz" wrap="square" lIns="0" tIns="52705" rIns="0" bIns="0" rtlCol="0">
            <a:spAutoFit/>
          </a:bodyPr>
          <a:lstStyle/>
          <a:p>
            <a:pPr marL="12700" marR="5080" indent="475615">
              <a:lnSpc>
                <a:spcPts val="3100"/>
              </a:lnSpc>
              <a:spcBef>
                <a:spcPts val="415"/>
              </a:spcBef>
            </a:pPr>
            <a:r>
              <a:rPr dirty="0">
                <a:solidFill>
                  <a:srgbClr val="000000"/>
                </a:solidFill>
                <a:latin typeface="Palatino Linotype" panose="02040502050505030304"/>
                <a:cs typeface="Palatino Linotype" panose="02040502050505030304"/>
              </a:rPr>
              <a:t>Preparing</a:t>
            </a:r>
            <a:r>
              <a:rPr spc="-35" dirty="0">
                <a:solidFill>
                  <a:srgbClr val="000000"/>
                </a:solidFill>
                <a:latin typeface="Palatino Linotype" panose="02040502050505030304"/>
                <a:cs typeface="Palatino Linotype" panose="02040502050505030304"/>
              </a:rPr>
              <a:t> </a:t>
            </a:r>
            <a:r>
              <a:rPr dirty="0">
                <a:solidFill>
                  <a:srgbClr val="000000"/>
                </a:solidFill>
                <a:latin typeface="Palatino Linotype" panose="02040502050505030304"/>
                <a:cs typeface="Palatino Linotype" panose="02040502050505030304"/>
              </a:rPr>
              <a:t>and</a:t>
            </a:r>
            <a:r>
              <a:rPr spc="-60" dirty="0">
                <a:solidFill>
                  <a:srgbClr val="000000"/>
                </a:solidFill>
                <a:latin typeface="Palatino Linotype" panose="02040502050505030304"/>
                <a:cs typeface="Palatino Linotype" panose="02040502050505030304"/>
              </a:rPr>
              <a:t> </a:t>
            </a:r>
            <a:r>
              <a:rPr spc="-10" dirty="0">
                <a:solidFill>
                  <a:srgbClr val="000000"/>
                </a:solidFill>
                <a:latin typeface="Palatino Linotype" panose="02040502050505030304"/>
                <a:cs typeface="Palatino Linotype" panose="02040502050505030304"/>
              </a:rPr>
              <a:t>administering</a:t>
            </a:r>
            <a:r>
              <a:rPr spc="-30" dirty="0">
                <a:solidFill>
                  <a:srgbClr val="000000"/>
                </a:solidFill>
                <a:latin typeface="Palatino Linotype" panose="02040502050505030304"/>
                <a:cs typeface="Palatino Linotype" panose="02040502050505030304"/>
              </a:rPr>
              <a:t> </a:t>
            </a:r>
            <a:r>
              <a:rPr dirty="0">
                <a:solidFill>
                  <a:srgbClr val="000000"/>
                </a:solidFill>
                <a:latin typeface="Palatino Linotype" panose="02040502050505030304"/>
                <a:cs typeface="Palatino Linotype" panose="02040502050505030304"/>
              </a:rPr>
              <a:t>the</a:t>
            </a:r>
            <a:r>
              <a:rPr spc="-50" dirty="0">
                <a:solidFill>
                  <a:srgbClr val="000000"/>
                </a:solidFill>
                <a:latin typeface="Palatino Linotype" panose="02040502050505030304"/>
                <a:cs typeface="Palatino Linotype" panose="02040502050505030304"/>
              </a:rPr>
              <a:t> </a:t>
            </a:r>
            <a:r>
              <a:rPr dirty="0">
                <a:solidFill>
                  <a:srgbClr val="000000"/>
                </a:solidFill>
                <a:latin typeface="Palatino Linotype" panose="02040502050505030304"/>
                <a:cs typeface="Palatino Linotype" panose="02040502050505030304"/>
              </a:rPr>
              <a:t>drugs</a:t>
            </a:r>
            <a:r>
              <a:rPr spc="-65" dirty="0">
                <a:solidFill>
                  <a:srgbClr val="000000"/>
                </a:solidFill>
                <a:latin typeface="Palatino Linotype" panose="02040502050505030304"/>
                <a:cs typeface="Palatino Linotype" panose="02040502050505030304"/>
              </a:rPr>
              <a:t> </a:t>
            </a:r>
            <a:r>
              <a:rPr dirty="0">
                <a:solidFill>
                  <a:srgbClr val="000000"/>
                </a:solidFill>
                <a:latin typeface="Palatino Linotype" panose="02040502050505030304"/>
                <a:cs typeface="Palatino Linotype" panose="02040502050505030304"/>
              </a:rPr>
              <a:t>to</a:t>
            </a:r>
            <a:r>
              <a:rPr spc="-55" dirty="0">
                <a:solidFill>
                  <a:srgbClr val="000000"/>
                </a:solidFill>
                <a:latin typeface="Palatino Linotype" panose="02040502050505030304"/>
                <a:cs typeface="Palatino Linotype" panose="02040502050505030304"/>
              </a:rPr>
              <a:t> </a:t>
            </a:r>
            <a:r>
              <a:rPr spc="-25" dirty="0">
                <a:solidFill>
                  <a:srgbClr val="000000"/>
                </a:solidFill>
                <a:latin typeface="Palatino Linotype" panose="02040502050505030304"/>
                <a:cs typeface="Palatino Linotype" panose="02040502050505030304"/>
              </a:rPr>
              <a:t>the </a:t>
            </a:r>
            <a:r>
              <a:rPr spc="-10" dirty="0">
                <a:solidFill>
                  <a:srgbClr val="000000"/>
                </a:solidFill>
                <a:latin typeface="Palatino Linotype" panose="02040502050505030304"/>
                <a:cs typeface="Palatino Linotype" panose="02040502050505030304"/>
              </a:rPr>
              <a:t>patient.</a:t>
            </a:r>
          </a:p>
        </p:txBody>
      </p:sp>
      <p:sp>
        <p:nvSpPr>
          <p:cNvPr id="12" name="object 12"/>
          <p:cNvSpPr txBox="1"/>
          <p:nvPr/>
        </p:nvSpPr>
        <p:spPr>
          <a:xfrm>
            <a:off x="78739" y="859281"/>
            <a:ext cx="8963025" cy="5318760"/>
          </a:xfrm>
          <a:prstGeom prst="rect">
            <a:avLst/>
          </a:prstGeom>
        </p:spPr>
        <p:txBody>
          <a:bodyPr vert="horz" wrap="square" lIns="0" tIns="60960" rIns="0" bIns="0" rtlCol="0">
            <a:spAutoFit/>
          </a:bodyPr>
          <a:lstStyle/>
          <a:p>
            <a:pPr marL="355600" marR="31115" indent="-342900">
              <a:lnSpc>
                <a:spcPts val="3020"/>
              </a:lnSpc>
              <a:spcBef>
                <a:spcPts val="480"/>
              </a:spcBef>
              <a:buFont typeface="Microsoft Sans Serif" panose="020B0604020202020204"/>
              <a:buChar char="•"/>
              <a:tabLst>
                <a:tab pos="355600" algn="l"/>
              </a:tabLst>
            </a:pPr>
            <a:r>
              <a:rPr sz="2800" dirty="0">
                <a:latin typeface="Times New Roman" panose="02020603050405020304"/>
                <a:cs typeface="Times New Roman" panose="02020603050405020304"/>
              </a:rPr>
              <a:t>Preparing</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administering</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prescribed</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4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patients</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10" dirty="0">
                <a:latin typeface="Times New Roman" panose="02020603050405020304"/>
                <a:cs typeface="Times New Roman" panose="02020603050405020304"/>
              </a:rPr>
              <a:t> </a:t>
            </a:r>
            <a:r>
              <a:rPr sz="2800" u="heavy" dirty="0">
                <a:uFill>
                  <a:solidFill>
                    <a:srgbClr val="000000"/>
                  </a:solidFill>
                </a:uFill>
                <a:latin typeface="Times New Roman" panose="02020603050405020304"/>
                <a:cs typeface="Times New Roman" panose="02020603050405020304"/>
              </a:rPr>
              <a:t>a</a:t>
            </a:r>
            <a:r>
              <a:rPr sz="2800" u="heavy" spc="-30" dirty="0">
                <a:uFill>
                  <a:solidFill>
                    <a:srgbClr val="000000"/>
                  </a:solidFill>
                </a:uFill>
                <a:latin typeface="Times New Roman" panose="02020603050405020304"/>
                <a:cs typeface="Times New Roman" panose="02020603050405020304"/>
              </a:rPr>
              <a:t> </a:t>
            </a:r>
            <a:r>
              <a:rPr sz="2800" u="heavy" dirty="0">
                <a:uFill>
                  <a:solidFill>
                    <a:srgbClr val="000000"/>
                  </a:solidFill>
                </a:uFill>
                <a:latin typeface="Times New Roman" panose="02020603050405020304"/>
                <a:cs typeface="Times New Roman" panose="02020603050405020304"/>
              </a:rPr>
              <a:t>fundamental</a:t>
            </a:r>
            <a:r>
              <a:rPr sz="2800" u="heavy" spc="-10" dirty="0">
                <a:uFill>
                  <a:solidFill>
                    <a:srgbClr val="000000"/>
                  </a:solidFill>
                </a:uFill>
                <a:latin typeface="Times New Roman" panose="02020603050405020304"/>
                <a:cs typeface="Times New Roman" panose="02020603050405020304"/>
              </a:rPr>
              <a:t> </a:t>
            </a:r>
            <a:r>
              <a:rPr sz="2800" u="heavy" dirty="0">
                <a:uFill>
                  <a:solidFill>
                    <a:srgbClr val="000000"/>
                  </a:solidFill>
                </a:uFill>
                <a:latin typeface="Times New Roman" panose="02020603050405020304"/>
                <a:cs typeface="Times New Roman" panose="02020603050405020304"/>
              </a:rPr>
              <a:t>responsibility</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3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many </a:t>
            </a:r>
            <a:r>
              <a:rPr sz="2800" dirty="0">
                <a:latin typeface="Times New Roman" panose="02020603050405020304"/>
                <a:cs typeface="Times New Roman" panose="02020603050405020304"/>
              </a:rPr>
              <a:t>health</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care</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settings.</a:t>
            </a:r>
            <a:endParaRPr sz="2800">
              <a:latin typeface="Times New Roman" panose="02020603050405020304"/>
              <a:cs typeface="Times New Roman" panose="02020603050405020304"/>
            </a:endParaRPr>
          </a:p>
          <a:p>
            <a:pPr marL="355600" marR="90805" indent="-342900">
              <a:lnSpc>
                <a:spcPts val="3020"/>
              </a:lnSpc>
              <a:spcBef>
                <a:spcPts val="600"/>
              </a:spcBef>
              <a:buFont typeface="Microsoft Sans Serif" panose="020B0604020202020204"/>
              <a:buChar char="•"/>
              <a:tabLst>
                <a:tab pos="355600" algn="l"/>
                <a:tab pos="4544695" algn="l"/>
              </a:tabLst>
            </a:pPr>
            <a:r>
              <a:rPr sz="2800" b="1" dirty="0">
                <a:latin typeface="Palatino Linotype" panose="02040502050505030304"/>
                <a:cs typeface="Palatino Linotype" panose="02040502050505030304"/>
              </a:rPr>
              <a:t>Nurses</a:t>
            </a:r>
            <a:r>
              <a:rPr sz="2800" b="1" spc="-75" dirty="0">
                <a:latin typeface="Palatino Linotype" panose="02040502050505030304"/>
                <a:cs typeface="Palatino Linotype" panose="02040502050505030304"/>
              </a:rPr>
              <a:t> </a:t>
            </a:r>
            <a:r>
              <a:rPr sz="2800" b="1" dirty="0">
                <a:latin typeface="Palatino Linotype" panose="02040502050505030304"/>
                <a:cs typeface="Palatino Linotype" panose="02040502050505030304"/>
              </a:rPr>
              <a:t>are</a:t>
            </a:r>
            <a:r>
              <a:rPr sz="2800" b="1" spc="-65" dirty="0">
                <a:latin typeface="Palatino Linotype" panose="02040502050505030304"/>
                <a:cs typeface="Palatino Linotype" panose="02040502050505030304"/>
              </a:rPr>
              <a:t> </a:t>
            </a:r>
            <a:r>
              <a:rPr sz="2800" b="1" dirty="0">
                <a:latin typeface="Palatino Linotype" panose="02040502050505030304"/>
                <a:cs typeface="Palatino Linotype" panose="02040502050505030304"/>
              </a:rPr>
              <a:t>both</a:t>
            </a:r>
            <a:r>
              <a:rPr sz="2800" b="1" spc="-60" dirty="0">
                <a:latin typeface="Palatino Linotype" panose="02040502050505030304"/>
                <a:cs typeface="Palatino Linotype" panose="02040502050505030304"/>
              </a:rPr>
              <a:t> </a:t>
            </a:r>
            <a:r>
              <a:rPr sz="2800" b="1" dirty="0">
                <a:latin typeface="Palatino Linotype" panose="02040502050505030304"/>
                <a:cs typeface="Palatino Linotype" panose="02040502050505030304"/>
              </a:rPr>
              <a:t>ethically</a:t>
            </a:r>
            <a:r>
              <a:rPr sz="2800" b="1" spc="-70" dirty="0">
                <a:latin typeface="Palatino Linotype" panose="02040502050505030304"/>
                <a:cs typeface="Palatino Linotype" panose="02040502050505030304"/>
              </a:rPr>
              <a:t> </a:t>
            </a:r>
            <a:r>
              <a:rPr sz="2800" b="1" dirty="0">
                <a:latin typeface="Palatino Linotype" panose="02040502050505030304"/>
                <a:cs typeface="Palatino Linotype" panose="02040502050505030304"/>
              </a:rPr>
              <a:t>and</a:t>
            </a:r>
            <a:r>
              <a:rPr sz="2800" b="1" spc="-70" dirty="0">
                <a:latin typeface="Palatino Linotype" panose="02040502050505030304"/>
                <a:cs typeface="Palatino Linotype" panose="02040502050505030304"/>
              </a:rPr>
              <a:t> </a:t>
            </a:r>
            <a:r>
              <a:rPr sz="2800" b="1" dirty="0">
                <a:latin typeface="Palatino Linotype" panose="02040502050505030304"/>
                <a:cs typeface="Palatino Linotype" panose="02040502050505030304"/>
              </a:rPr>
              <a:t>legally</a:t>
            </a:r>
            <a:r>
              <a:rPr sz="2800" b="1" spc="-65" dirty="0">
                <a:latin typeface="Palatino Linotype" panose="02040502050505030304"/>
                <a:cs typeface="Palatino Linotype" panose="02040502050505030304"/>
              </a:rPr>
              <a:t> </a:t>
            </a:r>
            <a:r>
              <a:rPr sz="2800" b="1" dirty="0">
                <a:latin typeface="Palatino Linotype" panose="02040502050505030304"/>
                <a:cs typeface="Palatino Linotype" panose="02040502050505030304"/>
              </a:rPr>
              <a:t>responsible</a:t>
            </a:r>
            <a:r>
              <a:rPr sz="2800" b="1" spc="-60" dirty="0">
                <a:latin typeface="Palatino Linotype" panose="02040502050505030304"/>
                <a:cs typeface="Palatino Linotype" panose="02040502050505030304"/>
              </a:rPr>
              <a:t> </a:t>
            </a:r>
            <a:r>
              <a:rPr sz="2800" b="1" spc="-25" dirty="0">
                <a:latin typeface="Palatino Linotype" panose="02040502050505030304"/>
                <a:cs typeface="Palatino Linotype" panose="02040502050505030304"/>
              </a:rPr>
              <a:t>for </a:t>
            </a:r>
            <a:r>
              <a:rPr sz="2800" b="1" dirty="0">
                <a:latin typeface="Palatino Linotype" panose="02040502050505030304"/>
                <a:cs typeface="Palatino Linotype" panose="02040502050505030304"/>
              </a:rPr>
              <a:t>correct</a:t>
            </a:r>
            <a:r>
              <a:rPr sz="2800" b="1" spc="-140" dirty="0">
                <a:latin typeface="Palatino Linotype" panose="02040502050505030304"/>
                <a:cs typeface="Palatino Linotype" panose="02040502050505030304"/>
              </a:rPr>
              <a:t> </a:t>
            </a:r>
            <a:r>
              <a:rPr sz="2800" b="1" dirty="0">
                <a:latin typeface="Palatino Linotype" panose="02040502050505030304"/>
                <a:cs typeface="Palatino Linotype" panose="02040502050505030304"/>
              </a:rPr>
              <a:t>administration</a:t>
            </a:r>
            <a:r>
              <a:rPr sz="2800" b="1" spc="-110" dirty="0">
                <a:latin typeface="Palatino Linotype" panose="02040502050505030304"/>
                <a:cs typeface="Palatino Linotype" panose="02040502050505030304"/>
              </a:rPr>
              <a:t> </a:t>
            </a:r>
            <a:r>
              <a:rPr sz="2800" b="1" spc="-25" dirty="0">
                <a:latin typeface="Palatino Linotype" panose="02040502050505030304"/>
                <a:cs typeface="Palatino Linotype" panose="02040502050505030304"/>
              </a:rPr>
              <a:t>of</a:t>
            </a:r>
            <a:r>
              <a:rPr sz="2800" b="1" dirty="0">
                <a:latin typeface="Palatino Linotype" panose="02040502050505030304"/>
                <a:cs typeface="Palatino Linotype" panose="02040502050505030304"/>
              </a:rPr>
              <a:t>	</a:t>
            </a:r>
            <a:r>
              <a:rPr sz="2800" b="1" spc="-10" dirty="0">
                <a:latin typeface="Palatino Linotype" panose="02040502050505030304"/>
                <a:cs typeface="Palatino Linotype" panose="02040502050505030304"/>
              </a:rPr>
              <a:t>drugs.</a:t>
            </a:r>
            <a:endParaRPr sz="2800">
              <a:latin typeface="Palatino Linotype" panose="02040502050505030304"/>
              <a:cs typeface="Palatino Linotype" panose="02040502050505030304"/>
            </a:endParaRPr>
          </a:p>
          <a:p>
            <a:pPr marL="355600" marR="5080" indent="-342900">
              <a:lnSpc>
                <a:spcPct val="90000"/>
              </a:lnSpc>
              <a:spcBef>
                <a:spcPts val="720"/>
              </a:spcBef>
              <a:buFont typeface="Wingdings" panose="05000000000000000000"/>
              <a:buChar char=""/>
              <a:tabLst>
                <a:tab pos="355600" algn="l"/>
              </a:tabLst>
            </a:pPr>
            <a:r>
              <a:rPr sz="2800" dirty="0">
                <a:latin typeface="Times New Roman" panose="02020603050405020304"/>
                <a:cs typeface="Times New Roman" panose="02020603050405020304"/>
              </a:rPr>
              <a:t>For</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safe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accurate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administration,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nurses</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should</a:t>
            </a:r>
            <a:r>
              <a:rPr sz="2800" spc="-7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use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b="1" i="1" dirty="0">
                <a:solidFill>
                  <a:srgbClr val="0000CC"/>
                </a:solidFill>
                <a:latin typeface="Georgia" panose="02040502050405020303"/>
                <a:cs typeface="Georgia" panose="02040502050405020303"/>
              </a:rPr>
              <a:t>“Six</a:t>
            </a:r>
            <a:r>
              <a:rPr sz="2800" b="1" i="1" spc="-20" dirty="0">
                <a:solidFill>
                  <a:srgbClr val="0000CC"/>
                </a:solidFill>
                <a:latin typeface="Georgia" panose="02040502050405020303"/>
                <a:cs typeface="Georgia" panose="02040502050405020303"/>
              </a:rPr>
              <a:t> </a:t>
            </a:r>
            <a:r>
              <a:rPr sz="2800" b="1" i="1" dirty="0">
                <a:solidFill>
                  <a:srgbClr val="0000CC"/>
                </a:solidFill>
                <a:latin typeface="Georgia" panose="02040502050405020303"/>
                <a:cs typeface="Georgia" panose="02040502050405020303"/>
              </a:rPr>
              <a:t>Rights”</a:t>
            </a:r>
            <a:r>
              <a:rPr sz="2800" b="1" i="1" spc="10" dirty="0">
                <a:solidFill>
                  <a:srgbClr val="0000CC"/>
                </a:solidFill>
                <a:latin typeface="Georgia" panose="02040502050405020303"/>
                <a:cs typeface="Georgia" panose="02040502050405020303"/>
              </a:rPr>
              <a:t> </a:t>
            </a:r>
            <a:r>
              <a:rPr sz="2800" dirty="0">
                <a:latin typeface="Times New Roman" panose="02020603050405020304"/>
                <a:cs typeface="Times New Roman" panose="02020603050405020304"/>
              </a:rPr>
              <a:t>and</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their</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subsequent</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additions</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 </a:t>
            </a:r>
            <a:r>
              <a:rPr sz="2800" spc="-50" dirty="0">
                <a:latin typeface="Times New Roman" panose="02020603050405020304"/>
                <a:cs typeface="Times New Roman" panose="02020603050405020304"/>
              </a:rPr>
              <a:t>a </a:t>
            </a:r>
            <a:r>
              <a:rPr sz="2800" dirty="0">
                <a:latin typeface="Times New Roman" panose="02020603050405020304"/>
                <a:cs typeface="Times New Roman" panose="02020603050405020304"/>
              </a:rPr>
              <a:t>guideline.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b="1" i="1" dirty="0">
                <a:solidFill>
                  <a:srgbClr val="FF0066"/>
                </a:solidFill>
                <a:latin typeface="Georgia" panose="02040502050405020303"/>
                <a:cs typeface="Georgia" panose="02040502050405020303"/>
              </a:rPr>
              <a:t>Right</a:t>
            </a:r>
            <a:r>
              <a:rPr sz="2800" b="1" i="1" spc="-40" dirty="0">
                <a:solidFill>
                  <a:srgbClr val="FF0066"/>
                </a:solidFill>
                <a:latin typeface="Georgia" panose="02040502050405020303"/>
                <a:cs typeface="Georgia" panose="02040502050405020303"/>
              </a:rPr>
              <a:t> </a:t>
            </a:r>
            <a:r>
              <a:rPr sz="2800" b="1" i="1" dirty="0">
                <a:solidFill>
                  <a:srgbClr val="FF0066"/>
                </a:solidFill>
                <a:latin typeface="Georgia" panose="02040502050405020303"/>
                <a:cs typeface="Georgia" panose="02040502050405020303"/>
              </a:rPr>
              <a:t>drug</a:t>
            </a:r>
            <a:r>
              <a:rPr sz="2800" b="1" i="1" spc="-30" dirty="0">
                <a:solidFill>
                  <a:srgbClr val="FF0066"/>
                </a:solidFill>
                <a:latin typeface="Georgia" panose="02040502050405020303"/>
                <a:cs typeface="Georgia" panose="02040502050405020303"/>
              </a:rPr>
              <a:t> </a:t>
            </a:r>
            <a:r>
              <a:rPr sz="2800" dirty="0">
                <a:latin typeface="Times New Roman" panose="02020603050405020304"/>
                <a:cs typeface="Times New Roman" panose="02020603050405020304"/>
              </a:rPr>
              <a:t>to</a:t>
            </a:r>
            <a:r>
              <a:rPr sz="2800" spc="-40" dirty="0">
                <a:latin typeface="Times New Roman" panose="02020603050405020304"/>
                <a:cs typeface="Times New Roman" panose="02020603050405020304"/>
              </a:rPr>
              <a:t> </a:t>
            </a:r>
            <a:r>
              <a:rPr sz="2800" b="1" i="1" dirty="0">
                <a:solidFill>
                  <a:srgbClr val="FF0066"/>
                </a:solidFill>
                <a:latin typeface="Georgia" panose="02040502050405020303"/>
                <a:cs typeface="Georgia" panose="02040502050405020303"/>
              </a:rPr>
              <a:t>Right</a:t>
            </a:r>
            <a:r>
              <a:rPr sz="2800" b="1" i="1" spc="-50" dirty="0">
                <a:solidFill>
                  <a:srgbClr val="FF0066"/>
                </a:solidFill>
                <a:latin typeface="Georgia" panose="02040502050405020303"/>
                <a:cs typeface="Georgia" panose="02040502050405020303"/>
              </a:rPr>
              <a:t> </a:t>
            </a:r>
            <a:r>
              <a:rPr sz="2800" b="1" i="1" dirty="0">
                <a:solidFill>
                  <a:srgbClr val="FF0066"/>
                </a:solidFill>
                <a:latin typeface="Georgia" panose="02040502050405020303"/>
                <a:cs typeface="Georgia" panose="02040502050405020303"/>
              </a:rPr>
              <a:t>patient</a:t>
            </a:r>
            <a:r>
              <a:rPr sz="2800" b="1" i="1" spc="-30" dirty="0">
                <a:solidFill>
                  <a:srgbClr val="FF0066"/>
                </a:solidFill>
                <a:latin typeface="Georgia" panose="02040502050405020303"/>
                <a:cs typeface="Georgia" panose="02040502050405020303"/>
              </a:rPr>
              <a:t> </a:t>
            </a:r>
            <a:r>
              <a:rPr sz="2800" dirty="0">
                <a:latin typeface="Times New Roman" panose="02020603050405020304"/>
                <a:cs typeface="Times New Roman" panose="02020603050405020304"/>
              </a:rPr>
              <a:t>in</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b="1" i="1" spc="-10" dirty="0">
                <a:solidFill>
                  <a:srgbClr val="FF0066"/>
                </a:solidFill>
                <a:latin typeface="Georgia" panose="02040502050405020303"/>
                <a:cs typeface="Georgia" panose="02040502050405020303"/>
              </a:rPr>
              <a:t>Right </a:t>
            </a:r>
            <a:r>
              <a:rPr sz="2800" b="1" i="1" dirty="0">
                <a:solidFill>
                  <a:srgbClr val="FF0066"/>
                </a:solidFill>
                <a:latin typeface="Georgia" panose="02040502050405020303"/>
                <a:cs typeface="Georgia" panose="02040502050405020303"/>
              </a:rPr>
              <a:t>dose</a:t>
            </a:r>
            <a:r>
              <a:rPr sz="2800" b="1" i="1" spc="-30" dirty="0">
                <a:solidFill>
                  <a:srgbClr val="FF0066"/>
                </a:solidFill>
                <a:latin typeface="Georgia" panose="02040502050405020303"/>
                <a:cs typeface="Georgia" panose="02040502050405020303"/>
              </a:rPr>
              <a:t> </a:t>
            </a:r>
            <a:r>
              <a:rPr sz="2800" dirty="0">
                <a:latin typeface="Times New Roman" panose="02020603050405020304"/>
                <a:cs typeface="Times New Roman" panose="02020603050405020304"/>
              </a:rPr>
              <a:t>by</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b="1" i="1" dirty="0">
                <a:solidFill>
                  <a:srgbClr val="FF0066"/>
                </a:solidFill>
                <a:latin typeface="Georgia" panose="02040502050405020303"/>
                <a:cs typeface="Georgia" panose="02040502050405020303"/>
              </a:rPr>
              <a:t>Right</a:t>
            </a:r>
            <a:r>
              <a:rPr sz="2800" b="1" i="1" spc="-45" dirty="0">
                <a:solidFill>
                  <a:srgbClr val="FF0066"/>
                </a:solidFill>
                <a:latin typeface="Georgia" panose="02040502050405020303"/>
                <a:cs typeface="Georgia" panose="02040502050405020303"/>
              </a:rPr>
              <a:t> </a:t>
            </a:r>
            <a:r>
              <a:rPr sz="2800" b="1" i="1" dirty="0">
                <a:solidFill>
                  <a:srgbClr val="FF0066"/>
                </a:solidFill>
                <a:latin typeface="Georgia" panose="02040502050405020303"/>
                <a:cs typeface="Georgia" panose="02040502050405020303"/>
              </a:rPr>
              <a:t>route</a:t>
            </a:r>
            <a:r>
              <a:rPr sz="2800" b="1" i="1" spc="-30" dirty="0">
                <a:solidFill>
                  <a:srgbClr val="FF0066"/>
                </a:solidFill>
                <a:latin typeface="Georgia" panose="02040502050405020303"/>
                <a:cs typeface="Georgia" panose="02040502050405020303"/>
              </a:rPr>
              <a:t> </a:t>
            </a:r>
            <a:r>
              <a:rPr sz="2800" dirty="0">
                <a:latin typeface="Times New Roman" panose="02020603050405020304"/>
                <a:cs typeface="Times New Roman" panose="02020603050405020304"/>
              </a:rPr>
              <a:t>at</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5" dirty="0">
                <a:latin typeface="Times New Roman" panose="02020603050405020304"/>
                <a:cs typeface="Times New Roman" panose="02020603050405020304"/>
              </a:rPr>
              <a:t> </a:t>
            </a:r>
            <a:r>
              <a:rPr sz="2800" b="1" i="1" dirty="0">
                <a:solidFill>
                  <a:srgbClr val="FF0066"/>
                </a:solidFill>
                <a:latin typeface="Georgia" panose="02040502050405020303"/>
                <a:cs typeface="Georgia" panose="02040502050405020303"/>
              </a:rPr>
              <a:t>Right</a:t>
            </a:r>
            <a:r>
              <a:rPr sz="2800" b="1" i="1" spc="-45" dirty="0">
                <a:solidFill>
                  <a:srgbClr val="FF0066"/>
                </a:solidFill>
                <a:latin typeface="Georgia" panose="02040502050405020303"/>
                <a:cs typeface="Georgia" panose="02040502050405020303"/>
              </a:rPr>
              <a:t> </a:t>
            </a:r>
            <a:r>
              <a:rPr sz="2800" b="1" i="1" dirty="0">
                <a:solidFill>
                  <a:srgbClr val="FF0066"/>
                </a:solidFill>
                <a:latin typeface="Georgia" panose="02040502050405020303"/>
                <a:cs typeface="Georgia" panose="02040502050405020303"/>
              </a:rPr>
              <a:t>time</a:t>
            </a:r>
            <a:r>
              <a:rPr sz="2800" b="1" i="1" spc="-20" dirty="0">
                <a:solidFill>
                  <a:srgbClr val="FF0066"/>
                </a:solidFill>
                <a:latin typeface="Georgia" panose="02040502050405020303"/>
                <a:cs typeface="Georgia" panose="02040502050405020303"/>
              </a:rPr>
              <a:t> </a:t>
            </a:r>
            <a:r>
              <a:rPr sz="2800" dirty="0">
                <a:latin typeface="Times New Roman" panose="02020603050405020304"/>
                <a:cs typeface="Times New Roman" panose="02020603050405020304"/>
              </a:rPr>
              <a:t>and</a:t>
            </a:r>
            <a:r>
              <a:rPr sz="2800" spc="-5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with </a:t>
            </a:r>
            <a:r>
              <a:rPr sz="2800" b="1" i="1" dirty="0">
                <a:solidFill>
                  <a:srgbClr val="FF0066"/>
                </a:solidFill>
                <a:latin typeface="Georgia" panose="02040502050405020303"/>
                <a:cs typeface="Georgia" panose="02040502050405020303"/>
              </a:rPr>
              <a:t>Right</a:t>
            </a:r>
            <a:r>
              <a:rPr sz="2800" b="1" i="1" spc="-90" dirty="0">
                <a:solidFill>
                  <a:srgbClr val="FF0066"/>
                </a:solidFill>
                <a:latin typeface="Georgia" panose="02040502050405020303"/>
                <a:cs typeface="Georgia" panose="02040502050405020303"/>
              </a:rPr>
              <a:t> </a:t>
            </a:r>
            <a:r>
              <a:rPr sz="2800" b="1" i="1" spc="-10" dirty="0">
                <a:solidFill>
                  <a:srgbClr val="FF0066"/>
                </a:solidFill>
                <a:latin typeface="Georgia" panose="02040502050405020303"/>
                <a:cs typeface="Georgia" panose="02040502050405020303"/>
              </a:rPr>
              <a:t>documentation</a:t>
            </a:r>
            <a:r>
              <a:rPr sz="2800" spc="-1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355600" marR="302260" indent="-342900">
              <a:lnSpc>
                <a:spcPct val="90000"/>
              </a:lnSpc>
              <a:spcBef>
                <a:spcPts val="665"/>
              </a:spcBef>
              <a:buFont typeface="Microsoft Sans Serif" panose="020B0604020202020204"/>
              <a:buChar char="•"/>
              <a:tabLst>
                <a:tab pos="355600" algn="l"/>
              </a:tabLst>
            </a:pPr>
            <a:r>
              <a:rPr sz="2800" dirty="0">
                <a:latin typeface="Times New Roman" panose="02020603050405020304"/>
                <a:cs typeface="Times New Roman" panose="02020603050405020304"/>
              </a:rPr>
              <a:t>By</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following</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“Six</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Rights”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drugs</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administration,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ensure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that</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will</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be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administered</a:t>
            </a:r>
            <a:r>
              <a:rPr sz="2800" spc="-3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as </a:t>
            </a:r>
            <a:r>
              <a:rPr sz="2800" dirty="0">
                <a:latin typeface="Times New Roman" panose="02020603050405020304"/>
                <a:cs typeface="Times New Roman" panose="02020603050405020304"/>
              </a:rPr>
              <a:t>prescribed</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(Correct</a:t>
            </a:r>
            <a:r>
              <a:rPr sz="2800" spc="-4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administration).</a:t>
            </a:r>
            <a:endParaRPr sz="280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46428" y="333756"/>
            <a:ext cx="720090" cy="372110"/>
            <a:chOff x="246428" y="333756"/>
            <a:chExt cx="720090" cy="372110"/>
          </a:xfrm>
        </p:grpSpPr>
        <p:pic>
          <p:nvPicPr>
            <p:cNvPr id="3" name="object 3"/>
            <p:cNvPicPr/>
            <p:nvPr/>
          </p:nvPicPr>
          <p:blipFill>
            <a:blip r:embed="rId2" cstate="print"/>
            <a:stretch>
              <a:fillRect/>
            </a:stretch>
          </p:blipFill>
          <p:spPr>
            <a:xfrm>
              <a:off x="246428" y="338346"/>
              <a:ext cx="200764" cy="174450"/>
            </a:xfrm>
            <a:prstGeom prst="rect">
              <a:avLst/>
            </a:prstGeom>
          </p:spPr>
        </p:pic>
        <p:pic>
          <p:nvPicPr>
            <p:cNvPr id="4" name="object 4"/>
            <p:cNvPicPr/>
            <p:nvPr/>
          </p:nvPicPr>
          <p:blipFill>
            <a:blip r:embed="rId3" cstate="print"/>
            <a:stretch>
              <a:fillRect/>
            </a:stretch>
          </p:blipFill>
          <p:spPr>
            <a:xfrm>
              <a:off x="303276" y="333756"/>
              <a:ext cx="662940" cy="371856"/>
            </a:xfrm>
            <a:prstGeom prst="rect">
              <a:avLst/>
            </a:prstGeom>
          </p:spPr>
        </p:pic>
      </p:grpSp>
      <p:pic>
        <p:nvPicPr>
          <p:cNvPr id="5" name="object 5"/>
          <p:cNvPicPr/>
          <p:nvPr/>
        </p:nvPicPr>
        <p:blipFill>
          <a:blip r:embed="rId4" cstate="print"/>
          <a:stretch>
            <a:fillRect/>
          </a:stretch>
        </p:blipFill>
        <p:spPr>
          <a:xfrm>
            <a:off x="260187" y="1463058"/>
            <a:ext cx="292105" cy="174450"/>
          </a:xfrm>
          <a:prstGeom prst="rect">
            <a:avLst/>
          </a:prstGeom>
        </p:spPr>
      </p:pic>
      <p:pic>
        <p:nvPicPr>
          <p:cNvPr id="6" name="object 6"/>
          <p:cNvPicPr/>
          <p:nvPr/>
        </p:nvPicPr>
        <p:blipFill>
          <a:blip r:embed="rId5" cstate="print"/>
          <a:stretch>
            <a:fillRect/>
          </a:stretch>
        </p:blipFill>
        <p:spPr>
          <a:xfrm>
            <a:off x="283463" y="2103138"/>
            <a:ext cx="310895" cy="174450"/>
          </a:xfrm>
          <a:prstGeom prst="rect">
            <a:avLst/>
          </a:prstGeom>
        </p:spPr>
      </p:pic>
      <p:grpSp>
        <p:nvGrpSpPr>
          <p:cNvPr id="7" name="object 7"/>
          <p:cNvGrpSpPr/>
          <p:nvPr/>
        </p:nvGrpSpPr>
        <p:grpSpPr>
          <a:xfrm>
            <a:off x="250253" y="75692"/>
            <a:ext cx="189865" cy="271780"/>
            <a:chOff x="250253" y="75692"/>
            <a:chExt cx="189865" cy="271780"/>
          </a:xfrm>
        </p:grpSpPr>
        <p:sp>
          <p:nvSpPr>
            <p:cNvPr id="8" name="object 8"/>
            <p:cNvSpPr/>
            <p:nvPr/>
          </p:nvSpPr>
          <p:spPr>
            <a:xfrm>
              <a:off x="254825" y="80264"/>
              <a:ext cx="180340" cy="262890"/>
            </a:xfrm>
            <a:custGeom>
              <a:avLst/>
              <a:gdLst/>
              <a:ahLst/>
              <a:cxnLst/>
              <a:rect l="l" t="t" r="r" b="b"/>
              <a:pathLst>
                <a:path w="180340" h="262890">
                  <a:moveTo>
                    <a:pt x="143987" y="195532"/>
                  </a:moveTo>
                  <a:lnTo>
                    <a:pt x="96916" y="195532"/>
                  </a:lnTo>
                  <a:lnTo>
                    <a:pt x="96159" y="210947"/>
                  </a:lnTo>
                  <a:lnTo>
                    <a:pt x="95345" y="222948"/>
                  </a:lnTo>
                  <a:lnTo>
                    <a:pt x="51536" y="245363"/>
                  </a:lnTo>
                  <a:lnTo>
                    <a:pt x="49860" y="246887"/>
                  </a:lnTo>
                  <a:lnTo>
                    <a:pt x="49860" y="260984"/>
                  </a:lnTo>
                  <a:lnTo>
                    <a:pt x="51536" y="262635"/>
                  </a:lnTo>
                  <a:lnTo>
                    <a:pt x="96042" y="260984"/>
                  </a:lnTo>
                  <a:lnTo>
                    <a:pt x="180276" y="260984"/>
                  </a:lnTo>
                  <a:lnTo>
                    <a:pt x="180276" y="247903"/>
                  </a:lnTo>
                  <a:lnTo>
                    <a:pt x="178409" y="246887"/>
                  </a:lnTo>
                  <a:lnTo>
                    <a:pt x="165955" y="245746"/>
                  </a:lnTo>
                  <a:lnTo>
                    <a:pt x="156502" y="244236"/>
                  </a:lnTo>
                  <a:lnTo>
                    <a:pt x="143888" y="210947"/>
                  </a:lnTo>
                  <a:lnTo>
                    <a:pt x="143802" y="203834"/>
                  </a:lnTo>
                  <a:lnTo>
                    <a:pt x="143955" y="196976"/>
                  </a:lnTo>
                  <a:lnTo>
                    <a:pt x="143987" y="195532"/>
                  </a:lnTo>
                  <a:close/>
                </a:path>
                <a:path w="180340" h="262890">
                  <a:moveTo>
                    <a:pt x="180276" y="260984"/>
                  </a:moveTo>
                  <a:lnTo>
                    <a:pt x="136129" y="260984"/>
                  </a:lnTo>
                  <a:lnTo>
                    <a:pt x="145251" y="261207"/>
                  </a:lnTo>
                  <a:lnTo>
                    <a:pt x="161190" y="261802"/>
                  </a:lnTo>
                  <a:lnTo>
                    <a:pt x="178409" y="262635"/>
                  </a:lnTo>
                  <a:lnTo>
                    <a:pt x="180276" y="261365"/>
                  </a:lnTo>
                  <a:lnTo>
                    <a:pt x="180276" y="260984"/>
                  </a:lnTo>
                  <a:close/>
                </a:path>
                <a:path w="180340" h="262890">
                  <a:moveTo>
                    <a:pt x="179297" y="195532"/>
                  </a:moveTo>
                  <a:lnTo>
                    <a:pt x="156066" y="195532"/>
                  </a:lnTo>
                  <a:lnTo>
                    <a:pt x="164105" y="195808"/>
                  </a:lnTo>
                  <a:lnTo>
                    <a:pt x="163041" y="195808"/>
                  </a:lnTo>
                  <a:lnTo>
                    <a:pt x="170186" y="196236"/>
                  </a:lnTo>
                  <a:lnTo>
                    <a:pt x="178587" y="196976"/>
                  </a:lnTo>
                  <a:lnTo>
                    <a:pt x="179297" y="195532"/>
                  </a:lnTo>
                  <a:close/>
                </a:path>
                <a:path w="180340" h="262890">
                  <a:moveTo>
                    <a:pt x="145478" y="0"/>
                  </a:moveTo>
                  <a:lnTo>
                    <a:pt x="131757" y="2932"/>
                  </a:lnTo>
                  <a:lnTo>
                    <a:pt x="119246" y="5460"/>
                  </a:lnTo>
                  <a:lnTo>
                    <a:pt x="107945" y="7608"/>
                  </a:lnTo>
                  <a:lnTo>
                    <a:pt x="97853" y="9397"/>
                  </a:lnTo>
                  <a:lnTo>
                    <a:pt x="84954" y="27497"/>
                  </a:lnTo>
                  <a:lnTo>
                    <a:pt x="58346" y="68887"/>
                  </a:lnTo>
                  <a:lnTo>
                    <a:pt x="31471" y="115845"/>
                  </a:lnTo>
                  <a:lnTo>
                    <a:pt x="9153" y="159799"/>
                  </a:lnTo>
                  <a:lnTo>
                    <a:pt x="0" y="180085"/>
                  </a:lnTo>
                  <a:lnTo>
                    <a:pt x="1866" y="191261"/>
                  </a:lnTo>
                  <a:lnTo>
                    <a:pt x="2501" y="195532"/>
                  </a:lnTo>
                  <a:lnTo>
                    <a:pt x="2606" y="196236"/>
                  </a:lnTo>
                  <a:lnTo>
                    <a:pt x="1474" y="196236"/>
                  </a:lnTo>
                  <a:lnTo>
                    <a:pt x="46369" y="195532"/>
                  </a:lnTo>
                  <a:lnTo>
                    <a:pt x="179337" y="195532"/>
                  </a:lnTo>
                  <a:lnTo>
                    <a:pt x="179263" y="180085"/>
                  </a:lnTo>
                  <a:lnTo>
                    <a:pt x="179717" y="166242"/>
                  </a:lnTo>
                  <a:lnTo>
                    <a:pt x="179152" y="164845"/>
                  </a:lnTo>
                  <a:lnTo>
                    <a:pt x="56367" y="164845"/>
                  </a:lnTo>
                  <a:lnTo>
                    <a:pt x="28130" y="164210"/>
                  </a:lnTo>
                  <a:lnTo>
                    <a:pt x="53949" y="112311"/>
                  </a:lnTo>
                  <a:lnTo>
                    <a:pt x="75645" y="74362"/>
                  </a:lnTo>
                  <a:lnTo>
                    <a:pt x="99720" y="37464"/>
                  </a:lnTo>
                  <a:lnTo>
                    <a:pt x="147716" y="37464"/>
                  </a:lnTo>
                  <a:lnTo>
                    <a:pt x="148037" y="30448"/>
                  </a:lnTo>
                  <a:lnTo>
                    <a:pt x="148761" y="16946"/>
                  </a:lnTo>
                  <a:lnTo>
                    <a:pt x="149470" y="5460"/>
                  </a:lnTo>
                  <a:lnTo>
                    <a:pt x="149580" y="3682"/>
                  </a:lnTo>
                  <a:lnTo>
                    <a:pt x="145478" y="0"/>
                  </a:lnTo>
                  <a:close/>
                </a:path>
                <a:path w="180340" h="262890">
                  <a:moveTo>
                    <a:pt x="147716" y="37464"/>
                  </a:moveTo>
                  <a:lnTo>
                    <a:pt x="99720" y="37464"/>
                  </a:lnTo>
                  <a:lnTo>
                    <a:pt x="97023" y="159799"/>
                  </a:lnTo>
                  <a:lnTo>
                    <a:pt x="96926" y="164210"/>
                  </a:lnTo>
                  <a:lnTo>
                    <a:pt x="60490" y="164845"/>
                  </a:lnTo>
                  <a:lnTo>
                    <a:pt x="179152" y="164845"/>
                  </a:lnTo>
                  <a:lnTo>
                    <a:pt x="179081" y="164671"/>
                  </a:lnTo>
                  <a:lnTo>
                    <a:pt x="179000" y="164470"/>
                  </a:lnTo>
                  <a:lnTo>
                    <a:pt x="178895" y="164210"/>
                  </a:lnTo>
                  <a:lnTo>
                    <a:pt x="143992" y="164210"/>
                  </a:lnTo>
                  <a:lnTo>
                    <a:pt x="146853" y="58959"/>
                  </a:lnTo>
                  <a:lnTo>
                    <a:pt x="147289" y="47323"/>
                  </a:lnTo>
                  <a:lnTo>
                    <a:pt x="147408" y="44188"/>
                  </a:lnTo>
                  <a:lnTo>
                    <a:pt x="147716" y="37464"/>
                  </a:lnTo>
                  <a:close/>
                </a:path>
                <a:path w="180340" h="262890">
                  <a:moveTo>
                    <a:pt x="178587" y="163449"/>
                  </a:moveTo>
                  <a:lnTo>
                    <a:pt x="171238" y="163782"/>
                  </a:lnTo>
                  <a:lnTo>
                    <a:pt x="163023" y="164020"/>
                  </a:lnTo>
                  <a:lnTo>
                    <a:pt x="150914" y="164210"/>
                  </a:lnTo>
                  <a:lnTo>
                    <a:pt x="178895" y="164210"/>
                  </a:lnTo>
                  <a:lnTo>
                    <a:pt x="178587" y="163449"/>
                  </a:lnTo>
                  <a:close/>
                </a:path>
              </a:pathLst>
            </a:custGeom>
            <a:solidFill>
              <a:srgbClr val="FF0000"/>
            </a:solidFill>
          </p:spPr>
          <p:txBody>
            <a:bodyPr wrap="square" lIns="0" tIns="0" rIns="0" bIns="0" rtlCol="0"/>
            <a:lstStyle/>
            <a:p>
              <a:endParaRPr/>
            </a:p>
          </p:txBody>
        </p:sp>
        <p:pic>
          <p:nvPicPr>
            <p:cNvPr id="9" name="object 9"/>
            <p:cNvPicPr/>
            <p:nvPr/>
          </p:nvPicPr>
          <p:blipFill>
            <a:blip r:embed="rId6" cstate="print"/>
            <a:stretch>
              <a:fillRect/>
            </a:stretch>
          </p:blipFill>
          <p:spPr>
            <a:xfrm>
              <a:off x="278383" y="113157"/>
              <a:ext cx="80733" cy="136525"/>
            </a:xfrm>
            <a:prstGeom prst="rect">
              <a:avLst/>
            </a:prstGeom>
          </p:spPr>
        </p:pic>
        <p:sp>
          <p:nvSpPr>
            <p:cNvPr id="10" name="object 10"/>
            <p:cNvSpPr/>
            <p:nvPr/>
          </p:nvSpPr>
          <p:spPr>
            <a:xfrm>
              <a:off x="254825" y="80264"/>
              <a:ext cx="180340" cy="262890"/>
            </a:xfrm>
            <a:custGeom>
              <a:avLst/>
              <a:gdLst/>
              <a:ahLst/>
              <a:cxnLst/>
              <a:rect l="l" t="t" r="r" b="b"/>
              <a:pathLst>
                <a:path w="180340" h="262890">
                  <a:moveTo>
                    <a:pt x="145478" y="0"/>
                  </a:moveTo>
                  <a:lnTo>
                    <a:pt x="149580" y="3682"/>
                  </a:lnTo>
                  <a:lnTo>
                    <a:pt x="148761" y="16946"/>
                  </a:lnTo>
                  <a:lnTo>
                    <a:pt x="148037" y="30448"/>
                  </a:lnTo>
                  <a:lnTo>
                    <a:pt x="147408" y="44188"/>
                  </a:lnTo>
                  <a:lnTo>
                    <a:pt x="146875" y="58165"/>
                  </a:lnTo>
                  <a:lnTo>
                    <a:pt x="143992" y="164210"/>
                  </a:lnTo>
                  <a:lnTo>
                    <a:pt x="153941" y="164163"/>
                  </a:lnTo>
                  <a:lnTo>
                    <a:pt x="163023" y="164020"/>
                  </a:lnTo>
                  <a:lnTo>
                    <a:pt x="171238" y="163782"/>
                  </a:lnTo>
                  <a:lnTo>
                    <a:pt x="178587" y="163449"/>
                  </a:lnTo>
                  <a:lnTo>
                    <a:pt x="179717" y="166242"/>
                  </a:lnTo>
                  <a:lnTo>
                    <a:pt x="179527" y="172338"/>
                  </a:lnTo>
                  <a:lnTo>
                    <a:pt x="179146" y="183641"/>
                  </a:lnTo>
                  <a:lnTo>
                    <a:pt x="179336" y="195452"/>
                  </a:lnTo>
                  <a:lnTo>
                    <a:pt x="178587" y="196976"/>
                  </a:lnTo>
                  <a:lnTo>
                    <a:pt x="170186" y="196236"/>
                  </a:lnTo>
                  <a:lnTo>
                    <a:pt x="161618" y="195722"/>
                  </a:lnTo>
                  <a:lnTo>
                    <a:pt x="152885" y="195423"/>
                  </a:lnTo>
                  <a:lnTo>
                    <a:pt x="143992" y="195325"/>
                  </a:lnTo>
                  <a:lnTo>
                    <a:pt x="143802" y="203834"/>
                  </a:lnTo>
                  <a:lnTo>
                    <a:pt x="150048" y="242369"/>
                  </a:lnTo>
                  <a:lnTo>
                    <a:pt x="178409" y="246887"/>
                  </a:lnTo>
                  <a:lnTo>
                    <a:pt x="180276" y="247903"/>
                  </a:lnTo>
                  <a:lnTo>
                    <a:pt x="180276" y="261365"/>
                  </a:lnTo>
                  <a:lnTo>
                    <a:pt x="178409" y="262635"/>
                  </a:lnTo>
                  <a:lnTo>
                    <a:pt x="161190" y="261802"/>
                  </a:lnTo>
                  <a:lnTo>
                    <a:pt x="145251" y="261207"/>
                  </a:lnTo>
                  <a:lnTo>
                    <a:pt x="130591" y="260850"/>
                  </a:lnTo>
                  <a:lnTo>
                    <a:pt x="117208" y="260730"/>
                  </a:lnTo>
                  <a:lnTo>
                    <a:pt x="107657" y="260730"/>
                  </a:lnTo>
                  <a:lnTo>
                    <a:pt x="99466" y="260857"/>
                  </a:lnTo>
                  <a:lnTo>
                    <a:pt x="92646" y="261111"/>
                  </a:lnTo>
                  <a:lnTo>
                    <a:pt x="51536" y="262635"/>
                  </a:lnTo>
                  <a:lnTo>
                    <a:pt x="49860" y="260984"/>
                  </a:lnTo>
                  <a:lnTo>
                    <a:pt x="49860" y="246887"/>
                  </a:lnTo>
                  <a:lnTo>
                    <a:pt x="51536" y="245363"/>
                  </a:lnTo>
                  <a:lnTo>
                    <a:pt x="65674" y="244459"/>
                  </a:lnTo>
                  <a:lnTo>
                    <a:pt x="76276" y="243649"/>
                  </a:lnTo>
                  <a:lnTo>
                    <a:pt x="96159" y="210947"/>
                  </a:lnTo>
                  <a:lnTo>
                    <a:pt x="96926" y="195325"/>
                  </a:lnTo>
                  <a:lnTo>
                    <a:pt x="70799" y="195375"/>
                  </a:lnTo>
                  <a:lnTo>
                    <a:pt x="46369" y="195532"/>
                  </a:lnTo>
                  <a:lnTo>
                    <a:pt x="23636" y="195808"/>
                  </a:lnTo>
                  <a:lnTo>
                    <a:pt x="2603" y="196214"/>
                  </a:lnTo>
                  <a:lnTo>
                    <a:pt x="1866" y="191261"/>
                  </a:lnTo>
                  <a:lnTo>
                    <a:pt x="19643" y="138382"/>
                  </a:lnTo>
                  <a:lnTo>
                    <a:pt x="44640" y="92201"/>
                  </a:lnTo>
                  <a:lnTo>
                    <a:pt x="71785" y="47323"/>
                  </a:lnTo>
                  <a:lnTo>
                    <a:pt x="97853" y="9397"/>
                  </a:lnTo>
                  <a:lnTo>
                    <a:pt x="107945" y="7608"/>
                  </a:lnTo>
                  <a:lnTo>
                    <a:pt x="119246" y="5460"/>
                  </a:lnTo>
                  <a:lnTo>
                    <a:pt x="131757" y="2932"/>
                  </a:lnTo>
                  <a:lnTo>
                    <a:pt x="145478" y="0"/>
                  </a:lnTo>
                  <a:close/>
                </a:path>
              </a:pathLst>
            </a:custGeom>
            <a:ln w="9144">
              <a:solidFill>
                <a:srgbClr val="000000"/>
              </a:solidFill>
            </a:ln>
          </p:spPr>
          <p:txBody>
            <a:bodyPr wrap="square" lIns="0" tIns="0" rIns="0" bIns="0" rtlCol="0"/>
            <a:lstStyle/>
            <a:p>
              <a:endParaRPr/>
            </a:p>
          </p:txBody>
        </p:sp>
      </p:grpSp>
      <p:pic>
        <p:nvPicPr>
          <p:cNvPr id="11" name="object 11"/>
          <p:cNvPicPr/>
          <p:nvPr/>
        </p:nvPicPr>
        <p:blipFill>
          <a:blip r:embed="rId7" cstate="print"/>
          <a:stretch>
            <a:fillRect/>
          </a:stretch>
        </p:blipFill>
        <p:spPr>
          <a:xfrm>
            <a:off x="553097" y="282193"/>
            <a:ext cx="68681" cy="68579"/>
          </a:xfrm>
          <a:prstGeom prst="rect">
            <a:avLst/>
          </a:prstGeom>
        </p:spPr>
      </p:pic>
      <p:grpSp>
        <p:nvGrpSpPr>
          <p:cNvPr id="12" name="object 12"/>
          <p:cNvGrpSpPr/>
          <p:nvPr/>
        </p:nvGrpSpPr>
        <p:grpSpPr>
          <a:xfrm>
            <a:off x="263652" y="1183386"/>
            <a:ext cx="285750" cy="375285"/>
            <a:chOff x="263652" y="1183386"/>
            <a:chExt cx="285750" cy="375285"/>
          </a:xfrm>
        </p:grpSpPr>
        <p:sp>
          <p:nvSpPr>
            <p:cNvPr id="13" name="object 13"/>
            <p:cNvSpPr/>
            <p:nvPr/>
          </p:nvSpPr>
          <p:spPr>
            <a:xfrm>
              <a:off x="268224" y="1187958"/>
              <a:ext cx="276860" cy="365760"/>
            </a:xfrm>
            <a:custGeom>
              <a:avLst/>
              <a:gdLst/>
              <a:ahLst/>
              <a:cxnLst/>
              <a:rect l="l" t="t" r="r" b="b"/>
              <a:pathLst>
                <a:path w="276859" h="365759">
                  <a:moveTo>
                    <a:pt x="140535" y="125856"/>
                  </a:moveTo>
                  <a:lnTo>
                    <a:pt x="59270" y="125856"/>
                  </a:lnTo>
                  <a:lnTo>
                    <a:pt x="69241" y="126694"/>
                  </a:lnTo>
                  <a:lnTo>
                    <a:pt x="77819" y="129222"/>
                  </a:lnTo>
                  <a:lnTo>
                    <a:pt x="98412" y="171322"/>
                  </a:lnTo>
                  <a:lnTo>
                    <a:pt x="68875" y="177418"/>
                  </a:lnTo>
                  <a:lnTo>
                    <a:pt x="45072" y="183895"/>
                  </a:lnTo>
                  <a:lnTo>
                    <a:pt x="8251" y="204712"/>
                  </a:lnTo>
                  <a:lnTo>
                    <a:pt x="0" y="237108"/>
                  </a:lnTo>
                  <a:lnTo>
                    <a:pt x="527" y="245379"/>
                  </a:lnTo>
                  <a:lnTo>
                    <a:pt x="581" y="246237"/>
                  </a:lnTo>
                  <a:lnTo>
                    <a:pt x="673" y="247679"/>
                  </a:lnTo>
                  <a:lnTo>
                    <a:pt x="23763" y="280066"/>
                  </a:lnTo>
                  <a:lnTo>
                    <a:pt x="41224" y="282955"/>
                  </a:lnTo>
                  <a:lnTo>
                    <a:pt x="46545" y="282955"/>
                  </a:lnTo>
                  <a:lnTo>
                    <a:pt x="52316" y="282237"/>
                  </a:lnTo>
                  <a:lnTo>
                    <a:pt x="52483" y="282237"/>
                  </a:lnTo>
                  <a:lnTo>
                    <a:pt x="59601" y="280542"/>
                  </a:lnTo>
                  <a:lnTo>
                    <a:pt x="98412" y="251587"/>
                  </a:lnTo>
                  <a:lnTo>
                    <a:pt x="144682" y="251587"/>
                  </a:lnTo>
                  <a:lnTo>
                    <a:pt x="144543" y="249554"/>
                  </a:lnTo>
                  <a:lnTo>
                    <a:pt x="61950" y="249554"/>
                  </a:lnTo>
                  <a:lnTo>
                    <a:pt x="56641" y="247395"/>
                  </a:lnTo>
                  <a:lnTo>
                    <a:pt x="52438" y="242950"/>
                  </a:lnTo>
                  <a:lnTo>
                    <a:pt x="48234" y="238632"/>
                  </a:lnTo>
                  <a:lnTo>
                    <a:pt x="46228" y="232917"/>
                  </a:lnTo>
                  <a:lnTo>
                    <a:pt x="71483" y="194786"/>
                  </a:lnTo>
                  <a:lnTo>
                    <a:pt x="98412" y="187325"/>
                  </a:lnTo>
                  <a:lnTo>
                    <a:pt x="144774" y="187325"/>
                  </a:lnTo>
                  <a:lnTo>
                    <a:pt x="145218" y="171322"/>
                  </a:lnTo>
                  <a:lnTo>
                    <a:pt x="145289" y="168576"/>
                  </a:lnTo>
                  <a:lnTo>
                    <a:pt x="145431" y="161303"/>
                  </a:lnTo>
                  <a:lnTo>
                    <a:pt x="145478" y="155828"/>
                  </a:lnTo>
                  <a:lnTo>
                    <a:pt x="145345" y="152384"/>
                  </a:lnTo>
                  <a:lnTo>
                    <a:pt x="145281" y="150749"/>
                  </a:lnTo>
                  <a:lnTo>
                    <a:pt x="145159" y="147574"/>
                  </a:lnTo>
                  <a:lnTo>
                    <a:pt x="145083" y="145613"/>
                  </a:lnTo>
                  <a:lnTo>
                    <a:pt x="143897" y="136683"/>
                  </a:lnTo>
                  <a:lnTo>
                    <a:pt x="141968" y="129222"/>
                  </a:lnTo>
                  <a:lnTo>
                    <a:pt x="141920" y="129039"/>
                  </a:lnTo>
                  <a:lnTo>
                    <a:pt x="140535" y="125856"/>
                  </a:lnTo>
                  <a:close/>
                </a:path>
                <a:path w="276859" h="365759">
                  <a:moveTo>
                    <a:pt x="144682" y="251587"/>
                  </a:moveTo>
                  <a:lnTo>
                    <a:pt x="98412" y="251587"/>
                  </a:lnTo>
                  <a:lnTo>
                    <a:pt x="96596" y="276419"/>
                  </a:lnTo>
                  <a:lnTo>
                    <a:pt x="96545" y="277113"/>
                  </a:lnTo>
                  <a:lnTo>
                    <a:pt x="98412" y="279145"/>
                  </a:lnTo>
                  <a:lnTo>
                    <a:pt x="106365" y="278645"/>
                  </a:lnTo>
                  <a:lnTo>
                    <a:pt x="114549" y="278288"/>
                  </a:lnTo>
                  <a:lnTo>
                    <a:pt x="120782" y="278129"/>
                  </a:lnTo>
                  <a:lnTo>
                    <a:pt x="168732" y="278129"/>
                  </a:lnTo>
                  <a:lnTo>
                    <a:pt x="168732" y="263905"/>
                  </a:lnTo>
                  <a:lnTo>
                    <a:pt x="144721" y="252156"/>
                  </a:lnTo>
                  <a:lnTo>
                    <a:pt x="144682" y="251587"/>
                  </a:lnTo>
                  <a:close/>
                </a:path>
                <a:path w="276859" h="365759">
                  <a:moveTo>
                    <a:pt x="168732" y="278129"/>
                  </a:moveTo>
                  <a:lnTo>
                    <a:pt x="146786" y="278129"/>
                  </a:lnTo>
                  <a:lnTo>
                    <a:pt x="168732" y="279145"/>
                  </a:lnTo>
                  <a:lnTo>
                    <a:pt x="168732" y="278129"/>
                  </a:lnTo>
                  <a:close/>
                </a:path>
                <a:path w="276859" h="365759">
                  <a:moveTo>
                    <a:pt x="144774" y="187325"/>
                  </a:moveTo>
                  <a:lnTo>
                    <a:pt x="98412" y="187325"/>
                  </a:lnTo>
                  <a:lnTo>
                    <a:pt x="98412" y="232917"/>
                  </a:lnTo>
                  <a:lnTo>
                    <a:pt x="90763" y="240178"/>
                  </a:lnTo>
                  <a:lnTo>
                    <a:pt x="83208" y="245379"/>
                  </a:lnTo>
                  <a:lnTo>
                    <a:pt x="75746" y="248509"/>
                  </a:lnTo>
                  <a:lnTo>
                    <a:pt x="68376" y="249554"/>
                  </a:lnTo>
                  <a:lnTo>
                    <a:pt x="144543" y="249554"/>
                  </a:lnTo>
                  <a:lnTo>
                    <a:pt x="144557" y="194786"/>
                  </a:lnTo>
                  <a:lnTo>
                    <a:pt x="144674" y="190753"/>
                  </a:lnTo>
                  <a:lnTo>
                    <a:pt x="144774" y="187325"/>
                  </a:lnTo>
                  <a:close/>
                </a:path>
                <a:path w="276859" h="365759">
                  <a:moveTo>
                    <a:pt x="83337" y="98043"/>
                  </a:moveTo>
                  <a:lnTo>
                    <a:pt x="41579" y="109188"/>
                  </a:lnTo>
                  <a:lnTo>
                    <a:pt x="17119" y="123570"/>
                  </a:lnTo>
                  <a:lnTo>
                    <a:pt x="17173" y="125856"/>
                  </a:lnTo>
                  <a:lnTo>
                    <a:pt x="17248" y="129039"/>
                  </a:lnTo>
                  <a:lnTo>
                    <a:pt x="17352" y="133465"/>
                  </a:lnTo>
                  <a:lnTo>
                    <a:pt x="17476" y="139445"/>
                  </a:lnTo>
                  <a:lnTo>
                    <a:pt x="17225" y="145159"/>
                  </a:lnTo>
                  <a:lnTo>
                    <a:pt x="17119" y="147574"/>
                  </a:lnTo>
                  <a:lnTo>
                    <a:pt x="29946" y="150749"/>
                  </a:lnTo>
                  <a:lnTo>
                    <a:pt x="38303" y="130809"/>
                  </a:lnTo>
                  <a:lnTo>
                    <a:pt x="41868" y="129039"/>
                  </a:lnTo>
                  <a:lnTo>
                    <a:pt x="45440" y="127762"/>
                  </a:lnTo>
                  <a:lnTo>
                    <a:pt x="52489" y="126237"/>
                  </a:lnTo>
                  <a:lnTo>
                    <a:pt x="55918" y="125856"/>
                  </a:lnTo>
                  <a:lnTo>
                    <a:pt x="140535" y="125856"/>
                  </a:lnTo>
                  <a:lnTo>
                    <a:pt x="139153" y="122681"/>
                  </a:lnTo>
                  <a:lnTo>
                    <a:pt x="103247" y="99726"/>
                  </a:lnTo>
                  <a:lnTo>
                    <a:pt x="93805" y="98468"/>
                  </a:lnTo>
                  <a:lnTo>
                    <a:pt x="83337" y="98043"/>
                  </a:lnTo>
                  <a:close/>
                </a:path>
                <a:path w="276859" h="365759">
                  <a:moveTo>
                    <a:pt x="193852" y="0"/>
                  </a:moveTo>
                  <a:lnTo>
                    <a:pt x="184353" y="11556"/>
                  </a:lnTo>
                  <a:lnTo>
                    <a:pt x="192185" y="22891"/>
                  </a:lnTo>
                  <a:lnTo>
                    <a:pt x="198935" y="33845"/>
                  </a:lnTo>
                  <a:lnTo>
                    <a:pt x="216195" y="76215"/>
                  </a:lnTo>
                  <a:lnTo>
                    <a:pt x="222636" y="115943"/>
                  </a:lnTo>
                  <a:lnTo>
                    <a:pt x="224495" y="156900"/>
                  </a:lnTo>
                  <a:lnTo>
                    <a:pt x="224726" y="182879"/>
                  </a:lnTo>
                  <a:lnTo>
                    <a:pt x="224549" y="202430"/>
                  </a:lnTo>
                  <a:lnTo>
                    <a:pt x="224495" y="208406"/>
                  </a:lnTo>
                  <a:lnTo>
                    <a:pt x="222636" y="249174"/>
                  </a:lnTo>
                  <a:lnTo>
                    <a:pt x="216195" y="289655"/>
                  </a:lnTo>
                  <a:lnTo>
                    <a:pt x="198935" y="331977"/>
                  </a:lnTo>
                  <a:lnTo>
                    <a:pt x="184353" y="354202"/>
                  </a:lnTo>
                  <a:lnTo>
                    <a:pt x="193852" y="365759"/>
                  </a:lnTo>
                  <a:lnTo>
                    <a:pt x="230228" y="328880"/>
                  </a:lnTo>
                  <a:lnTo>
                    <a:pt x="255516" y="287004"/>
                  </a:lnTo>
                  <a:lnTo>
                    <a:pt x="271028" y="238815"/>
                  </a:lnTo>
                  <a:lnTo>
                    <a:pt x="276263" y="182879"/>
                  </a:lnTo>
                  <a:lnTo>
                    <a:pt x="275681" y="163331"/>
                  </a:lnTo>
                  <a:lnTo>
                    <a:pt x="266954" y="110236"/>
                  </a:lnTo>
                  <a:lnTo>
                    <a:pt x="248192" y="64194"/>
                  </a:lnTo>
                  <a:lnTo>
                    <a:pt x="219379" y="24098"/>
                  </a:lnTo>
                  <a:lnTo>
                    <a:pt x="207254" y="11787"/>
                  </a:lnTo>
                  <a:lnTo>
                    <a:pt x="193852" y="0"/>
                  </a:lnTo>
                  <a:close/>
                </a:path>
              </a:pathLst>
            </a:custGeom>
            <a:solidFill>
              <a:srgbClr val="0000CC"/>
            </a:solidFill>
          </p:spPr>
          <p:txBody>
            <a:bodyPr wrap="square" lIns="0" tIns="0" rIns="0" bIns="0" rtlCol="0"/>
            <a:lstStyle/>
            <a:p>
              <a:endParaRPr/>
            </a:p>
          </p:txBody>
        </p:sp>
        <p:pic>
          <p:nvPicPr>
            <p:cNvPr id="14" name="object 14"/>
            <p:cNvPicPr/>
            <p:nvPr/>
          </p:nvPicPr>
          <p:blipFill>
            <a:blip r:embed="rId8" cstate="print"/>
            <a:stretch>
              <a:fillRect/>
            </a:stretch>
          </p:blipFill>
          <p:spPr>
            <a:xfrm>
              <a:off x="263652" y="1281430"/>
              <a:ext cx="177876" cy="194056"/>
            </a:xfrm>
            <a:prstGeom prst="rect">
              <a:avLst/>
            </a:prstGeom>
          </p:spPr>
        </p:pic>
        <p:sp>
          <p:nvSpPr>
            <p:cNvPr id="15" name="object 15"/>
            <p:cNvSpPr/>
            <p:nvPr/>
          </p:nvSpPr>
          <p:spPr>
            <a:xfrm>
              <a:off x="452577" y="1187958"/>
              <a:ext cx="92075" cy="365760"/>
            </a:xfrm>
            <a:custGeom>
              <a:avLst/>
              <a:gdLst/>
              <a:ahLst/>
              <a:cxnLst/>
              <a:rect l="l" t="t" r="r" b="b"/>
              <a:pathLst>
                <a:path w="92075" h="365759">
                  <a:moveTo>
                    <a:pt x="9499" y="0"/>
                  </a:moveTo>
                  <a:lnTo>
                    <a:pt x="45875" y="36933"/>
                  </a:lnTo>
                  <a:lnTo>
                    <a:pt x="71162" y="78835"/>
                  </a:lnTo>
                  <a:lnTo>
                    <a:pt x="86675" y="126998"/>
                  </a:lnTo>
                  <a:lnTo>
                    <a:pt x="91909" y="182879"/>
                  </a:lnTo>
                  <a:lnTo>
                    <a:pt x="91328" y="202430"/>
                  </a:lnTo>
                  <a:lnTo>
                    <a:pt x="82600" y="255650"/>
                  </a:lnTo>
                  <a:lnTo>
                    <a:pt x="63839" y="301638"/>
                  </a:lnTo>
                  <a:lnTo>
                    <a:pt x="35026" y="341677"/>
                  </a:lnTo>
                  <a:lnTo>
                    <a:pt x="9499" y="365759"/>
                  </a:lnTo>
                  <a:lnTo>
                    <a:pt x="0" y="354202"/>
                  </a:lnTo>
                  <a:lnTo>
                    <a:pt x="7831" y="342888"/>
                  </a:lnTo>
                  <a:lnTo>
                    <a:pt x="14582" y="331977"/>
                  </a:lnTo>
                  <a:lnTo>
                    <a:pt x="31842" y="289655"/>
                  </a:lnTo>
                  <a:lnTo>
                    <a:pt x="38283" y="249174"/>
                  </a:lnTo>
                  <a:lnTo>
                    <a:pt x="40141" y="208406"/>
                  </a:lnTo>
                  <a:lnTo>
                    <a:pt x="40373" y="182879"/>
                  </a:lnTo>
                  <a:lnTo>
                    <a:pt x="40141" y="156900"/>
                  </a:lnTo>
                  <a:lnTo>
                    <a:pt x="38283" y="115943"/>
                  </a:lnTo>
                  <a:lnTo>
                    <a:pt x="31842" y="76215"/>
                  </a:lnTo>
                  <a:lnTo>
                    <a:pt x="14582" y="33845"/>
                  </a:lnTo>
                  <a:lnTo>
                    <a:pt x="0" y="11556"/>
                  </a:lnTo>
                  <a:lnTo>
                    <a:pt x="9499" y="0"/>
                  </a:lnTo>
                  <a:close/>
                </a:path>
              </a:pathLst>
            </a:custGeom>
            <a:ln w="9144">
              <a:solidFill>
                <a:srgbClr val="000000"/>
              </a:solidFill>
            </a:ln>
          </p:spPr>
          <p:txBody>
            <a:bodyPr wrap="square" lIns="0" tIns="0" rIns="0" bIns="0" rtlCol="0"/>
            <a:lstStyle/>
            <a:p>
              <a:endParaRPr/>
            </a:p>
          </p:txBody>
        </p:sp>
      </p:grpSp>
      <p:grpSp>
        <p:nvGrpSpPr>
          <p:cNvPr id="16" name="object 16"/>
          <p:cNvGrpSpPr/>
          <p:nvPr/>
        </p:nvGrpSpPr>
        <p:grpSpPr>
          <a:xfrm>
            <a:off x="259562" y="1823466"/>
            <a:ext cx="332740" cy="375285"/>
            <a:chOff x="259562" y="1823466"/>
            <a:chExt cx="332740" cy="375285"/>
          </a:xfrm>
        </p:grpSpPr>
        <p:sp>
          <p:nvSpPr>
            <p:cNvPr id="17" name="object 17"/>
            <p:cNvSpPr/>
            <p:nvPr/>
          </p:nvSpPr>
          <p:spPr>
            <a:xfrm>
              <a:off x="264134" y="1828038"/>
              <a:ext cx="323215" cy="365760"/>
            </a:xfrm>
            <a:custGeom>
              <a:avLst/>
              <a:gdLst/>
              <a:ahLst/>
              <a:cxnLst/>
              <a:rect l="l" t="t" r="r" b="b"/>
              <a:pathLst>
                <a:path w="323215" h="365760">
                  <a:moveTo>
                    <a:pt x="76390" y="2286"/>
                  </a:moveTo>
                  <a:lnTo>
                    <a:pt x="74040" y="2286"/>
                  </a:lnTo>
                  <a:lnTo>
                    <a:pt x="65874" y="5461"/>
                  </a:lnTo>
                  <a:lnTo>
                    <a:pt x="59614" y="7745"/>
                  </a:lnTo>
                  <a:lnTo>
                    <a:pt x="22093" y="16384"/>
                  </a:lnTo>
                  <a:lnTo>
                    <a:pt x="0" y="18796"/>
                  </a:lnTo>
                  <a:lnTo>
                    <a:pt x="0" y="32258"/>
                  </a:lnTo>
                  <a:lnTo>
                    <a:pt x="12941" y="32765"/>
                  </a:lnTo>
                  <a:lnTo>
                    <a:pt x="20205" y="33274"/>
                  </a:lnTo>
                  <a:lnTo>
                    <a:pt x="21805" y="33782"/>
                  </a:lnTo>
                  <a:lnTo>
                    <a:pt x="24028" y="34289"/>
                  </a:lnTo>
                  <a:lnTo>
                    <a:pt x="25565" y="35433"/>
                  </a:lnTo>
                  <a:lnTo>
                    <a:pt x="27673" y="39370"/>
                  </a:lnTo>
                  <a:lnTo>
                    <a:pt x="28282" y="44323"/>
                  </a:lnTo>
                  <a:lnTo>
                    <a:pt x="28282" y="51562"/>
                  </a:lnTo>
                  <a:lnTo>
                    <a:pt x="29350" y="98044"/>
                  </a:lnTo>
                  <a:lnTo>
                    <a:pt x="29465" y="103060"/>
                  </a:lnTo>
                  <a:lnTo>
                    <a:pt x="29557" y="107061"/>
                  </a:lnTo>
                  <a:lnTo>
                    <a:pt x="29630" y="110255"/>
                  </a:lnTo>
                  <a:lnTo>
                    <a:pt x="29699" y="194486"/>
                  </a:lnTo>
                  <a:lnTo>
                    <a:pt x="29252" y="218170"/>
                  </a:lnTo>
                  <a:lnTo>
                    <a:pt x="29190" y="221440"/>
                  </a:lnTo>
                  <a:lnTo>
                    <a:pt x="29108" y="225805"/>
                  </a:lnTo>
                  <a:lnTo>
                    <a:pt x="28579" y="240458"/>
                  </a:lnTo>
                  <a:lnTo>
                    <a:pt x="28470" y="243459"/>
                  </a:lnTo>
                  <a:lnTo>
                    <a:pt x="28413" y="245040"/>
                  </a:lnTo>
                  <a:lnTo>
                    <a:pt x="28291" y="248408"/>
                  </a:lnTo>
                  <a:lnTo>
                    <a:pt x="28282" y="248665"/>
                  </a:lnTo>
                  <a:lnTo>
                    <a:pt x="28158" y="252095"/>
                  </a:lnTo>
                  <a:lnTo>
                    <a:pt x="28112" y="253365"/>
                  </a:lnTo>
                  <a:lnTo>
                    <a:pt x="28010" y="255650"/>
                  </a:lnTo>
                  <a:lnTo>
                    <a:pt x="26684" y="278002"/>
                  </a:lnTo>
                  <a:lnTo>
                    <a:pt x="26593" y="279526"/>
                  </a:lnTo>
                  <a:lnTo>
                    <a:pt x="35458" y="282956"/>
                  </a:lnTo>
                  <a:lnTo>
                    <a:pt x="43345" y="275463"/>
                  </a:lnTo>
                  <a:lnTo>
                    <a:pt x="48755" y="270510"/>
                  </a:lnTo>
                  <a:lnTo>
                    <a:pt x="51714" y="268350"/>
                  </a:lnTo>
                  <a:lnTo>
                    <a:pt x="140973" y="268350"/>
                  </a:lnTo>
                  <a:lnTo>
                    <a:pt x="142316" y="267335"/>
                  </a:lnTo>
                  <a:lnTo>
                    <a:pt x="147999" y="263142"/>
                  </a:lnTo>
                  <a:lnTo>
                    <a:pt x="154266" y="258746"/>
                  </a:lnTo>
                  <a:lnTo>
                    <a:pt x="156413" y="257301"/>
                  </a:lnTo>
                  <a:lnTo>
                    <a:pt x="106032" y="257301"/>
                  </a:lnTo>
                  <a:lnTo>
                    <a:pt x="98717" y="255650"/>
                  </a:lnTo>
                  <a:lnTo>
                    <a:pt x="92265" y="252095"/>
                  </a:lnTo>
                  <a:lnTo>
                    <a:pt x="85813" y="248665"/>
                  </a:lnTo>
                  <a:lnTo>
                    <a:pt x="80302" y="243459"/>
                  </a:lnTo>
                  <a:lnTo>
                    <a:pt x="75717" y="236727"/>
                  </a:lnTo>
                  <a:lnTo>
                    <a:pt x="75717" y="151257"/>
                  </a:lnTo>
                  <a:lnTo>
                    <a:pt x="81038" y="144779"/>
                  </a:lnTo>
                  <a:lnTo>
                    <a:pt x="86842" y="139826"/>
                  </a:lnTo>
                  <a:lnTo>
                    <a:pt x="99364" y="133223"/>
                  </a:lnTo>
                  <a:lnTo>
                    <a:pt x="105578" y="131699"/>
                  </a:lnTo>
                  <a:lnTo>
                    <a:pt x="75717" y="131699"/>
                  </a:lnTo>
                  <a:lnTo>
                    <a:pt x="76503" y="57705"/>
                  </a:lnTo>
                  <a:lnTo>
                    <a:pt x="76588" y="51562"/>
                  </a:lnTo>
                  <a:lnTo>
                    <a:pt x="76688" y="44323"/>
                  </a:lnTo>
                  <a:lnTo>
                    <a:pt x="76794" y="36669"/>
                  </a:lnTo>
                  <a:lnTo>
                    <a:pt x="77413" y="12265"/>
                  </a:lnTo>
                  <a:lnTo>
                    <a:pt x="77477" y="10017"/>
                  </a:lnTo>
                  <a:lnTo>
                    <a:pt x="77571" y="3810"/>
                  </a:lnTo>
                  <a:lnTo>
                    <a:pt x="76390" y="2286"/>
                  </a:lnTo>
                  <a:close/>
                </a:path>
                <a:path w="323215" h="365760">
                  <a:moveTo>
                    <a:pt x="140973" y="268350"/>
                  </a:moveTo>
                  <a:lnTo>
                    <a:pt x="51714" y="268350"/>
                  </a:lnTo>
                  <a:lnTo>
                    <a:pt x="58329" y="272208"/>
                  </a:lnTo>
                  <a:lnTo>
                    <a:pt x="64744" y="275463"/>
                  </a:lnTo>
                  <a:lnTo>
                    <a:pt x="70751" y="278002"/>
                  </a:lnTo>
                  <a:lnTo>
                    <a:pt x="76085" y="279781"/>
                  </a:lnTo>
                  <a:lnTo>
                    <a:pt x="83696" y="282066"/>
                  </a:lnTo>
                  <a:lnTo>
                    <a:pt x="84243" y="282066"/>
                  </a:lnTo>
                  <a:lnTo>
                    <a:pt x="91033" y="282956"/>
                  </a:lnTo>
                  <a:lnTo>
                    <a:pt x="107772" y="282956"/>
                  </a:lnTo>
                  <a:lnTo>
                    <a:pt x="114896" y="282066"/>
                  </a:lnTo>
                  <a:lnTo>
                    <a:pt x="126555" y="278002"/>
                  </a:lnTo>
                  <a:lnTo>
                    <a:pt x="133756" y="273812"/>
                  </a:lnTo>
                  <a:lnTo>
                    <a:pt x="140973" y="268350"/>
                  </a:lnTo>
                  <a:close/>
                </a:path>
                <a:path w="323215" h="365760">
                  <a:moveTo>
                    <a:pt x="137655" y="98044"/>
                  </a:moveTo>
                  <a:lnTo>
                    <a:pt x="129717" y="98044"/>
                  </a:lnTo>
                  <a:lnTo>
                    <a:pt x="122936" y="99060"/>
                  </a:lnTo>
                  <a:lnTo>
                    <a:pt x="117284" y="101091"/>
                  </a:lnTo>
                  <a:lnTo>
                    <a:pt x="111546" y="103060"/>
                  </a:lnTo>
                  <a:lnTo>
                    <a:pt x="105295" y="107061"/>
                  </a:lnTo>
                  <a:lnTo>
                    <a:pt x="98221" y="113029"/>
                  </a:lnTo>
                  <a:lnTo>
                    <a:pt x="75717" y="131699"/>
                  </a:lnTo>
                  <a:lnTo>
                    <a:pt x="114554" y="131699"/>
                  </a:lnTo>
                  <a:lnTo>
                    <a:pt x="122950" y="132546"/>
                  </a:lnTo>
                  <a:lnTo>
                    <a:pt x="155544" y="166401"/>
                  </a:lnTo>
                  <a:lnTo>
                    <a:pt x="158650" y="192516"/>
                  </a:lnTo>
                  <a:lnTo>
                    <a:pt x="158619" y="194486"/>
                  </a:lnTo>
                  <a:lnTo>
                    <a:pt x="151774" y="232475"/>
                  </a:lnTo>
                  <a:lnTo>
                    <a:pt x="114223" y="257301"/>
                  </a:lnTo>
                  <a:lnTo>
                    <a:pt x="156413" y="257301"/>
                  </a:lnTo>
                  <a:lnTo>
                    <a:pt x="161114" y="254136"/>
                  </a:lnTo>
                  <a:lnTo>
                    <a:pt x="168541" y="249300"/>
                  </a:lnTo>
                  <a:lnTo>
                    <a:pt x="174399" y="245040"/>
                  </a:lnTo>
                  <a:lnTo>
                    <a:pt x="198707" y="210893"/>
                  </a:lnTo>
                  <a:lnTo>
                    <a:pt x="206269" y="178855"/>
                  </a:lnTo>
                  <a:lnTo>
                    <a:pt x="206353" y="178155"/>
                  </a:lnTo>
                  <a:lnTo>
                    <a:pt x="206679" y="170179"/>
                  </a:lnTo>
                  <a:lnTo>
                    <a:pt x="205572" y="155805"/>
                  </a:lnTo>
                  <a:lnTo>
                    <a:pt x="205506" y="154939"/>
                  </a:lnTo>
                  <a:lnTo>
                    <a:pt x="187794" y="117983"/>
                  </a:lnTo>
                  <a:lnTo>
                    <a:pt x="152511" y="99302"/>
                  </a:lnTo>
                  <a:lnTo>
                    <a:pt x="137655" y="98044"/>
                  </a:lnTo>
                  <a:close/>
                </a:path>
                <a:path w="323215" h="365760">
                  <a:moveTo>
                    <a:pt x="240614" y="0"/>
                  </a:moveTo>
                  <a:lnTo>
                    <a:pt x="231114" y="11557"/>
                  </a:lnTo>
                  <a:lnTo>
                    <a:pt x="238946" y="22891"/>
                  </a:lnTo>
                  <a:lnTo>
                    <a:pt x="245697" y="33845"/>
                  </a:lnTo>
                  <a:lnTo>
                    <a:pt x="262956" y="76215"/>
                  </a:lnTo>
                  <a:lnTo>
                    <a:pt x="269398" y="115943"/>
                  </a:lnTo>
                  <a:lnTo>
                    <a:pt x="271256" y="156900"/>
                  </a:lnTo>
                  <a:lnTo>
                    <a:pt x="271487" y="182879"/>
                  </a:lnTo>
                  <a:lnTo>
                    <a:pt x="271310" y="202430"/>
                  </a:lnTo>
                  <a:lnTo>
                    <a:pt x="271256" y="208406"/>
                  </a:lnTo>
                  <a:lnTo>
                    <a:pt x="269398" y="249174"/>
                  </a:lnTo>
                  <a:lnTo>
                    <a:pt x="262956" y="289655"/>
                  </a:lnTo>
                  <a:lnTo>
                    <a:pt x="245697" y="331977"/>
                  </a:lnTo>
                  <a:lnTo>
                    <a:pt x="231114" y="354202"/>
                  </a:lnTo>
                  <a:lnTo>
                    <a:pt x="240614" y="365760"/>
                  </a:lnTo>
                  <a:lnTo>
                    <a:pt x="276990" y="328880"/>
                  </a:lnTo>
                  <a:lnTo>
                    <a:pt x="302277" y="287004"/>
                  </a:lnTo>
                  <a:lnTo>
                    <a:pt x="317789" y="238815"/>
                  </a:lnTo>
                  <a:lnTo>
                    <a:pt x="323024" y="182879"/>
                  </a:lnTo>
                  <a:lnTo>
                    <a:pt x="322443" y="163331"/>
                  </a:lnTo>
                  <a:lnTo>
                    <a:pt x="313715" y="110236"/>
                  </a:lnTo>
                  <a:lnTo>
                    <a:pt x="294954" y="64194"/>
                  </a:lnTo>
                  <a:lnTo>
                    <a:pt x="266141" y="24098"/>
                  </a:lnTo>
                  <a:lnTo>
                    <a:pt x="254015" y="11787"/>
                  </a:lnTo>
                  <a:lnTo>
                    <a:pt x="240614" y="0"/>
                  </a:lnTo>
                  <a:close/>
                </a:path>
              </a:pathLst>
            </a:custGeom>
            <a:solidFill>
              <a:srgbClr val="0000CC"/>
            </a:solidFill>
          </p:spPr>
          <p:txBody>
            <a:bodyPr wrap="square" lIns="0" tIns="0" rIns="0" bIns="0" rtlCol="0"/>
            <a:lstStyle/>
            <a:p>
              <a:endParaRPr/>
            </a:p>
          </p:txBody>
        </p:sp>
        <p:pic>
          <p:nvPicPr>
            <p:cNvPr id="18" name="object 18"/>
            <p:cNvPicPr/>
            <p:nvPr/>
          </p:nvPicPr>
          <p:blipFill>
            <a:blip r:embed="rId9" cstate="print"/>
            <a:stretch>
              <a:fillRect/>
            </a:stretch>
          </p:blipFill>
          <p:spPr>
            <a:xfrm>
              <a:off x="335279" y="1955038"/>
              <a:ext cx="92113" cy="134874"/>
            </a:xfrm>
            <a:prstGeom prst="rect">
              <a:avLst/>
            </a:prstGeom>
          </p:spPr>
        </p:pic>
        <p:sp>
          <p:nvSpPr>
            <p:cNvPr id="19" name="object 19"/>
            <p:cNvSpPr/>
            <p:nvPr/>
          </p:nvSpPr>
          <p:spPr>
            <a:xfrm>
              <a:off x="264134" y="1828038"/>
              <a:ext cx="323215" cy="365760"/>
            </a:xfrm>
            <a:custGeom>
              <a:avLst/>
              <a:gdLst/>
              <a:ahLst/>
              <a:cxnLst/>
              <a:rect l="l" t="t" r="r" b="b"/>
              <a:pathLst>
                <a:path w="323215" h="365760">
                  <a:moveTo>
                    <a:pt x="74040" y="2286"/>
                  </a:moveTo>
                  <a:lnTo>
                    <a:pt x="76390" y="2286"/>
                  </a:lnTo>
                  <a:lnTo>
                    <a:pt x="77571" y="3810"/>
                  </a:lnTo>
                  <a:lnTo>
                    <a:pt x="77571" y="6731"/>
                  </a:lnTo>
                  <a:lnTo>
                    <a:pt x="77012" y="26288"/>
                  </a:lnTo>
                  <a:lnTo>
                    <a:pt x="76794" y="36669"/>
                  </a:lnTo>
                  <a:lnTo>
                    <a:pt x="76503" y="57705"/>
                  </a:lnTo>
                  <a:lnTo>
                    <a:pt x="76143" y="89386"/>
                  </a:lnTo>
                  <a:lnTo>
                    <a:pt x="75717" y="131699"/>
                  </a:lnTo>
                  <a:lnTo>
                    <a:pt x="98221" y="113029"/>
                  </a:lnTo>
                  <a:lnTo>
                    <a:pt x="105295" y="107061"/>
                  </a:lnTo>
                  <a:lnTo>
                    <a:pt x="111645" y="102997"/>
                  </a:lnTo>
                  <a:lnTo>
                    <a:pt x="117284" y="101091"/>
                  </a:lnTo>
                  <a:lnTo>
                    <a:pt x="122936" y="99060"/>
                  </a:lnTo>
                  <a:lnTo>
                    <a:pt x="129717" y="98044"/>
                  </a:lnTo>
                  <a:lnTo>
                    <a:pt x="137655" y="98044"/>
                  </a:lnTo>
                  <a:lnTo>
                    <a:pt x="152511" y="99302"/>
                  </a:lnTo>
                  <a:lnTo>
                    <a:pt x="187794" y="117983"/>
                  </a:lnTo>
                  <a:lnTo>
                    <a:pt x="205498" y="154844"/>
                  </a:lnTo>
                  <a:lnTo>
                    <a:pt x="206679" y="170179"/>
                  </a:lnTo>
                  <a:lnTo>
                    <a:pt x="206353" y="178155"/>
                  </a:lnTo>
                  <a:lnTo>
                    <a:pt x="195632" y="218170"/>
                  </a:lnTo>
                  <a:lnTo>
                    <a:pt x="168541" y="249300"/>
                  </a:lnTo>
                  <a:lnTo>
                    <a:pt x="161114" y="254136"/>
                  </a:lnTo>
                  <a:lnTo>
                    <a:pt x="154266" y="258746"/>
                  </a:lnTo>
                  <a:lnTo>
                    <a:pt x="147999" y="263142"/>
                  </a:lnTo>
                  <a:lnTo>
                    <a:pt x="142316" y="267335"/>
                  </a:lnTo>
                  <a:lnTo>
                    <a:pt x="133756" y="273812"/>
                  </a:lnTo>
                  <a:lnTo>
                    <a:pt x="126555" y="278002"/>
                  </a:lnTo>
                  <a:lnTo>
                    <a:pt x="120726" y="280035"/>
                  </a:lnTo>
                  <a:lnTo>
                    <a:pt x="114896" y="282066"/>
                  </a:lnTo>
                  <a:lnTo>
                    <a:pt x="107772" y="282956"/>
                  </a:lnTo>
                  <a:lnTo>
                    <a:pt x="99339" y="282956"/>
                  </a:lnTo>
                  <a:lnTo>
                    <a:pt x="91033" y="282956"/>
                  </a:lnTo>
                  <a:lnTo>
                    <a:pt x="51714" y="268350"/>
                  </a:lnTo>
                  <a:lnTo>
                    <a:pt x="48755" y="270510"/>
                  </a:lnTo>
                  <a:lnTo>
                    <a:pt x="43345" y="275463"/>
                  </a:lnTo>
                  <a:lnTo>
                    <a:pt x="35458" y="282956"/>
                  </a:lnTo>
                  <a:lnTo>
                    <a:pt x="26593" y="279526"/>
                  </a:lnTo>
                  <a:lnTo>
                    <a:pt x="28060" y="254809"/>
                  </a:lnTo>
                  <a:lnTo>
                    <a:pt x="29108" y="225805"/>
                  </a:lnTo>
                  <a:lnTo>
                    <a:pt x="29737" y="192516"/>
                  </a:lnTo>
                  <a:lnTo>
                    <a:pt x="29946" y="154939"/>
                  </a:lnTo>
                  <a:lnTo>
                    <a:pt x="29911" y="137981"/>
                  </a:lnTo>
                  <a:lnTo>
                    <a:pt x="29805" y="123094"/>
                  </a:lnTo>
                  <a:lnTo>
                    <a:pt x="29630" y="110255"/>
                  </a:lnTo>
                  <a:lnTo>
                    <a:pt x="29387" y="99440"/>
                  </a:lnTo>
                  <a:lnTo>
                    <a:pt x="28282" y="51562"/>
                  </a:lnTo>
                  <a:lnTo>
                    <a:pt x="28282" y="44323"/>
                  </a:lnTo>
                  <a:lnTo>
                    <a:pt x="27673" y="39370"/>
                  </a:lnTo>
                  <a:lnTo>
                    <a:pt x="26441" y="37084"/>
                  </a:lnTo>
                  <a:lnTo>
                    <a:pt x="25565" y="35433"/>
                  </a:lnTo>
                  <a:lnTo>
                    <a:pt x="24028" y="34289"/>
                  </a:lnTo>
                  <a:lnTo>
                    <a:pt x="21805" y="33782"/>
                  </a:lnTo>
                  <a:lnTo>
                    <a:pt x="20205" y="33274"/>
                  </a:lnTo>
                  <a:lnTo>
                    <a:pt x="12941" y="32765"/>
                  </a:lnTo>
                  <a:lnTo>
                    <a:pt x="0" y="32258"/>
                  </a:lnTo>
                  <a:lnTo>
                    <a:pt x="0" y="18796"/>
                  </a:lnTo>
                  <a:lnTo>
                    <a:pt x="42913" y="12265"/>
                  </a:lnTo>
                  <a:lnTo>
                    <a:pt x="65874" y="5461"/>
                  </a:lnTo>
                  <a:lnTo>
                    <a:pt x="74040" y="2286"/>
                  </a:lnTo>
                  <a:close/>
                </a:path>
                <a:path w="323215" h="365760">
                  <a:moveTo>
                    <a:pt x="240614" y="0"/>
                  </a:moveTo>
                  <a:lnTo>
                    <a:pt x="276990" y="36933"/>
                  </a:lnTo>
                  <a:lnTo>
                    <a:pt x="302277" y="78835"/>
                  </a:lnTo>
                  <a:lnTo>
                    <a:pt x="317789" y="126998"/>
                  </a:lnTo>
                  <a:lnTo>
                    <a:pt x="323024" y="182879"/>
                  </a:lnTo>
                  <a:lnTo>
                    <a:pt x="322443" y="202430"/>
                  </a:lnTo>
                  <a:lnTo>
                    <a:pt x="313715" y="255650"/>
                  </a:lnTo>
                  <a:lnTo>
                    <a:pt x="294954" y="301638"/>
                  </a:lnTo>
                  <a:lnTo>
                    <a:pt x="266141" y="341677"/>
                  </a:lnTo>
                  <a:lnTo>
                    <a:pt x="240614" y="365760"/>
                  </a:lnTo>
                  <a:lnTo>
                    <a:pt x="231114" y="354202"/>
                  </a:lnTo>
                  <a:lnTo>
                    <a:pt x="238946" y="342888"/>
                  </a:lnTo>
                  <a:lnTo>
                    <a:pt x="245697" y="331977"/>
                  </a:lnTo>
                  <a:lnTo>
                    <a:pt x="262956" y="289655"/>
                  </a:lnTo>
                  <a:lnTo>
                    <a:pt x="269398" y="249174"/>
                  </a:lnTo>
                  <a:lnTo>
                    <a:pt x="271256" y="208406"/>
                  </a:lnTo>
                  <a:lnTo>
                    <a:pt x="271487" y="182879"/>
                  </a:lnTo>
                  <a:lnTo>
                    <a:pt x="271256" y="156900"/>
                  </a:lnTo>
                  <a:lnTo>
                    <a:pt x="269398" y="115943"/>
                  </a:lnTo>
                  <a:lnTo>
                    <a:pt x="262956" y="76215"/>
                  </a:lnTo>
                  <a:lnTo>
                    <a:pt x="245697" y="33845"/>
                  </a:lnTo>
                  <a:lnTo>
                    <a:pt x="231114" y="11557"/>
                  </a:lnTo>
                  <a:lnTo>
                    <a:pt x="240614" y="0"/>
                  </a:lnTo>
                  <a:close/>
                </a:path>
              </a:pathLst>
            </a:custGeom>
            <a:ln w="9144">
              <a:solidFill>
                <a:srgbClr val="000000"/>
              </a:solidFill>
            </a:ln>
          </p:spPr>
          <p:txBody>
            <a:bodyPr wrap="square" lIns="0" tIns="0" rIns="0" bIns="0" rtlCol="0"/>
            <a:lstStyle/>
            <a:p>
              <a:endParaRPr/>
            </a:p>
          </p:txBody>
        </p:sp>
      </p:grpSp>
      <p:sp>
        <p:nvSpPr>
          <p:cNvPr id="20" name="object 20"/>
          <p:cNvSpPr txBox="1">
            <a:spLocks noGrp="1"/>
          </p:cNvSpPr>
          <p:nvPr>
            <p:ph type="title"/>
          </p:nvPr>
        </p:nvSpPr>
        <p:spPr>
          <a:xfrm>
            <a:off x="242112" y="-100317"/>
            <a:ext cx="8435975" cy="2290445"/>
          </a:xfrm>
          <a:prstGeom prst="rect">
            <a:avLst/>
          </a:prstGeom>
        </p:spPr>
        <p:txBody>
          <a:bodyPr vert="horz" wrap="square" lIns="0" tIns="12065" rIns="0" bIns="0" rtlCol="0">
            <a:spAutoFit/>
          </a:bodyPr>
          <a:lstStyle/>
          <a:p>
            <a:pPr marL="12700" marR="5080" indent="474980">
              <a:lnSpc>
                <a:spcPct val="117000"/>
              </a:lnSpc>
              <a:spcBef>
                <a:spcPts val="95"/>
              </a:spcBef>
            </a:pPr>
            <a:r>
              <a:rPr dirty="0">
                <a:solidFill>
                  <a:srgbClr val="000099"/>
                </a:solidFill>
                <a:latin typeface="Palatino Linotype" panose="02040502050505030304"/>
                <a:cs typeface="Palatino Linotype" panose="02040502050505030304"/>
              </a:rPr>
              <a:t>After</a:t>
            </a:r>
            <a:r>
              <a:rPr spc="-35" dirty="0">
                <a:solidFill>
                  <a:srgbClr val="000099"/>
                </a:solidFill>
                <a:latin typeface="Palatino Linotype" panose="02040502050505030304"/>
                <a:cs typeface="Palatino Linotype" panose="02040502050505030304"/>
              </a:rPr>
              <a:t> </a:t>
            </a:r>
            <a:r>
              <a:rPr dirty="0">
                <a:solidFill>
                  <a:srgbClr val="000099"/>
                </a:solidFill>
                <a:latin typeface="Palatino Linotype" panose="02040502050505030304"/>
                <a:cs typeface="Palatino Linotype" panose="02040502050505030304"/>
              </a:rPr>
              <a:t>the</a:t>
            </a:r>
            <a:r>
              <a:rPr spc="-25" dirty="0">
                <a:solidFill>
                  <a:srgbClr val="000099"/>
                </a:solidFill>
                <a:latin typeface="Palatino Linotype" panose="02040502050505030304"/>
                <a:cs typeface="Palatino Linotype" panose="02040502050505030304"/>
              </a:rPr>
              <a:t> </a:t>
            </a:r>
            <a:r>
              <a:rPr spc="-10" dirty="0">
                <a:solidFill>
                  <a:srgbClr val="000099"/>
                </a:solidFill>
                <a:latin typeface="Palatino Linotype" panose="02040502050505030304"/>
                <a:cs typeface="Palatino Linotype" panose="02040502050505030304"/>
              </a:rPr>
              <a:t>administration</a:t>
            </a:r>
            <a:r>
              <a:rPr sz="2400" spc="-10" dirty="0">
                <a:solidFill>
                  <a:srgbClr val="000099"/>
                </a:solidFill>
                <a:latin typeface="Palatino Linotype" panose="02040502050505030304"/>
                <a:cs typeface="Palatino Linotype" panose="02040502050505030304"/>
              </a:rPr>
              <a:t>, </a:t>
            </a:r>
            <a:r>
              <a:rPr b="0" dirty="0">
                <a:solidFill>
                  <a:srgbClr val="000000"/>
                </a:solidFill>
                <a:latin typeface="Times New Roman" panose="02020603050405020304"/>
                <a:cs typeface="Times New Roman" panose="02020603050405020304"/>
              </a:rPr>
              <a:t>the</a:t>
            </a:r>
            <a:r>
              <a:rPr b="0" spc="-4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nurse</a:t>
            </a:r>
            <a:r>
              <a:rPr b="0" spc="-4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is</a:t>
            </a:r>
            <a:r>
              <a:rPr b="0" spc="-40"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responsible</a:t>
            </a:r>
            <a:r>
              <a:rPr b="0" spc="-70" dirty="0">
                <a:solidFill>
                  <a:srgbClr val="000000"/>
                </a:solidFill>
                <a:latin typeface="Times New Roman" panose="02020603050405020304"/>
                <a:cs typeface="Times New Roman" panose="02020603050405020304"/>
              </a:rPr>
              <a:t> </a:t>
            </a:r>
            <a:r>
              <a:rPr b="0" spc="-25" dirty="0">
                <a:solidFill>
                  <a:srgbClr val="000000"/>
                </a:solidFill>
                <a:latin typeface="Times New Roman" panose="02020603050405020304"/>
                <a:cs typeface="Times New Roman" panose="02020603050405020304"/>
              </a:rPr>
              <a:t>for </a:t>
            </a:r>
            <a:r>
              <a:rPr b="0" dirty="0">
                <a:solidFill>
                  <a:srgbClr val="000000"/>
                </a:solidFill>
                <a:latin typeface="Times New Roman" panose="02020603050405020304"/>
                <a:cs typeface="Times New Roman" panose="02020603050405020304"/>
              </a:rPr>
              <a:t>the</a:t>
            </a:r>
            <a:r>
              <a:rPr b="0" spc="-5" dirty="0">
                <a:solidFill>
                  <a:srgbClr val="000000"/>
                </a:solidFill>
                <a:latin typeface="Times New Roman" panose="02020603050405020304"/>
                <a:cs typeface="Times New Roman" panose="02020603050405020304"/>
              </a:rPr>
              <a:t> </a:t>
            </a:r>
            <a:r>
              <a:rPr b="0" spc="-10" dirty="0">
                <a:solidFill>
                  <a:srgbClr val="000000"/>
                </a:solidFill>
                <a:latin typeface="Times New Roman" panose="02020603050405020304"/>
                <a:cs typeface="Times New Roman" panose="02020603050405020304"/>
              </a:rPr>
              <a:t>following:</a:t>
            </a:r>
            <a:endParaRPr sz="2400">
              <a:latin typeface="Times New Roman" panose="02020603050405020304"/>
              <a:cs typeface="Times New Roman" panose="02020603050405020304"/>
            </a:endParaRPr>
          </a:p>
          <a:p>
            <a:pPr marL="467995" marR="956945" indent="-43180">
              <a:lnSpc>
                <a:spcPts val="5040"/>
              </a:lnSpc>
              <a:spcBef>
                <a:spcPts val="130"/>
              </a:spcBef>
            </a:pPr>
            <a:r>
              <a:rPr b="0" dirty="0">
                <a:solidFill>
                  <a:srgbClr val="000000"/>
                </a:solidFill>
                <a:latin typeface="Times New Roman" panose="02020603050405020304"/>
                <a:cs typeface="Times New Roman" panose="02020603050405020304"/>
              </a:rPr>
              <a:t>Recording</a:t>
            </a:r>
            <a:r>
              <a:rPr b="0" spc="-40"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the</a:t>
            </a:r>
            <a:r>
              <a:rPr b="0" spc="-50"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administration</a:t>
            </a:r>
            <a:r>
              <a:rPr b="0" spc="-6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of</a:t>
            </a:r>
            <a:r>
              <a:rPr b="0" spc="-3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the</a:t>
            </a:r>
            <a:r>
              <a:rPr b="0" spc="-20" dirty="0">
                <a:solidFill>
                  <a:srgbClr val="000000"/>
                </a:solidFill>
                <a:latin typeface="Times New Roman" panose="02020603050405020304"/>
                <a:cs typeface="Times New Roman" panose="02020603050405020304"/>
              </a:rPr>
              <a:t> </a:t>
            </a:r>
            <a:r>
              <a:rPr b="0" spc="-10" dirty="0">
                <a:solidFill>
                  <a:srgbClr val="000000"/>
                </a:solidFill>
                <a:latin typeface="Times New Roman" panose="02020603050405020304"/>
                <a:cs typeface="Times New Roman" panose="02020603050405020304"/>
              </a:rPr>
              <a:t>drugs </a:t>
            </a:r>
            <a:r>
              <a:rPr b="0" dirty="0">
                <a:solidFill>
                  <a:srgbClr val="000000"/>
                </a:solidFill>
                <a:latin typeface="Times New Roman" panose="02020603050405020304"/>
                <a:cs typeface="Times New Roman" panose="02020603050405020304"/>
              </a:rPr>
              <a:t>Observing,</a:t>
            </a:r>
            <a:r>
              <a:rPr b="0" spc="-5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evaluating</a:t>
            </a:r>
            <a:r>
              <a:rPr b="0" spc="-7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and</a:t>
            </a:r>
            <a:r>
              <a:rPr b="0" spc="-5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recording</a:t>
            </a:r>
            <a:r>
              <a:rPr b="0" spc="-55" dirty="0">
                <a:solidFill>
                  <a:srgbClr val="000000"/>
                </a:solidFill>
                <a:latin typeface="Times New Roman" panose="02020603050405020304"/>
                <a:cs typeface="Times New Roman" panose="02020603050405020304"/>
              </a:rPr>
              <a:t> </a:t>
            </a:r>
            <a:r>
              <a:rPr b="0" dirty="0">
                <a:solidFill>
                  <a:srgbClr val="000000"/>
                </a:solidFill>
                <a:latin typeface="Times New Roman" panose="02020603050405020304"/>
                <a:cs typeface="Times New Roman" panose="02020603050405020304"/>
              </a:rPr>
              <a:t>the</a:t>
            </a:r>
            <a:r>
              <a:rPr b="0" spc="-75" dirty="0">
                <a:solidFill>
                  <a:srgbClr val="000000"/>
                </a:solidFill>
                <a:latin typeface="Times New Roman" panose="02020603050405020304"/>
                <a:cs typeface="Times New Roman" panose="02020603050405020304"/>
              </a:rPr>
              <a:t> </a:t>
            </a:r>
            <a:r>
              <a:rPr b="0" spc="-10" dirty="0">
                <a:solidFill>
                  <a:srgbClr val="000000"/>
                </a:solidFill>
                <a:latin typeface="Times New Roman" panose="02020603050405020304"/>
                <a:cs typeface="Times New Roman" panose="02020603050405020304"/>
              </a:rPr>
              <a:t>patient’s</a:t>
            </a:r>
          </a:p>
        </p:txBody>
      </p:sp>
      <p:sp>
        <p:nvSpPr>
          <p:cNvPr id="21" name="object 21"/>
          <p:cNvSpPr txBox="1"/>
          <p:nvPr/>
        </p:nvSpPr>
        <p:spPr>
          <a:xfrm>
            <a:off x="635" y="2129155"/>
            <a:ext cx="9024620" cy="4237355"/>
          </a:xfrm>
          <a:prstGeom prst="rect">
            <a:avLst/>
          </a:prstGeom>
        </p:spPr>
        <p:txBody>
          <a:bodyPr vert="horz" wrap="square" lIns="0" tIns="142240" rIns="0" bIns="0" rtlCol="0">
            <a:spAutoFit/>
          </a:bodyPr>
          <a:lstStyle/>
          <a:p>
            <a:pPr marL="355600">
              <a:lnSpc>
                <a:spcPct val="100000"/>
              </a:lnSpc>
              <a:spcBef>
                <a:spcPts val="1120"/>
              </a:spcBef>
            </a:pPr>
            <a:r>
              <a:rPr sz="2800" dirty="0">
                <a:latin typeface="Times New Roman" panose="02020603050405020304"/>
                <a:cs typeface="Times New Roman" panose="02020603050405020304"/>
              </a:rPr>
              <a:t>response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intervene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if</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required.</a:t>
            </a:r>
            <a:endParaRPr sz="2800">
              <a:latin typeface="Times New Roman" panose="02020603050405020304"/>
              <a:cs typeface="Times New Roman" panose="02020603050405020304"/>
            </a:endParaRPr>
          </a:p>
          <a:p>
            <a:pPr marL="355600" marR="74930" indent="-342900">
              <a:lnSpc>
                <a:spcPct val="100000"/>
              </a:lnSpc>
              <a:spcBef>
                <a:spcPts val="1020"/>
              </a:spcBef>
              <a:tabLst>
                <a:tab pos="354965" algn="l"/>
              </a:tabLst>
            </a:pPr>
            <a:r>
              <a:rPr sz="2800" spc="-50" dirty="0">
                <a:latin typeface="Times New Roman" panose="02020603050405020304"/>
                <a:cs typeface="Times New Roman" panose="02020603050405020304"/>
              </a:rPr>
              <a:t>−</a:t>
            </a:r>
            <a:r>
              <a:rPr sz="2800" dirty="0">
                <a:latin typeface="Times New Roman" panose="02020603050405020304"/>
                <a:cs typeface="Times New Roman" panose="02020603050405020304"/>
              </a:rPr>
              <a:t>	Evaluating</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recording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therapeutic</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or</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desired</a:t>
            </a:r>
            <a:r>
              <a:rPr sz="2800" spc="-4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response </a:t>
            </a:r>
            <a:r>
              <a:rPr sz="2800" dirty="0">
                <a:latin typeface="Times New Roman" panose="02020603050405020304"/>
                <a:cs typeface="Times New Roman" panose="02020603050405020304"/>
              </a:rPr>
              <a:t>(when</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applicable),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such</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relief</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pain,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decrease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3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body </a:t>
            </a:r>
            <a:r>
              <a:rPr sz="2800" dirty="0">
                <a:latin typeface="Times New Roman" panose="02020603050405020304"/>
                <a:cs typeface="Times New Roman" panose="02020603050405020304"/>
              </a:rPr>
              <a:t>temperature,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relief</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itching,</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decrease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number</a:t>
            </a:r>
            <a:r>
              <a:rPr sz="2800" spc="-1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of </a:t>
            </a:r>
            <a:r>
              <a:rPr sz="2800" dirty="0">
                <a:latin typeface="Times New Roman" panose="02020603050405020304"/>
                <a:cs typeface="Times New Roman" panose="02020603050405020304"/>
              </a:rPr>
              <a:t>stools</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passed……etc.</a:t>
            </a:r>
            <a:endParaRPr sz="2800">
              <a:latin typeface="Times New Roman" panose="02020603050405020304"/>
              <a:cs typeface="Times New Roman" panose="02020603050405020304"/>
            </a:endParaRPr>
          </a:p>
          <a:p>
            <a:pPr marL="355600" marR="5080" indent="-342900">
              <a:lnSpc>
                <a:spcPct val="100000"/>
              </a:lnSpc>
              <a:spcBef>
                <a:spcPts val="675"/>
              </a:spcBef>
              <a:tabLst>
                <a:tab pos="354965" algn="l"/>
              </a:tabLst>
            </a:pPr>
            <a:r>
              <a:rPr sz="2800" spc="-50" dirty="0">
                <a:latin typeface="Times New Roman" panose="02020603050405020304"/>
                <a:cs typeface="Times New Roman" panose="02020603050405020304"/>
              </a:rPr>
              <a:t>−</a:t>
            </a:r>
            <a:r>
              <a:rPr sz="2800" dirty="0">
                <a:latin typeface="Times New Roman" panose="02020603050405020304"/>
                <a:cs typeface="Times New Roman" panose="02020603050405020304"/>
              </a:rPr>
              <a:t>	Observing,</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recording</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reporting</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adverse</a:t>
            </a:r>
            <a:r>
              <a:rPr sz="2800" spc="-8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reactions</a:t>
            </a:r>
            <a:r>
              <a:rPr sz="2800" spc="-7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and </a:t>
            </a:r>
            <a:r>
              <a:rPr sz="2800" dirty="0">
                <a:latin typeface="Times New Roman" panose="02020603050405020304"/>
                <a:cs typeface="Times New Roman" panose="02020603050405020304"/>
              </a:rPr>
              <a:t>intervene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if</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required.</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frequency</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these</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observations </a:t>
            </a:r>
            <a:r>
              <a:rPr sz="2800" dirty="0">
                <a:latin typeface="Times New Roman" panose="02020603050405020304"/>
                <a:cs typeface="Times New Roman" panose="02020603050405020304"/>
              </a:rPr>
              <a:t>will</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depend</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on</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administered.</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must</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record </a:t>
            </a:r>
            <a:r>
              <a:rPr sz="2800" dirty="0">
                <a:latin typeface="Times New Roman" panose="02020603050405020304"/>
                <a:cs typeface="Times New Roman" panose="02020603050405020304"/>
              </a:rPr>
              <a:t>all</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suspected</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adverse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reactions</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must</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immediately</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report</a:t>
            </a:r>
            <a:endParaRPr sz="2800">
              <a:latin typeface="Times New Roman" panose="02020603050405020304"/>
              <a:cs typeface="Times New Roman" panose="02020603050405020304"/>
            </a:endParaRPr>
          </a:p>
        </p:txBody>
      </p:sp>
      <p:sp>
        <p:nvSpPr>
          <p:cNvPr id="22" name="object 22"/>
          <p:cNvSpPr txBox="1"/>
          <p:nvPr/>
        </p:nvSpPr>
        <p:spPr>
          <a:xfrm>
            <a:off x="242112" y="6308242"/>
            <a:ext cx="771969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serious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adverse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reactions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primary</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care</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provider.</a:t>
            </a:r>
            <a:endParaRPr sz="2800">
              <a:latin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844" y="496551"/>
            <a:ext cx="62844" cy="68171"/>
          </a:xfrm>
          <a:prstGeom prst="rect">
            <a:avLst/>
          </a:prstGeom>
        </p:spPr>
      </p:pic>
      <p:grpSp>
        <p:nvGrpSpPr>
          <p:cNvPr id="3" name="object 3"/>
          <p:cNvGrpSpPr/>
          <p:nvPr/>
        </p:nvGrpSpPr>
        <p:grpSpPr>
          <a:xfrm>
            <a:off x="352043" y="451104"/>
            <a:ext cx="662940" cy="370840"/>
            <a:chOff x="352043" y="451104"/>
            <a:chExt cx="662940" cy="370840"/>
          </a:xfrm>
        </p:grpSpPr>
        <p:pic>
          <p:nvPicPr>
            <p:cNvPr id="4" name="object 4"/>
            <p:cNvPicPr/>
            <p:nvPr/>
          </p:nvPicPr>
          <p:blipFill>
            <a:blip r:embed="rId3" cstate="print"/>
            <a:stretch>
              <a:fillRect/>
            </a:stretch>
          </p:blipFill>
          <p:spPr>
            <a:xfrm>
              <a:off x="394715" y="455676"/>
              <a:ext cx="187451" cy="173736"/>
            </a:xfrm>
            <a:prstGeom prst="rect">
              <a:avLst/>
            </a:prstGeom>
          </p:spPr>
        </p:pic>
        <p:pic>
          <p:nvPicPr>
            <p:cNvPr id="5" name="object 5"/>
            <p:cNvPicPr/>
            <p:nvPr/>
          </p:nvPicPr>
          <p:blipFill>
            <a:blip r:embed="rId4" cstate="print"/>
            <a:stretch>
              <a:fillRect/>
            </a:stretch>
          </p:blipFill>
          <p:spPr>
            <a:xfrm>
              <a:off x="352043" y="451104"/>
              <a:ext cx="662940" cy="370332"/>
            </a:xfrm>
            <a:prstGeom prst="rect">
              <a:avLst/>
            </a:prstGeom>
          </p:spPr>
        </p:pic>
      </p:grpSp>
      <p:pic>
        <p:nvPicPr>
          <p:cNvPr id="6" name="object 6"/>
          <p:cNvPicPr/>
          <p:nvPr/>
        </p:nvPicPr>
        <p:blipFill>
          <a:blip r:embed="rId5" cstate="print"/>
          <a:stretch>
            <a:fillRect/>
          </a:stretch>
        </p:blipFill>
        <p:spPr>
          <a:xfrm>
            <a:off x="6485938" y="455676"/>
            <a:ext cx="1224256" cy="173736"/>
          </a:xfrm>
          <a:prstGeom prst="rect">
            <a:avLst/>
          </a:prstGeom>
        </p:spPr>
      </p:pic>
      <p:pic>
        <p:nvPicPr>
          <p:cNvPr id="7" name="object 7"/>
          <p:cNvPicPr/>
          <p:nvPr/>
        </p:nvPicPr>
        <p:blipFill>
          <a:blip r:embed="rId6" cstate="print"/>
          <a:stretch>
            <a:fillRect/>
          </a:stretch>
        </p:blipFill>
        <p:spPr>
          <a:xfrm>
            <a:off x="403675" y="1004316"/>
            <a:ext cx="1512177" cy="173736"/>
          </a:xfrm>
          <a:prstGeom prst="rect">
            <a:avLst/>
          </a:prstGeom>
        </p:spPr>
      </p:pic>
      <p:grpSp>
        <p:nvGrpSpPr>
          <p:cNvPr id="8" name="object 8"/>
          <p:cNvGrpSpPr/>
          <p:nvPr/>
        </p:nvGrpSpPr>
        <p:grpSpPr>
          <a:xfrm>
            <a:off x="61144" y="356488"/>
            <a:ext cx="59690" cy="59690"/>
            <a:chOff x="61144" y="356488"/>
            <a:chExt cx="59690" cy="59690"/>
          </a:xfrm>
        </p:grpSpPr>
        <p:sp>
          <p:nvSpPr>
            <p:cNvPr id="9" name="object 9"/>
            <p:cNvSpPr/>
            <p:nvPr/>
          </p:nvSpPr>
          <p:spPr>
            <a:xfrm>
              <a:off x="65716" y="361060"/>
              <a:ext cx="50800" cy="50165"/>
            </a:xfrm>
            <a:custGeom>
              <a:avLst/>
              <a:gdLst/>
              <a:ahLst/>
              <a:cxnLst/>
              <a:rect l="l" t="t" r="r" b="b"/>
              <a:pathLst>
                <a:path w="50800" h="50165">
                  <a:moveTo>
                    <a:pt x="31967" y="0"/>
                  </a:moveTo>
                  <a:lnTo>
                    <a:pt x="25039" y="0"/>
                  </a:lnTo>
                  <a:lnTo>
                    <a:pt x="18177" y="0"/>
                  </a:lnTo>
                  <a:lnTo>
                    <a:pt x="12288" y="2539"/>
                  </a:lnTo>
                  <a:lnTo>
                    <a:pt x="2457" y="12191"/>
                  </a:lnTo>
                  <a:lnTo>
                    <a:pt x="0" y="18161"/>
                  </a:lnTo>
                  <a:lnTo>
                    <a:pt x="0" y="32003"/>
                  </a:lnTo>
                  <a:lnTo>
                    <a:pt x="2457" y="37973"/>
                  </a:lnTo>
                  <a:lnTo>
                    <a:pt x="12288" y="47751"/>
                  </a:lnTo>
                  <a:lnTo>
                    <a:pt x="18177" y="50164"/>
                  </a:lnTo>
                  <a:lnTo>
                    <a:pt x="31967" y="50164"/>
                  </a:lnTo>
                  <a:lnTo>
                    <a:pt x="37889" y="47751"/>
                  </a:lnTo>
                  <a:lnTo>
                    <a:pt x="47720" y="37973"/>
                  </a:lnTo>
                  <a:lnTo>
                    <a:pt x="50177" y="32003"/>
                  </a:lnTo>
                  <a:lnTo>
                    <a:pt x="50177" y="18161"/>
                  </a:lnTo>
                  <a:lnTo>
                    <a:pt x="47720" y="12191"/>
                  </a:lnTo>
                  <a:lnTo>
                    <a:pt x="37889" y="2539"/>
                  </a:lnTo>
                  <a:lnTo>
                    <a:pt x="31967" y="0"/>
                  </a:lnTo>
                  <a:close/>
                </a:path>
              </a:pathLst>
            </a:custGeom>
            <a:solidFill>
              <a:srgbClr val="FF0066"/>
            </a:solidFill>
          </p:spPr>
          <p:txBody>
            <a:bodyPr wrap="square" lIns="0" tIns="0" rIns="0" bIns="0" rtlCol="0"/>
            <a:lstStyle/>
            <a:p>
              <a:endParaRPr/>
            </a:p>
          </p:txBody>
        </p:sp>
        <p:sp>
          <p:nvSpPr>
            <p:cNvPr id="10" name="object 10"/>
            <p:cNvSpPr/>
            <p:nvPr/>
          </p:nvSpPr>
          <p:spPr>
            <a:xfrm>
              <a:off x="65716" y="361060"/>
              <a:ext cx="50800" cy="50165"/>
            </a:xfrm>
            <a:custGeom>
              <a:avLst/>
              <a:gdLst/>
              <a:ahLst/>
              <a:cxnLst/>
              <a:rect l="l" t="t" r="r" b="b"/>
              <a:pathLst>
                <a:path w="50800" h="50165">
                  <a:moveTo>
                    <a:pt x="25039" y="0"/>
                  </a:moveTo>
                  <a:lnTo>
                    <a:pt x="31967" y="0"/>
                  </a:lnTo>
                  <a:lnTo>
                    <a:pt x="37889" y="2539"/>
                  </a:lnTo>
                  <a:lnTo>
                    <a:pt x="42804" y="7365"/>
                  </a:lnTo>
                  <a:lnTo>
                    <a:pt x="47720" y="12191"/>
                  </a:lnTo>
                  <a:lnTo>
                    <a:pt x="50177" y="18161"/>
                  </a:lnTo>
                  <a:lnTo>
                    <a:pt x="50177" y="25018"/>
                  </a:lnTo>
                  <a:lnTo>
                    <a:pt x="50177" y="32003"/>
                  </a:lnTo>
                  <a:lnTo>
                    <a:pt x="47720" y="37973"/>
                  </a:lnTo>
                  <a:lnTo>
                    <a:pt x="42804" y="42799"/>
                  </a:lnTo>
                  <a:lnTo>
                    <a:pt x="37889" y="47751"/>
                  </a:lnTo>
                  <a:lnTo>
                    <a:pt x="31967" y="50164"/>
                  </a:lnTo>
                  <a:lnTo>
                    <a:pt x="25039" y="50164"/>
                  </a:lnTo>
                  <a:lnTo>
                    <a:pt x="18177" y="50164"/>
                  </a:lnTo>
                  <a:lnTo>
                    <a:pt x="12288" y="47751"/>
                  </a:lnTo>
                  <a:lnTo>
                    <a:pt x="7372" y="42799"/>
                  </a:lnTo>
                  <a:lnTo>
                    <a:pt x="2457" y="37973"/>
                  </a:lnTo>
                  <a:lnTo>
                    <a:pt x="0" y="32003"/>
                  </a:lnTo>
                  <a:lnTo>
                    <a:pt x="0" y="25018"/>
                  </a:lnTo>
                  <a:lnTo>
                    <a:pt x="0" y="18161"/>
                  </a:lnTo>
                  <a:lnTo>
                    <a:pt x="2457" y="12191"/>
                  </a:lnTo>
                  <a:lnTo>
                    <a:pt x="7372" y="7365"/>
                  </a:lnTo>
                  <a:lnTo>
                    <a:pt x="12288" y="2539"/>
                  </a:lnTo>
                  <a:lnTo>
                    <a:pt x="18177" y="0"/>
                  </a:lnTo>
                  <a:lnTo>
                    <a:pt x="25039" y="0"/>
                  </a:lnTo>
                  <a:close/>
                </a:path>
              </a:pathLst>
            </a:custGeom>
            <a:ln w="9143">
              <a:solidFill>
                <a:srgbClr val="000000"/>
              </a:solidFill>
            </a:ln>
          </p:spPr>
          <p:txBody>
            <a:bodyPr wrap="square" lIns="0" tIns="0" rIns="0" bIns="0" rtlCol="0"/>
            <a:lstStyle/>
            <a:p>
              <a:endParaRPr/>
            </a:p>
          </p:txBody>
        </p:sp>
      </p:grpSp>
      <p:grpSp>
        <p:nvGrpSpPr>
          <p:cNvPr id="11" name="object 11"/>
          <p:cNvGrpSpPr/>
          <p:nvPr/>
        </p:nvGrpSpPr>
        <p:grpSpPr>
          <a:xfrm>
            <a:off x="399021" y="192023"/>
            <a:ext cx="271780" cy="274955"/>
            <a:chOff x="399021" y="192023"/>
            <a:chExt cx="271780" cy="274955"/>
          </a:xfrm>
        </p:grpSpPr>
        <p:sp>
          <p:nvSpPr>
            <p:cNvPr id="12" name="object 12"/>
            <p:cNvSpPr/>
            <p:nvPr/>
          </p:nvSpPr>
          <p:spPr>
            <a:xfrm>
              <a:off x="403593" y="196595"/>
              <a:ext cx="168910" cy="266065"/>
            </a:xfrm>
            <a:custGeom>
              <a:avLst/>
              <a:gdLst/>
              <a:ahLst/>
              <a:cxnLst/>
              <a:rect l="l" t="t" r="r" b="b"/>
              <a:pathLst>
                <a:path w="168909" h="266065">
                  <a:moveTo>
                    <a:pt x="158508" y="126"/>
                  </a:moveTo>
                  <a:lnTo>
                    <a:pt x="144868" y="1033"/>
                  </a:lnTo>
                  <a:lnTo>
                    <a:pt x="130368" y="1666"/>
                  </a:lnTo>
                  <a:lnTo>
                    <a:pt x="115006" y="2037"/>
                  </a:lnTo>
                  <a:lnTo>
                    <a:pt x="98780" y="2158"/>
                  </a:lnTo>
                  <a:lnTo>
                    <a:pt x="80980" y="2018"/>
                  </a:lnTo>
                  <a:lnTo>
                    <a:pt x="62366" y="1603"/>
                  </a:lnTo>
                  <a:lnTo>
                    <a:pt x="22694" y="0"/>
                  </a:lnTo>
                  <a:lnTo>
                    <a:pt x="20091" y="2158"/>
                  </a:lnTo>
                  <a:lnTo>
                    <a:pt x="21474" y="17309"/>
                  </a:lnTo>
                  <a:lnTo>
                    <a:pt x="22463" y="33448"/>
                  </a:lnTo>
                  <a:lnTo>
                    <a:pt x="23056" y="50611"/>
                  </a:lnTo>
                  <a:lnTo>
                    <a:pt x="23253" y="68833"/>
                  </a:lnTo>
                  <a:lnTo>
                    <a:pt x="23032" y="84762"/>
                  </a:lnTo>
                  <a:lnTo>
                    <a:pt x="22369" y="102822"/>
                  </a:lnTo>
                  <a:lnTo>
                    <a:pt x="21265" y="123001"/>
                  </a:lnTo>
                  <a:lnTo>
                    <a:pt x="19723" y="145287"/>
                  </a:lnTo>
                  <a:lnTo>
                    <a:pt x="27343" y="149478"/>
                  </a:lnTo>
                  <a:lnTo>
                    <a:pt x="63309" y="133350"/>
                  </a:lnTo>
                  <a:lnTo>
                    <a:pt x="70878" y="133350"/>
                  </a:lnTo>
                  <a:lnTo>
                    <a:pt x="108648" y="148081"/>
                  </a:lnTo>
                  <a:lnTo>
                    <a:pt x="122593" y="188594"/>
                  </a:lnTo>
                  <a:lnTo>
                    <a:pt x="121757" y="200691"/>
                  </a:lnTo>
                  <a:lnTo>
                    <a:pt x="101987" y="235481"/>
                  </a:lnTo>
                  <a:lnTo>
                    <a:pt x="74041" y="243839"/>
                  </a:lnTo>
                  <a:lnTo>
                    <a:pt x="65021" y="243264"/>
                  </a:lnTo>
                  <a:lnTo>
                    <a:pt x="26928" y="220567"/>
                  </a:lnTo>
                  <a:lnTo>
                    <a:pt x="12090" y="197738"/>
                  </a:lnTo>
                  <a:lnTo>
                    <a:pt x="0" y="201675"/>
                  </a:lnTo>
                  <a:lnTo>
                    <a:pt x="0" y="203073"/>
                  </a:lnTo>
                  <a:lnTo>
                    <a:pt x="3755" y="217102"/>
                  </a:lnTo>
                  <a:lnTo>
                    <a:pt x="7021" y="230632"/>
                  </a:lnTo>
                  <a:lnTo>
                    <a:pt x="9799" y="243685"/>
                  </a:lnTo>
                  <a:lnTo>
                    <a:pt x="12090" y="256286"/>
                  </a:lnTo>
                  <a:lnTo>
                    <a:pt x="19037" y="259461"/>
                  </a:lnTo>
                  <a:lnTo>
                    <a:pt x="26327" y="261746"/>
                  </a:lnTo>
                  <a:lnTo>
                    <a:pt x="41579" y="264794"/>
                  </a:lnTo>
                  <a:lnTo>
                    <a:pt x="49491" y="265683"/>
                  </a:lnTo>
                  <a:lnTo>
                    <a:pt x="57670" y="265683"/>
                  </a:lnTo>
                  <a:lnTo>
                    <a:pt x="101199" y="258190"/>
                  </a:lnTo>
                  <a:lnTo>
                    <a:pt x="136918" y="235838"/>
                  </a:lnTo>
                  <a:lnTo>
                    <a:pt x="160778" y="203358"/>
                  </a:lnTo>
                  <a:lnTo>
                    <a:pt x="168732" y="165353"/>
                  </a:lnTo>
                  <a:lnTo>
                    <a:pt x="167465" y="149492"/>
                  </a:lnTo>
                  <a:lnTo>
                    <a:pt x="148463" y="112649"/>
                  </a:lnTo>
                  <a:lnTo>
                    <a:pt x="108413" y="94557"/>
                  </a:lnTo>
                  <a:lnTo>
                    <a:pt x="90792" y="93345"/>
                  </a:lnTo>
                  <a:lnTo>
                    <a:pt x="81483" y="93345"/>
                  </a:lnTo>
                  <a:lnTo>
                    <a:pt x="41668" y="107314"/>
                  </a:lnTo>
                  <a:lnTo>
                    <a:pt x="43726" y="45593"/>
                  </a:lnTo>
                  <a:lnTo>
                    <a:pt x="77310" y="45003"/>
                  </a:lnTo>
                  <a:lnTo>
                    <a:pt x="122366" y="45307"/>
                  </a:lnTo>
                  <a:lnTo>
                    <a:pt x="156451" y="46227"/>
                  </a:lnTo>
                  <a:lnTo>
                    <a:pt x="159245" y="43687"/>
                  </a:lnTo>
                  <a:lnTo>
                    <a:pt x="158508" y="28448"/>
                  </a:lnTo>
                  <a:lnTo>
                    <a:pt x="158508" y="19303"/>
                  </a:lnTo>
                  <a:lnTo>
                    <a:pt x="159181" y="12192"/>
                  </a:lnTo>
                  <a:lnTo>
                    <a:pt x="160553" y="4063"/>
                  </a:lnTo>
                  <a:lnTo>
                    <a:pt x="158508" y="126"/>
                  </a:lnTo>
                  <a:close/>
                </a:path>
              </a:pathLst>
            </a:custGeom>
            <a:solidFill>
              <a:srgbClr val="FF0000"/>
            </a:solidFill>
          </p:spPr>
          <p:txBody>
            <a:bodyPr wrap="square" lIns="0" tIns="0" rIns="0" bIns="0" rtlCol="0"/>
            <a:lstStyle/>
            <a:p>
              <a:endParaRPr/>
            </a:p>
          </p:txBody>
        </p:sp>
        <p:sp>
          <p:nvSpPr>
            <p:cNvPr id="13" name="object 13"/>
            <p:cNvSpPr/>
            <p:nvPr/>
          </p:nvSpPr>
          <p:spPr>
            <a:xfrm>
              <a:off x="403593" y="196595"/>
              <a:ext cx="168910" cy="266065"/>
            </a:xfrm>
            <a:custGeom>
              <a:avLst/>
              <a:gdLst/>
              <a:ahLst/>
              <a:cxnLst/>
              <a:rect l="l" t="t" r="r" b="b"/>
              <a:pathLst>
                <a:path w="168909" h="266065">
                  <a:moveTo>
                    <a:pt x="22694" y="0"/>
                  </a:moveTo>
                  <a:lnTo>
                    <a:pt x="42937" y="926"/>
                  </a:lnTo>
                  <a:lnTo>
                    <a:pt x="62366" y="1603"/>
                  </a:lnTo>
                  <a:lnTo>
                    <a:pt x="80980" y="2018"/>
                  </a:lnTo>
                  <a:lnTo>
                    <a:pt x="98780" y="2158"/>
                  </a:lnTo>
                  <a:lnTo>
                    <a:pt x="115006" y="2037"/>
                  </a:lnTo>
                  <a:lnTo>
                    <a:pt x="130368" y="1666"/>
                  </a:lnTo>
                  <a:lnTo>
                    <a:pt x="144868" y="1033"/>
                  </a:lnTo>
                  <a:lnTo>
                    <a:pt x="158508" y="126"/>
                  </a:lnTo>
                  <a:lnTo>
                    <a:pt x="160553" y="4063"/>
                  </a:lnTo>
                  <a:lnTo>
                    <a:pt x="159181" y="12192"/>
                  </a:lnTo>
                  <a:lnTo>
                    <a:pt x="158508" y="19303"/>
                  </a:lnTo>
                  <a:lnTo>
                    <a:pt x="158508" y="25146"/>
                  </a:lnTo>
                  <a:lnTo>
                    <a:pt x="158508" y="28448"/>
                  </a:lnTo>
                  <a:lnTo>
                    <a:pt x="158750" y="34671"/>
                  </a:lnTo>
                  <a:lnTo>
                    <a:pt x="159245" y="43687"/>
                  </a:lnTo>
                  <a:lnTo>
                    <a:pt x="156451" y="46227"/>
                  </a:lnTo>
                  <a:lnTo>
                    <a:pt x="139375" y="45708"/>
                  </a:lnTo>
                  <a:lnTo>
                    <a:pt x="122366" y="45307"/>
                  </a:lnTo>
                  <a:lnTo>
                    <a:pt x="105425" y="45049"/>
                  </a:lnTo>
                  <a:lnTo>
                    <a:pt x="88557" y="44957"/>
                  </a:lnTo>
                  <a:lnTo>
                    <a:pt x="77310" y="45003"/>
                  </a:lnTo>
                  <a:lnTo>
                    <a:pt x="66089" y="45132"/>
                  </a:lnTo>
                  <a:lnTo>
                    <a:pt x="54893" y="45333"/>
                  </a:lnTo>
                  <a:lnTo>
                    <a:pt x="43726" y="45593"/>
                  </a:lnTo>
                  <a:lnTo>
                    <a:pt x="41668" y="107314"/>
                  </a:lnTo>
                  <a:lnTo>
                    <a:pt x="48214" y="103626"/>
                  </a:lnTo>
                  <a:lnTo>
                    <a:pt x="54443" y="100568"/>
                  </a:lnTo>
                  <a:lnTo>
                    <a:pt x="60354" y="98153"/>
                  </a:lnTo>
                  <a:lnTo>
                    <a:pt x="65951" y="96393"/>
                  </a:lnTo>
                  <a:lnTo>
                    <a:pt x="73202" y="94360"/>
                  </a:lnTo>
                  <a:lnTo>
                    <a:pt x="81483" y="93345"/>
                  </a:lnTo>
                  <a:lnTo>
                    <a:pt x="90792" y="93345"/>
                  </a:lnTo>
                  <a:lnTo>
                    <a:pt x="137249" y="104221"/>
                  </a:lnTo>
                  <a:lnTo>
                    <a:pt x="163664" y="135429"/>
                  </a:lnTo>
                  <a:lnTo>
                    <a:pt x="168732" y="165353"/>
                  </a:lnTo>
                  <a:lnTo>
                    <a:pt x="166743" y="185046"/>
                  </a:lnTo>
                  <a:lnTo>
                    <a:pt x="150837" y="220289"/>
                  </a:lnTo>
                  <a:lnTo>
                    <a:pt x="120035" y="248860"/>
                  </a:lnTo>
                  <a:lnTo>
                    <a:pt x="80411" y="263806"/>
                  </a:lnTo>
                  <a:lnTo>
                    <a:pt x="57670" y="265683"/>
                  </a:lnTo>
                  <a:lnTo>
                    <a:pt x="49491" y="265683"/>
                  </a:lnTo>
                  <a:lnTo>
                    <a:pt x="12090" y="256286"/>
                  </a:lnTo>
                  <a:lnTo>
                    <a:pt x="9799" y="243685"/>
                  </a:lnTo>
                  <a:lnTo>
                    <a:pt x="7021" y="230632"/>
                  </a:lnTo>
                  <a:lnTo>
                    <a:pt x="3755" y="217102"/>
                  </a:lnTo>
                  <a:lnTo>
                    <a:pt x="0" y="203073"/>
                  </a:lnTo>
                  <a:lnTo>
                    <a:pt x="0" y="201675"/>
                  </a:lnTo>
                  <a:lnTo>
                    <a:pt x="12090" y="197738"/>
                  </a:lnTo>
                  <a:lnTo>
                    <a:pt x="19567" y="210260"/>
                  </a:lnTo>
                  <a:lnTo>
                    <a:pt x="26928" y="220567"/>
                  </a:lnTo>
                  <a:lnTo>
                    <a:pt x="65021" y="243264"/>
                  </a:lnTo>
                  <a:lnTo>
                    <a:pt x="74041" y="243839"/>
                  </a:lnTo>
                  <a:lnTo>
                    <a:pt x="84404" y="242911"/>
                  </a:lnTo>
                  <a:lnTo>
                    <a:pt x="119248" y="211454"/>
                  </a:lnTo>
                  <a:lnTo>
                    <a:pt x="122593" y="188594"/>
                  </a:lnTo>
                  <a:lnTo>
                    <a:pt x="121721" y="176353"/>
                  </a:lnTo>
                  <a:lnTo>
                    <a:pt x="101052" y="141654"/>
                  </a:lnTo>
                  <a:lnTo>
                    <a:pt x="70878" y="133350"/>
                  </a:lnTo>
                  <a:lnTo>
                    <a:pt x="63309" y="133350"/>
                  </a:lnTo>
                  <a:lnTo>
                    <a:pt x="27343" y="149478"/>
                  </a:lnTo>
                  <a:lnTo>
                    <a:pt x="19723" y="145287"/>
                  </a:lnTo>
                  <a:lnTo>
                    <a:pt x="21265" y="123001"/>
                  </a:lnTo>
                  <a:lnTo>
                    <a:pt x="22369" y="102822"/>
                  </a:lnTo>
                  <a:lnTo>
                    <a:pt x="23032" y="84762"/>
                  </a:lnTo>
                  <a:lnTo>
                    <a:pt x="23253" y="68833"/>
                  </a:lnTo>
                  <a:lnTo>
                    <a:pt x="23056" y="50611"/>
                  </a:lnTo>
                  <a:lnTo>
                    <a:pt x="22463" y="33448"/>
                  </a:lnTo>
                  <a:lnTo>
                    <a:pt x="21474" y="17309"/>
                  </a:lnTo>
                  <a:lnTo>
                    <a:pt x="20091" y="2158"/>
                  </a:lnTo>
                  <a:lnTo>
                    <a:pt x="22694" y="0"/>
                  </a:lnTo>
                  <a:close/>
                </a:path>
              </a:pathLst>
            </a:custGeom>
            <a:ln w="9144">
              <a:solidFill>
                <a:srgbClr val="000000"/>
              </a:solidFill>
            </a:ln>
          </p:spPr>
          <p:txBody>
            <a:bodyPr wrap="square" lIns="0" tIns="0" rIns="0" bIns="0" rtlCol="0"/>
            <a:lstStyle/>
            <a:p>
              <a:endParaRPr/>
            </a:p>
          </p:txBody>
        </p:sp>
        <p:pic>
          <p:nvPicPr>
            <p:cNvPr id="14" name="object 14"/>
            <p:cNvPicPr/>
            <p:nvPr/>
          </p:nvPicPr>
          <p:blipFill>
            <a:blip r:embed="rId7" cstate="print"/>
            <a:stretch>
              <a:fillRect/>
            </a:stretch>
          </p:blipFill>
          <p:spPr>
            <a:xfrm>
              <a:off x="601611" y="398271"/>
              <a:ext cx="68681" cy="68707"/>
            </a:xfrm>
            <a:prstGeom prst="rect">
              <a:avLst/>
            </a:prstGeom>
          </p:spPr>
        </p:pic>
      </p:grpSp>
      <p:sp>
        <p:nvSpPr>
          <p:cNvPr id="15" name="object 15"/>
          <p:cNvSpPr txBox="1">
            <a:spLocks noGrp="1"/>
          </p:cNvSpPr>
          <p:nvPr>
            <p:ph type="title"/>
          </p:nvPr>
        </p:nvSpPr>
        <p:spPr>
          <a:xfrm>
            <a:off x="766368" y="89407"/>
            <a:ext cx="5636260" cy="452120"/>
          </a:xfrm>
          <a:prstGeom prst="rect">
            <a:avLst/>
          </a:prstGeom>
        </p:spPr>
        <p:txBody>
          <a:bodyPr vert="horz" wrap="square" lIns="0" tIns="12065" rIns="0" bIns="0" rtlCol="0">
            <a:spAutoFit/>
          </a:bodyPr>
          <a:lstStyle/>
          <a:p>
            <a:pPr marL="12700">
              <a:lnSpc>
                <a:spcPct val="100000"/>
              </a:lnSpc>
              <a:spcBef>
                <a:spcPts val="95"/>
              </a:spcBef>
            </a:pPr>
            <a:r>
              <a:rPr dirty="0">
                <a:solidFill>
                  <a:srgbClr val="000066"/>
                </a:solidFill>
                <a:latin typeface="Palatino Linotype" panose="02040502050505030304"/>
                <a:cs typeface="Palatino Linotype" panose="02040502050505030304"/>
              </a:rPr>
              <a:t>The</a:t>
            </a:r>
            <a:r>
              <a:rPr spc="-50" dirty="0">
                <a:solidFill>
                  <a:srgbClr val="000066"/>
                </a:solidFill>
                <a:latin typeface="Palatino Linotype" panose="02040502050505030304"/>
                <a:cs typeface="Palatino Linotype" panose="02040502050505030304"/>
              </a:rPr>
              <a:t> </a:t>
            </a:r>
            <a:r>
              <a:rPr dirty="0">
                <a:solidFill>
                  <a:srgbClr val="000066"/>
                </a:solidFill>
                <a:latin typeface="Palatino Linotype" panose="02040502050505030304"/>
                <a:cs typeface="Palatino Linotype" panose="02040502050505030304"/>
              </a:rPr>
              <a:t>nurse</a:t>
            </a:r>
            <a:r>
              <a:rPr spc="-45" dirty="0">
                <a:solidFill>
                  <a:srgbClr val="000066"/>
                </a:solidFill>
                <a:latin typeface="Palatino Linotype" panose="02040502050505030304"/>
                <a:cs typeface="Palatino Linotype" panose="02040502050505030304"/>
              </a:rPr>
              <a:t> </a:t>
            </a:r>
            <a:r>
              <a:rPr dirty="0">
                <a:solidFill>
                  <a:srgbClr val="000066"/>
                </a:solidFill>
                <a:latin typeface="Palatino Linotype" panose="02040502050505030304"/>
                <a:cs typeface="Palatino Linotype" panose="02040502050505030304"/>
              </a:rPr>
              <a:t>has</a:t>
            </a:r>
            <a:r>
              <a:rPr spc="-65" dirty="0">
                <a:solidFill>
                  <a:srgbClr val="000066"/>
                </a:solidFill>
                <a:latin typeface="Palatino Linotype" panose="02040502050505030304"/>
                <a:cs typeface="Palatino Linotype" panose="02040502050505030304"/>
              </a:rPr>
              <a:t> </a:t>
            </a:r>
            <a:r>
              <a:rPr dirty="0">
                <a:solidFill>
                  <a:srgbClr val="000066"/>
                </a:solidFill>
                <a:latin typeface="Palatino Linotype" panose="02040502050505030304"/>
                <a:cs typeface="Palatino Linotype" panose="02040502050505030304"/>
              </a:rPr>
              <a:t>an</a:t>
            </a:r>
            <a:r>
              <a:rPr spc="-60" dirty="0">
                <a:solidFill>
                  <a:srgbClr val="000066"/>
                </a:solidFill>
                <a:latin typeface="Palatino Linotype" panose="02040502050505030304"/>
                <a:cs typeface="Palatino Linotype" panose="02040502050505030304"/>
              </a:rPr>
              <a:t> </a:t>
            </a:r>
            <a:r>
              <a:rPr dirty="0">
                <a:solidFill>
                  <a:srgbClr val="000066"/>
                </a:solidFill>
                <a:latin typeface="Palatino Linotype" panose="02040502050505030304"/>
                <a:cs typeface="Palatino Linotype" panose="02040502050505030304"/>
              </a:rPr>
              <a:t>important</a:t>
            </a:r>
            <a:r>
              <a:rPr spc="-35" dirty="0">
                <a:solidFill>
                  <a:srgbClr val="000066"/>
                </a:solidFill>
                <a:latin typeface="Palatino Linotype" panose="02040502050505030304"/>
                <a:cs typeface="Palatino Linotype" panose="02040502050505030304"/>
              </a:rPr>
              <a:t> </a:t>
            </a:r>
            <a:r>
              <a:rPr dirty="0">
                <a:solidFill>
                  <a:srgbClr val="000066"/>
                </a:solidFill>
                <a:latin typeface="Palatino Linotype" panose="02040502050505030304"/>
                <a:cs typeface="Palatino Linotype" panose="02040502050505030304"/>
              </a:rPr>
              <a:t>role</a:t>
            </a:r>
            <a:r>
              <a:rPr spc="-55" dirty="0">
                <a:solidFill>
                  <a:srgbClr val="000066"/>
                </a:solidFill>
                <a:latin typeface="Palatino Linotype" panose="02040502050505030304"/>
                <a:cs typeface="Palatino Linotype" panose="02040502050505030304"/>
              </a:rPr>
              <a:t> </a:t>
            </a:r>
            <a:r>
              <a:rPr spc="-25" dirty="0">
                <a:solidFill>
                  <a:srgbClr val="000066"/>
                </a:solidFill>
                <a:latin typeface="Palatino Linotype" panose="02040502050505030304"/>
                <a:cs typeface="Palatino Linotype" panose="02040502050505030304"/>
              </a:rPr>
              <a:t>as</a:t>
            </a:r>
          </a:p>
        </p:txBody>
      </p:sp>
      <p:pic>
        <p:nvPicPr>
          <p:cNvPr id="16" name="object 16"/>
          <p:cNvPicPr/>
          <p:nvPr/>
        </p:nvPicPr>
        <p:blipFill>
          <a:blip r:embed="rId8" cstate="print"/>
          <a:stretch>
            <a:fillRect/>
          </a:stretch>
        </p:blipFill>
        <p:spPr>
          <a:xfrm>
            <a:off x="6485382" y="184022"/>
            <a:ext cx="1227455" cy="373888"/>
          </a:xfrm>
          <a:prstGeom prst="rect">
            <a:avLst/>
          </a:prstGeom>
        </p:spPr>
      </p:pic>
      <p:pic>
        <p:nvPicPr>
          <p:cNvPr id="17" name="object 17"/>
          <p:cNvPicPr/>
          <p:nvPr/>
        </p:nvPicPr>
        <p:blipFill>
          <a:blip r:embed="rId9" cstate="print"/>
          <a:stretch>
            <a:fillRect/>
          </a:stretch>
        </p:blipFill>
        <p:spPr>
          <a:xfrm>
            <a:off x="406654" y="724662"/>
            <a:ext cx="1505204" cy="290957"/>
          </a:xfrm>
          <a:prstGeom prst="rect">
            <a:avLst/>
          </a:prstGeom>
        </p:spPr>
      </p:pic>
      <p:sp>
        <p:nvSpPr>
          <p:cNvPr id="18" name="object 18"/>
          <p:cNvSpPr txBox="1"/>
          <p:nvPr/>
        </p:nvSpPr>
        <p:spPr>
          <a:xfrm>
            <a:off x="42163" y="542878"/>
            <a:ext cx="8893175" cy="4312285"/>
          </a:xfrm>
          <a:prstGeom prst="rect">
            <a:avLst/>
          </a:prstGeom>
        </p:spPr>
        <p:txBody>
          <a:bodyPr vert="horz" wrap="square" lIns="0" tIns="107314" rIns="0" bIns="0" rtlCol="0">
            <a:spAutoFit/>
          </a:bodyPr>
          <a:lstStyle/>
          <a:p>
            <a:pPr marL="1967865">
              <a:lnSpc>
                <a:spcPct val="100000"/>
              </a:lnSpc>
              <a:spcBef>
                <a:spcPts val="845"/>
              </a:spcBef>
            </a:pPr>
            <a:r>
              <a:rPr sz="2800" b="1" i="1" dirty="0">
                <a:solidFill>
                  <a:srgbClr val="000066"/>
                </a:solidFill>
                <a:latin typeface="Palatino Linotype" panose="02040502050505030304"/>
                <a:cs typeface="Palatino Linotype" panose="02040502050505030304"/>
              </a:rPr>
              <a:t>–</a:t>
            </a:r>
            <a:r>
              <a:rPr sz="2800" b="1" i="1" spc="-45" dirty="0">
                <a:solidFill>
                  <a:srgbClr val="000066"/>
                </a:solidFill>
                <a:latin typeface="Palatino Linotype" panose="02040502050505030304"/>
                <a:cs typeface="Palatino Linotype" panose="02040502050505030304"/>
              </a:rPr>
              <a:t> </a:t>
            </a:r>
            <a:r>
              <a:rPr sz="2800" b="1" dirty="0">
                <a:solidFill>
                  <a:srgbClr val="000066"/>
                </a:solidFill>
                <a:latin typeface="Palatino Linotype" panose="02040502050505030304"/>
                <a:cs typeface="Palatino Linotype" panose="02040502050505030304"/>
              </a:rPr>
              <a:t>protect</a:t>
            </a:r>
            <a:r>
              <a:rPr sz="2800" b="1" spc="-45" dirty="0">
                <a:solidFill>
                  <a:srgbClr val="000066"/>
                </a:solidFill>
                <a:latin typeface="Palatino Linotype" panose="02040502050505030304"/>
                <a:cs typeface="Palatino Linotype" panose="02040502050505030304"/>
              </a:rPr>
              <a:t> </a:t>
            </a:r>
            <a:r>
              <a:rPr sz="2800" b="1" dirty="0">
                <a:solidFill>
                  <a:srgbClr val="000066"/>
                </a:solidFill>
                <a:latin typeface="Palatino Linotype" panose="02040502050505030304"/>
                <a:cs typeface="Palatino Linotype" panose="02040502050505030304"/>
              </a:rPr>
              <a:t>the</a:t>
            </a:r>
            <a:r>
              <a:rPr sz="2800" b="1" spc="-45" dirty="0">
                <a:solidFill>
                  <a:srgbClr val="000066"/>
                </a:solidFill>
                <a:latin typeface="Palatino Linotype" panose="02040502050505030304"/>
                <a:cs typeface="Palatino Linotype" panose="02040502050505030304"/>
              </a:rPr>
              <a:t> </a:t>
            </a:r>
            <a:r>
              <a:rPr sz="2800" b="1" dirty="0">
                <a:solidFill>
                  <a:srgbClr val="000066"/>
                </a:solidFill>
                <a:latin typeface="Palatino Linotype" panose="02040502050505030304"/>
                <a:cs typeface="Palatino Linotype" panose="02040502050505030304"/>
              </a:rPr>
              <a:t>pt</a:t>
            </a:r>
            <a:r>
              <a:rPr sz="2800" b="1" spc="-30" dirty="0">
                <a:solidFill>
                  <a:srgbClr val="000066"/>
                </a:solidFill>
                <a:latin typeface="Palatino Linotype" panose="02040502050505030304"/>
                <a:cs typeface="Palatino Linotype" panose="02040502050505030304"/>
              </a:rPr>
              <a:t> </a:t>
            </a:r>
            <a:r>
              <a:rPr sz="2800" b="1" dirty="0">
                <a:solidFill>
                  <a:srgbClr val="000066"/>
                </a:solidFill>
                <a:latin typeface="Palatino Linotype" panose="02040502050505030304"/>
                <a:cs typeface="Palatino Linotype" panose="02040502050505030304"/>
              </a:rPr>
              <a:t>against</a:t>
            </a:r>
            <a:r>
              <a:rPr sz="2800" b="1" spc="-35" dirty="0">
                <a:solidFill>
                  <a:srgbClr val="000066"/>
                </a:solidFill>
                <a:latin typeface="Palatino Linotype" panose="02040502050505030304"/>
                <a:cs typeface="Palatino Linotype" panose="02040502050505030304"/>
              </a:rPr>
              <a:t> </a:t>
            </a:r>
            <a:r>
              <a:rPr sz="2800" b="1" dirty="0">
                <a:solidFill>
                  <a:srgbClr val="000066"/>
                </a:solidFill>
                <a:latin typeface="Palatino Linotype" panose="02040502050505030304"/>
                <a:cs typeface="Palatino Linotype" panose="02040502050505030304"/>
              </a:rPr>
              <a:t>the</a:t>
            </a:r>
            <a:r>
              <a:rPr sz="2800" b="1" spc="-35" dirty="0">
                <a:solidFill>
                  <a:srgbClr val="000066"/>
                </a:solidFill>
                <a:latin typeface="Palatino Linotype" panose="02040502050505030304"/>
                <a:cs typeface="Palatino Linotype" panose="02040502050505030304"/>
              </a:rPr>
              <a:t> </a:t>
            </a:r>
            <a:r>
              <a:rPr sz="2800" b="1" spc="-10" dirty="0">
                <a:solidFill>
                  <a:srgbClr val="000066"/>
                </a:solidFill>
                <a:latin typeface="Palatino Linotype" panose="02040502050505030304"/>
                <a:cs typeface="Palatino Linotype" panose="02040502050505030304"/>
              </a:rPr>
              <a:t>medication</a:t>
            </a:r>
            <a:endParaRPr sz="2800">
              <a:latin typeface="Palatino Linotype" panose="02040502050505030304"/>
              <a:cs typeface="Palatino Linotype" panose="02040502050505030304"/>
            </a:endParaRPr>
          </a:p>
          <a:p>
            <a:pPr marL="355600">
              <a:lnSpc>
                <a:spcPct val="100000"/>
              </a:lnSpc>
              <a:spcBef>
                <a:spcPts val="745"/>
              </a:spcBef>
            </a:pPr>
            <a:r>
              <a:rPr sz="2800" b="1" spc="-10" dirty="0">
                <a:solidFill>
                  <a:srgbClr val="000066"/>
                </a:solidFill>
                <a:latin typeface="Palatino Linotype" panose="02040502050505030304"/>
                <a:cs typeface="Palatino Linotype" panose="02040502050505030304"/>
              </a:rPr>
              <a:t>errors.</a:t>
            </a:r>
            <a:endParaRPr sz="2800">
              <a:latin typeface="Palatino Linotype" panose="02040502050505030304"/>
              <a:cs typeface="Palatino Linotype" panose="02040502050505030304"/>
            </a:endParaRPr>
          </a:p>
          <a:p>
            <a:pPr marL="355600" marR="678180" indent="-342900">
              <a:lnSpc>
                <a:spcPct val="120000"/>
              </a:lnSpc>
              <a:spcBef>
                <a:spcPts val="670"/>
              </a:spcBef>
              <a:buClr>
                <a:srgbClr val="FF0066"/>
              </a:buClr>
              <a:buSzPct val="57000"/>
              <a:buFont typeface="Microsoft Sans Serif" panose="020B0604020202020204"/>
              <a:buChar char="•"/>
              <a:tabLst>
                <a:tab pos="355600" algn="l"/>
              </a:tabLst>
            </a:pPr>
            <a:r>
              <a:rPr sz="2800" b="1" dirty="0">
                <a:latin typeface="Times New Roman" panose="02020603050405020304"/>
                <a:cs typeface="Times New Roman" panose="02020603050405020304"/>
              </a:rPr>
              <a:t>The</a:t>
            </a:r>
            <a:r>
              <a:rPr sz="2800" b="1" spc="-3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nurse</a:t>
            </a:r>
            <a:r>
              <a:rPr sz="2800" b="1" spc="-4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is</a:t>
            </a:r>
            <a:r>
              <a:rPr sz="2800" b="1" spc="-4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the</a:t>
            </a:r>
            <a:r>
              <a:rPr sz="2800" b="1" spc="-4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patient's</a:t>
            </a:r>
            <a:r>
              <a:rPr sz="2800" b="1" spc="-4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last</a:t>
            </a:r>
            <a:r>
              <a:rPr sz="2800" b="1" spc="-3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line</a:t>
            </a:r>
            <a:r>
              <a:rPr sz="2800" b="1" spc="-4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of</a:t>
            </a:r>
            <a:r>
              <a:rPr sz="2800" b="1" spc="-2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defense</a:t>
            </a:r>
            <a:r>
              <a:rPr sz="2800" b="1" spc="-30"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against </a:t>
            </a:r>
            <a:r>
              <a:rPr sz="2800" b="1" dirty="0">
                <a:latin typeface="Times New Roman" panose="02020603050405020304"/>
                <a:cs typeface="Times New Roman" panose="02020603050405020304"/>
              </a:rPr>
              <a:t>medication</a:t>
            </a:r>
            <a:r>
              <a:rPr sz="2800" b="1" spc="-125"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errors.</a:t>
            </a:r>
            <a:endParaRPr sz="2800">
              <a:latin typeface="Times New Roman" panose="02020603050405020304"/>
              <a:cs typeface="Times New Roman" panose="02020603050405020304"/>
            </a:endParaRPr>
          </a:p>
          <a:p>
            <a:pPr marL="355600" marR="5080" indent="-342900">
              <a:lnSpc>
                <a:spcPct val="120000"/>
              </a:lnSpc>
              <a:spcBef>
                <a:spcPts val="670"/>
              </a:spcBef>
              <a:buClr>
                <a:srgbClr val="FF0066"/>
              </a:buClr>
              <a:buSzPct val="57000"/>
              <a:buFont typeface="Microsoft Sans Serif" panose="020B0604020202020204"/>
              <a:buChar char="•"/>
              <a:tabLst>
                <a:tab pos="355600" algn="l"/>
              </a:tabLst>
            </a:pPr>
            <a:r>
              <a:rPr sz="2800" dirty="0">
                <a:latin typeface="Times New Roman" panose="02020603050405020304"/>
                <a:cs typeface="Times New Roman" panose="02020603050405020304"/>
              </a:rPr>
              <a:t>It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ethically</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legally</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unacceptable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you</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administer </a:t>
            </a:r>
            <a:r>
              <a:rPr sz="2800" dirty="0">
                <a:latin typeface="Times New Roman" panose="02020603050405020304"/>
                <a:cs typeface="Times New Roman" panose="02020603050405020304"/>
              </a:rPr>
              <a:t>a</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that</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harmful</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patient</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even</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though</a:t>
            </a:r>
            <a:r>
              <a:rPr sz="2800" spc="-3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medication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has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been</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prescribed</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licensed</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prescriber</a:t>
            </a:r>
            <a:r>
              <a:rPr sz="2800" spc="-3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and </a:t>
            </a:r>
            <a:r>
              <a:rPr sz="2800" dirty="0">
                <a:latin typeface="Times New Roman" panose="02020603050405020304"/>
                <a:cs typeface="Times New Roman" panose="02020603050405020304"/>
              </a:rPr>
              <a:t>dispensed</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licensed</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pharmacist.</a:t>
            </a:r>
            <a:endParaRPr sz="2800">
              <a:latin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401" y="42163"/>
            <a:ext cx="8926195" cy="6501765"/>
          </a:xfrm>
          <a:prstGeom prst="rect">
            <a:avLst/>
          </a:prstGeom>
        </p:spPr>
        <p:txBody>
          <a:bodyPr vert="horz" wrap="square" lIns="0" tIns="10160" rIns="0" bIns="0" rtlCol="0">
            <a:spAutoFit/>
          </a:bodyPr>
          <a:lstStyle/>
          <a:p>
            <a:pPr marL="355600" marR="22860" indent="-342900">
              <a:lnSpc>
                <a:spcPts val="3280"/>
              </a:lnSpc>
              <a:spcBef>
                <a:spcPts val="80"/>
              </a:spcBef>
              <a:buFont typeface="Microsoft Sans Serif" panose="020B0604020202020204"/>
              <a:buChar char="•"/>
              <a:tabLst>
                <a:tab pos="355600" algn="l"/>
              </a:tabLst>
            </a:pPr>
            <a:r>
              <a:rPr sz="2600" dirty="0">
                <a:solidFill>
                  <a:srgbClr val="FF0000"/>
                </a:solidFill>
                <a:latin typeface="Arial Black" panose="020B0A04020102020204"/>
                <a:cs typeface="Arial Black" panose="020B0A04020102020204"/>
              </a:rPr>
              <a:t>Medication Errors</a:t>
            </a:r>
            <a:r>
              <a:rPr sz="2600" b="1"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occurrence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(preventable</a:t>
            </a:r>
            <a:r>
              <a:rPr sz="2600" spc="-1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event) </a:t>
            </a:r>
            <a:r>
              <a:rPr sz="2600" dirty="0">
                <a:latin typeface="Times New Roman" panose="02020603050405020304"/>
                <a:cs typeface="Times New Roman" panose="02020603050405020304"/>
              </a:rPr>
              <a:t>that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may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cause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lead</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inappropriate</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medication</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use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10" dirty="0">
                <a:latin typeface="Times New Roman" panose="02020603050405020304"/>
                <a:cs typeface="Times New Roman" panose="02020603050405020304"/>
              </a:rPr>
              <a:t> patient </a:t>
            </a:r>
            <a:r>
              <a:rPr sz="2600" dirty="0">
                <a:latin typeface="Times New Roman" panose="02020603050405020304"/>
                <a:cs typeface="Times New Roman" panose="02020603050405020304"/>
              </a:rPr>
              <a:t>harm</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while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medication</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control</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healthcare</a:t>
            </a:r>
            <a:endParaRPr sz="2600">
              <a:latin typeface="Times New Roman" panose="02020603050405020304"/>
              <a:cs typeface="Times New Roman" panose="02020603050405020304"/>
            </a:endParaRPr>
          </a:p>
          <a:p>
            <a:pPr marL="355600">
              <a:lnSpc>
                <a:spcPct val="100000"/>
              </a:lnSpc>
              <a:spcBef>
                <a:spcPts val="15"/>
              </a:spcBef>
            </a:pPr>
            <a:r>
              <a:rPr sz="2600" dirty="0">
                <a:latin typeface="Times New Roman" panose="02020603050405020304"/>
                <a:cs typeface="Times New Roman" panose="02020603050405020304"/>
              </a:rPr>
              <a:t>professional,</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patient,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consumer.</a:t>
            </a:r>
            <a:endParaRPr sz="2600">
              <a:latin typeface="Times New Roman" panose="02020603050405020304"/>
              <a:cs typeface="Times New Roman" panose="02020603050405020304"/>
            </a:endParaRPr>
          </a:p>
          <a:p>
            <a:pPr marL="355600" marR="536575" indent="-342900">
              <a:lnSpc>
                <a:spcPct val="105000"/>
              </a:lnSpc>
              <a:spcBef>
                <a:spcPts val="990"/>
              </a:spcBef>
              <a:buFont typeface="Microsoft Sans Serif" panose="020B0604020202020204"/>
              <a:buChar char="•"/>
              <a:tabLst>
                <a:tab pos="355600" algn="l"/>
              </a:tabLst>
            </a:pPr>
            <a:r>
              <a:rPr sz="2600" dirty="0">
                <a:latin typeface="Times New Roman" panose="02020603050405020304"/>
                <a:cs typeface="Times New Roman" panose="02020603050405020304"/>
              </a:rPr>
              <a:t>Medication</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errors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are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major</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problem</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health</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care</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today</a:t>
            </a:r>
            <a:r>
              <a:rPr sz="2600" spc="-15" dirty="0">
                <a:latin typeface="Times New Roman" panose="02020603050405020304"/>
                <a:cs typeface="Times New Roman" panose="02020603050405020304"/>
              </a:rPr>
              <a:t> </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major</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cause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morbidity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mortality.</a:t>
            </a:r>
            <a:endParaRPr sz="2600">
              <a:latin typeface="Times New Roman" panose="02020603050405020304"/>
              <a:cs typeface="Times New Roman" panose="02020603050405020304"/>
            </a:endParaRPr>
          </a:p>
          <a:p>
            <a:pPr marL="355600" marR="5080" indent="-342900">
              <a:lnSpc>
                <a:spcPct val="105000"/>
              </a:lnSpc>
              <a:spcBef>
                <a:spcPts val="995"/>
              </a:spcBef>
              <a:buFont typeface="Microsoft Sans Serif" panose="020B0604020202020204"/>
              <a:buChar char="•"/>
              <a:tabLst>
                <a:tab pos="355600" algn="l"/>
              </a:tabLst>
            </a:pPr>
            <a:r>
              <a:rPr sz="2600" dirty="0">
                <a:latin typeface="Times New Roman" panose="02020603050405020304"/>
                <a:cs typeface="Times New Roman" panose="02020603050405020304"/>
              </a:rPr>
              <a:t>Because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last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person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who</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checks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medications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prior</a:t>
            </a:r>
            <a:r>
              <a:rPr sz="2600" spc="-3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to </a:t>
            </a:r>
            <a:r>
              <a:rPr sz="2600" dirty="0">
                <a:latin typeface="Times New Roman" panose="02020603050405020304"/>
                <a:cs typeface="Times New Roman" panose="02020603050405020304"/>
              </a:rPr>
              <a:t>administration,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therefore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nurse</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responsible</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detect</a:t>
            </a:r>
            <a:r>
              <a:rPr sz="2600" spc="-2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and </a:t>
            </a:r>
            <a:r>
              <a:rPr sz="2600" dirty="0">
                <a:latin typeface="Times New Roman" panose="02020603050405020304"/>
                <a:cs typeface="Times New Roman" panose="02020603050405020304"/>
              </a:rPr>
              <a:t>protect</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patient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against</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mistakes</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made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by</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other</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member</a:t>
            </a:r>
            <a:r>
              <a:rPr sz="2600" spc="65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health</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care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team.</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Medication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errors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may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occur</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during</a:t>
            </a:r>
            <a:r>
              <a:rPr sz="2600" spc="-25" dirty="0">
                <a:latin typeface="Times New Roman" panose="02020603050405020304"/>
                <a:cs typeface="Times New Roman" panose="02020603050405020304"/>
              </a:rPr>
              <a:t> any </a:t>
            </a:r>
            <a:r>
              <a:rPr sz="2600" dirty="0">
                <a:latin typeface="Times New Roman" panose="02020603050405020304"/>
                <a:cs typeface="Times New Roman" panose="02020603050405020304"/>
              </a:rPr>
              <a:t>phase</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4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therapy,</a:t>
            </a:r>
            <a:r>
              <a:rPr sz="2600" spc="-4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including:</a:t>
            </a:r>
            <a:endParaRPr sz="2600">
              <a:latin typeface="Times New Roman" panose="02020603050405020304"/>
              <a:cs typeface="Times New Roman" panose="02020603050405020304"/>
            </a:endParaRPr>
          </a:p>
          <a:p>
            <a:pPr marL="355600" marR="19685" indent="-342900">
              <a:lnSpc>
                <a:spcPts val="3280"/>
              </a:lnSpc>
              <a:spcBef>
                <a:spcPts val="135"/>
              </a:spcBef>
              <a:buFont typeface="Microsoft Sans Serif" panose="020B0604020202020204"/>
              <a:buChar char="–"/>
              <a:tabLst>
                <a:tab pos="355600" algn="l"/>
              </a:tabLst>
            </a:pPr>
            <a:r>
              <a:rPr sz="2600" dirty="0">
                <a:latin typeface="Times New Roman" panose="02020603050405020304"/>
                <a:cs typeface="Times New Roman" panose="02020603050405020304"/>
              </a:rPr>
              <a:t>When</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prescribing</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transcribing</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orders</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(write down)</a:t>
            </a:r>
            <a:endParaRPr sz="2600">
              <a:latin typeface="Times New Roman" panose="02020603050405020304"/>
              <a:cs typeface="Times New Roman" panose="02020603050405020304"/>
            </a:endParaRPr>
          </a:p>
          <a:p>
            <a:pPr marL="354965" indent="-342265">
              <a:lnSpc>
                <a:spcPct val="100000"/>
              </a:lnSpc>
              <a:spcBef>
                <a:spcPts val="15"/>
              </a:spcBef>
              <a:buFont typeface="Microsoft Sans Serif" panose="020B0604020202020204"/>
              <a:buChar char="–"/>
              <a:tabLst>
                <a:tab pos="354965" algn="l"/>
              </a:tabLst>
            </a:pPr>
            <a:r>
              <a:rPr sz="2600" dirty="0">
                <a:latin typeface="Times New Roman" panose="02020603050405020304"/>
                <a:cs typeface="Times New Roman" panose="02020603050405020304"/>
              </a:rPr>
              <a:t>When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 drug</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dispensing</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supply</a:t>
            </a:r>
            <a:endParaRPr sz="2600">
              <a:latin typeface="Times New Roman" panose="02020603050405020304"/>
              <a:cs typeface="Times New Roman" panose="02020603050405020304"/>
            </a:endParaRPr>
          </a:p>
          <a:p>
            <a:pPr marL="354965" indent="-342265">
              <a:lnSpc>
                <a:spcPct val="100000"/>
              </a:lnSpc>
              <a:spcBef>
                <a:spcPts val="160"/>
              </a:spcBef>
              <a:buFont typeface="Microsoft Sans Serif" panose="020B0604020202020204"/>
              <a:buChar char="–"/>
              <a:tabLst>
                <a:tab pos="354965" algn="l"/>
              </a:tabLst>
            </a:pPr>
            <a:r>
              <a:rPr sz="2600" dirty="0">
                <a:latin typeface="Times New Roman" panose="02020603050405020304"/>
                <a:cs typeface="Times New Roman" panose="02020603050405020304"/>
              </a:rPr>
              <a:t>In</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administration</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0" dirty="0">
                <a:latin typeface="Times New Roman" panose="02020603050405020304"/>
                <a:cs typeface="Times New Roman" panose="02020603050405020304"/>
              </a:rPr>
              <a:t> drug</a:t>
            </a:r>
            <a:endParaRPr sz="2600">
              <a:latin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6880" y="537210"/>
            <a:ext cx="8297545" cy="5450205"/>
          </a:xfrm>
          <a:prstGeom prst="rect">
            <a:avLst/>
          </a:prstGeom>
        </p:spPr>
        <p:txBody>
          <a:bodyPr vert="horz" wrap="square" lIns="0" tIns="108585" rIns="0" bIns="0" rtlCol="0">
            <a:noAutofit/>
          </a:bodyPr>
          <a:lstStyle/>
          <a:p>
            <a:pPr marL="354965" indent="-342265">
              <a:lnSpc>
                <a:spcPct val="100000"/>
              </a:lnSpc>
              <a:spcBef>
                <a:spcPts val="855"/>
              </a:spcBef>
              <a:buFont typeface="Microsoft Sans Serif" panose="020B0604020202020204"/>
              <a:buChar char="•"/>
              <a:tabLst>
                <a:tab pos="354965" algn="l"/>
                <a:tab pos="4425315" algn="l"/>
              </a:tabLst>
            </a:pPr>
            <a:r>
              <a:rPr sz="2800" b="1" spc="185" dirty="0">
                <a:latin typeface="Cambria" panose="02040503050406030204"/>
                <a:cs typeface="Cambria" panose="02040503050406030204"/>
              </a:rPr>
              <a:t>Source</a:t>
            </a:r>
            <a:r>
              <a:rPr sz="2800" b="1" spc="345" dirty="0">
                <a:latin typeface="Cambria" panose="02040503050406030204"/>
                <a:cs typeface="Cambria" panose="02040503050406030204"/>
              </a:rPr>
              <a:t> </a:t>
            </a:r>
            <a:r>
              <a:rPr sz="2800" b="1" spc="135" dirty="0">
                <a:latin typeface="Cambria" panose="02040503050406030204"/>
                <a:cs typeface="Cambria" panose="02040503050406030204"/>
              </a:rPr>
              <a:t>of</a:t>
            </a:r>
            <a:r>
              <a:rPr sz="2800" b="1" spc="340" dirty="0">
                <a:latin typeface="Cambria" panose="02040503050406030204"/>
                <a:cs typeface="Cambria" panose="02040503050406030204"/>
              </a:rPr>
              <a:t> </a:t>
            </a:r>
            <a:r>
              <a:rPr sz="2800" b="1" spc="155" dirty="0">
                <a:latin typeface="Cambria" panose="02040503050406030204"/>
                <a:cs typeface="Cambria" panose="02040503050406030204"/>
              </a:rPr>
              <a:t>medication</a:t>
            </a:r>
            <a:r>
              <a:rPr sz="2800" b="1" dirty="0">
                <a:latin typeface="Cambria" panose="02040503050406030204"/>
                <a:cs typeface="Cambria" panose="02040503050406030204"/>
              </a:rPr>
              <a:t>	</a:t>
            </a:r>
            <a:r>
              <a:rPr sz="2800" b="1" spc="45" dirty="0">
                <a:latin typeface="Cambria" panose="02040503050406030204"/>
                <a:cs typeface="Cambria" panose="02040503050406030204"/>
              </a:rPr>
              <a:t>errors</a:t>
            </a:r>
            <a:endParaRPr sz="2800">
              <a:latin typeface="Cambria" panose="02040503050406030204"/>
              <a:cs typeface="Cambria" panose="02040503050406030204"/>
            </a:endParaRPr>
          </a:p>
          <a:p>
            <a:pPr marL="469900" lvl="1">
              <a:lnSpc>
                <a:spcPct val="100000"/>
              </a:lnSpc>
              <a:spcBef>
                <a:spcPts val="650"/>
              </a:spcBef>
              <a:tabLst>
                <a:tab pos="2138680" algn="l"/>
                <a:tab pos="4187190" algn="l"/>
                <a:tab pos="5969000" algn="l"/>
              </a:tabLst>
            </a:pPr>
            <a:r>
              <a:rPr lang="en-US" altLang="" sz="2400" spc="-10" dirty="0">
                <a:latin typeface="Times New Roman" panose="02020603050405020304"/>
                <a:cs typeface="Times New Roman" panose="02020603050405020304"/>
              </a:rPr>
              <a:t>1. </a:t>
            </a:r>
            <a:r>
              <a:rPr sz="2400" spc="-10" dirty="0">
                <a:latin typeface="Times New Roman" panose="02020603050405020304"/>
                <a:cs typeface="Times New Roman" panose="02020603050405020304"/>
              </a:rPr>
              <a:t>Prescribers</a:t>
            </a:r>
            <a:r>
              <a:rPr sz="2400" dirty="0">
                <a:latin typeface="Times New Roman" panose="02020603050405020304"/>
                <a:cs typeface="Times New Roman" panose="02020603050405020304"/>
              </a:rPr>
              <a:t>	</a:t>
            </a:r>
          </a:p>
          <a:p>
            <a:pPr marL="469900" lvl="1">
              <a:lnSpc>
                <a:spcPct val="100000"/>
              </a:lnSpc>
              <a:spcBef>
                <a:spcPts val="650"/>
              </a:spcBef>
              <a:tabLst>
                <a:tab pos="2138680" algn="l"/>
                <a:tab pos="4187190" algn="l"/>
                <a:tab pos="5969000" algn="l"/>
              </a:tabLst>
            </a:pPr>
            <a:r>
              <a:rPr lang="en-US" altLang="" sz="2400" spc="-10" dirty="0">
                <a:latin typeface="Times New Roman" panose="02020603050405020304"/>
                <a:cs typeface="Times New Roman" panose="02020603050405020304"/>
              </a:rPr>
              <a:t>2. </a:t>
            </a:r>
            <a:r>
              <a:rPr sz="2400" spc="-10" dirty="0">
                <a:latin typeface="Times New Roman" panose="02020603050405020304"/>
                <a:cs typeface="Times New Roman" panose="02020603050405020304"/>
              </a:rPr>
              <a:t>Pharmacist</a:t>
            </a:r>
          </a:p>
          <a:p>
            <a:pPr marL="469900" lvl="1">
              <a:lnSpc>
                <a:spcPct val="100000"/>
              </a:lnSpc>
              <a:spcBef>
                <a:spcPts val="650"/>
              </a:spcBef>
              <a:tabLst>
                <a:tab pos="2138680" algn="l"/>
                <a:tab pos="4187190" algn="l"/>
                <a:tab pos="5969000" algn="l"/>
              </a:tabLst>
            </a:pPr>
            <a:r>
              <a:rPr lang="en-US" altLang="" sz="2400" b="1" spc="70" dirty="0">
                <a:solidFill>
                  <a:srgbClr val="0033CC"/>
                </a:solidFill>
                <a:latin typeface="Cambria" panose="02040503050406030204"/>
                <a:cs typeface="Cambria" panose="02040503050406030204"/>
              </a:rPr>
              <a:t>3. </a:t>
            </a:r>
            <a:r>
              <a:rPr sz="2400" b="1" spc="70" dirty="0">
                <a:solidFill>
                  <a:srgbClr val="0033CC"/>
                </a:solidFill>
                <a:latin typeface="Cambria" panose="02040503050406030204"/>
                <a:cs typeface="Cambria" panose="02040503050406030204"/>
              </a:rPr>
              <a:t>Nurses</a:t>
            </a:r>
            <a:r>
              <a:rPr sz="2400" b="1" dirty="0">
                <a:solidFill>
                  <a:srgbClr val="0033CC"/>
                </a:solidFill>
                <a:latin typeface="Cambria" panose="02040503050406030204"/>
                <a:cs typeface="Cambria" panose="02040503050406030204"/>
              </a:rPr>
              <a:t>	</a:t>
            </a:r>
            <a:endParaRPr sz="2400" dirty="0">
              <a:latin typeface="Wingdings" panose="05000000000000000000"/>
              <a:cs typeface="Wingdings" panose="05000000000000000000"/>
            </a:endParaRPr>
          </a:p>
          <a:p>
            <a:pPr marL="469900" lvl="1">
              <a:lnSpc>
                <a:spcPct val="100000"/>
              </a:lnSpc>
              <a:spcBef>
                <a:spcPts val="650"/>
              </a:spcBef>
              <a:tabLst>
                <a:tab pos="2138680" algn="l"/>
                <a:tab pos="4187190" algn="l"/>
                <a:tab pos="5969000" algn="l"/>
              </a:tabLst>
            </a:pPr>
            <a:r>
              <a:rPr lang="en-US" altLang="" sz="2400" dirty="0">
                <a:latin typeface="Times New Roman" panose="02020603050405020304"/>
                <a:cs typeface="Times New Roman" panose="02020603050405020304"/>
              </a:rPr>
              <a:t>4. </a:t>
            </a:r>
            <a:r>
              <a:rPr sz="2400" dirty="0">
                <a:latin typeface="Times New Roman" panose="02020603050405020304"/>
                <a:cs typeface="Times New Roman" panose="02020603050405020304"/>
              </a:rPr>
              <a:t>Drugs</a:t>
            </a:r>
            <a:r>
              <a:rPr sz="2400" spc="-5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manufacturers</a:t>
            </a:r>
            <a:endParaRPr sz="2400">
              <a:latin typeface="Times New Roman" panose="02020603050405020304"/>
              <a:cs typeface="Times New Roman" panose="02020603050405020304"/>
            </a:endParaRPr>
          </a:p>
          <a:p>
            <a:pPr marL="469900" lvl="1">
              <a:lnSpc>
                <a:spcPct val="100000"/>
              </a:lnSpc>
              <a:spcBef>
                <a:spcPts val="5"/>
              </a:spcBef>
              <a:tabLst>
                <a:tab pos="5348605" algn="l"/>
              </a:tabLst>
            </a:pPr>
            <a:r>
              <a:rPr lang="en-US" altLang="" sz="2400" dirty="0">
                <a:latin typeface="Times New Roman" panose="02020603050405020304"/>
                <a:cs typeface="Times New Roman" panose="02020603050405020304"/>
              </a:rPr>
              <a:t>5. </a:t>
            </a:r>
            <a:r>
              <a:rPr sz="2400" dirty="0">
                <a:latin typeface="Times New Roman" panose="02020603050405020304"/>
                <a:cs typeface="Times New Roman" panose="02020603050405020304"/>
              </a:rPr>
              <a:t>Consumer/patients</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 their</a:t>
            </a:r>
            <a:r>
              <a:rPr sz="2400" spc="-2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families</a:t>
            </a:r>
            <a:endParaRPr sz="2400">
              <a:latin typeface="Times New Roman" panose="02020603050405020304"/>
              <a:cs typeface="Times New Roman" panose="02020603050405020304"/>
            </a:endParaRPr>
          </a:p>
          <a:p>
            <a:pPr>
              <a:lnSpc>
                <a:spcPct val="100000"/>
              </a:lnSpc>
              <a:spcBef>
                <a:spcPts val="1350"/>
              </a:spcBef>
            </a:pPr>
            <a:endParaRPr sz="2400">
              <a:latin typeface="Times New Roman" panose="02020603050405020304"/>
              <a:cs typeface="Times New Roman" panose="02020603050405020304"/>
            </a:endParaRPr>
          </a:p>
          <a:p>
            <a:pPr marL="355600" marR="1106805" indent="-342900">
              <a:lnSpc>
                <a:spcPct val="100000"/>
              </a:lnSpc>
              <a:buFont typeface="Microsoft Sans Serif" panose="020B0604020202020204"/>
              <a:buChar char="•"/>
              <a:tabLst>
                <a:tab pos="355600" algn="l"/>
              </a:tabLst>
            </a:pPr>
            <a:r>
              <a:rPr sz="2800" b="1" spc="120" dirty="0">
                <a:solidFill>
                  <a:srgbClr val="0033CC"/>
                </a:solidFill>
                <a:latin typeface="Cambria" panose="02040503050406030204"/>
                <a:cs typeface="Cambria" panose="02040503050406030204"/>
              </a:rPr>
              <a:t>What</a:t>
            </a:r>
            <a:r>
              <a:rPr sz="2800" b="1" spc="345" dirty="0">
                <a:solidFill>
                  <a:srgbClr val="0033CC"/>
                </a:solidFill>
                <a:latin typeface="Cambria" panose="02040503050406030204"/>
                <a:cs typeface="Cambria" panose="02040503050406030204"/>
              </a:rPr>
              <a:t> </a:t>
            </a:r>
            <a:r>
              <a:rPr sz="2800" b="1" spc="65" dirty="0">
                <a:solidFill>
                  <a:srgbClr val="0033CC"/>
                </a:solidFill>
                <a:latin typeface="Cambria" panose="02040503050406030204"/>
                <a:cs typeface="Cambria" panose="02040503050406030204"/>
              </a:rPr>
              <a:t>are</a:t>
            </a:r>
            <a:r>
              <a:rPr sz="2800" b="1" spc="335" dirty="0">
                <a:solidFill>
                  <a:srgbClr val="0033CC"/>
                </a:solidFill>
                <a:latin typeface="Cambria" panose="02040503050406030204"/>
                <a:cs typeface="Cambria" panose="02040503050406030204"/>
              </a:rPr>
              <a:t> </a:t>
            </a:r>
            <a:r>
              <a:rPr sz="2800" b="1" spc="190" dirty="0">
                <a:solidFill>
                  <a:srgbClr val="0033CC"/>
                </a:solidFill>
                <a:latin typeface="Cambria" panose="02040503050406030204"/>
                <a:cs typeface="Cambria" panose="02040503050406030204"/>
              </a:rPr>
              <a:t>the</a:t>
            </a:r>
            <a:r>
              <a:rPr sz="2800" b="1" spc="355" dirty="0">
                <a:solidFill>
                  <a:srgbClr val="0033CC"/>
                </a:solidFill>
                <a:latin typeface="Cambria" panose="02040503050406030204"/>
                <a:cs typeface="Cambria" panose="02040503050406030204"/>
              </a:rPr>
              <a:t> </a:t>
            </a:r>
            <a:r>
              <a:rPr sz="2800" b="1" spc="165" dirty="0">
                <a:solidFill>
                  <a:srgbClr val="0033CC"/>
                </a:solidFill>
                <a:latin typeface="Cambria" panose="02040503050406030204"/>
                <a:cs typeface="Cambria" panose="02040503050406030204"/>
              </a:rPr>
              <a:t>causes</a:t>
            </a:r>
            <a:r>
              <a:rPr sz="2800" b="1" spc="335" dirty="0">
                <a:solidFill>
                  <a:srgbClr val="0033CC"/>
                </a:solidFill>
                <a:latin typeface="Cambria" panose="02040503050406030204"/>
                <a:cs typeface="Cambria" panose="02040503050406030204"/>
              </a:rPr>
              <a:t> </a:t>
            </a:r>
            <a:r>
              <a:rPr sz="2800" b="1" spc="135" dirty="0">
                <a:solidFill>
                  <a:srgbClr val="0033CC"/>
                </a:solidFill>
                <a:latin typeface="Cambria" panose="02040503050406030204"/>
                <a:cs typeface="Cambria" panose="02040503050406030204"/>
              </a:rPr>
              <a:t>of</a:t>
            </a:r>
            <a:r>
              <a:rPr sz="2800" b="1" spc="335" dirty="0">
                <a:solidFill>
                  <a:srgbClr val="0033CC"/>
                </a:solidFill>
                <a:latin typeface="Cambria" panose="02040503050406030204"/>
                <a:cs typeface="Cambria" panose="02040503050406030204"/>
              </a:rPr>
              <a:t> </a:t>
            </a:r>
            <a:r>
              <a:rPr sz="2800" b="1" spc="175" dirty="0">
                <a:solidFill>
                  <a:srgbClr val="0033CC"/>
                </a:solidFill>
                <a:latin typeface="Cambria" panose="02040503050406030204"/>
                <a:cs typeface="Cambria" panose="02040503050406030204"/>
              </a:rPr>
              <a:t>medication</a:t>
            </a:r>
            <a:r>
              <a:rPr sz="2800" b="1" spc="370" dirty="0">
                <a:solidFill>
                  <a:srgbClr val="0033CC"/>
                </a:solidFill>
                <a:latin typeface="Cambria" panose="02040503050406030204"/>
                <a:cs typeface="Cambria" panose="02040503050406030204"/>
              </a:rPr>
              <a:t> </a:t>
            </a:r>
            <a:r>
              <a:rPr sz="2800" b="1" spc="45" dirty="0">
                <a:solidFill>
                  <a:srgbClr val="0033CC"/>
                </a:solidFill>
                <a:latin typeface="Cambria" panose="02040503050406030204"/>
                <a:cs typeface="Cambria" panose="02040503050406030204"/>
              </a:rPr>
              <a:t>errors </a:t>
            </a:r>
            <a:r>
              <a:rPr sz="2800" b="1" spc="180" dirty="0">
                <a:solidFill>
                  <a:srgbClr val="0033CC"/>
                </a:solidFill>
                <a:latin typeface="Cambria" panose="02040503050406030204"/>
                <a:cs typeface="Cambria" panose="02040503050406030204"/>
              </a:rPr>
              <a:t>among</a:t>
            </a:r>
            <a:r>
              <a:rPr sz="2800" b="1" spc="340" dirty="0">
                <a:solidFill>
                  <a:srgbClr val="0033CC"/>
                </a:solidFill>
                <a:latin typeface="Cambria" panose="02040503050406030204"/>
                <a:cs typeface="Cambria" panose="02040503050406030204"/>
              </a:rPr>
              <a:t> </a:t>
            </a:r>
            <a:r>
              <a:rPr sz="2800" b="1" spc="130" dirty="0">
                <a:solidFill>
                  <a:srgbClr val="0033CC"/>
                </a:solidFill>
                <a:latin typeface="Cambria" panose="02040503050406030204"/>
                <a:cs typeface="Cambria" panose="02040503050406030204"/>
              </a:rPr>
              <a:t>nurses</a:t>
            </a:r>
            <a:r>
              <a:rPr sz="2800" b="1" spc="355" dirty="0">
                <a:solidFill>
                  <a:srgbClr val="0033CC"/>
                </a:solidFill>
                <a:latin typeface="Cambria" panose="02040503050406030204"/>
                <a:cs typeface="Cambria" panose="02040503050406030204"/>
              </a:rPr>
              <a:t> </a:t>
            </a:r>
            <a:r>
              <a:rPr sz="2800" b="1" spc="530" dirty="0">
                <a:solidFill>
                  <a:srgbClr val="0033CC"/>
                </a:solidFill>
                <a:latin typeface="Cambria" panose="02040503050406030204"/>
                <a:cs typeface="Cambria" panose="02040503050406030204"/>
              </a:rPr>
              <a:t>?</a:t>
            </a:r>
            <a:endParaRPr sz="2800">
              <a:latin typeface="Cambria" panose="02040503050406030204"/>
              <a:cs typeface="Cambria" panose="02040503050406030204"/>
            </a:endParaRPr>
          </a:p>
          <a:p>
            <a:pPr indent="0">
              <a:lnSpc>
                <a:spcPct val="100000"/>
              </a:lnSpc>
              <a:spcBef>
                <a:spcPts val="1425"/>
              </a:spcBef>
              <a:buFont typeface="Microsoft Sans Serif" panose="020B0604020202020204"/>
              <a:buNone/>
            </a:pPr>
            <a:r>
              <a:rPr sz="2800" b="1" spc="120" dirty="0">
                <a:solidFill>
                  <a:srgbClr val="0033CC"/>
                </a:solidFill>
                <a:latin typeface="Cambria" panose="02040503050406030204"/>
                <a:cs typeface="Cambria" panose="02040503050406030204"/>
              </a:rPr>
              <a:t>What</a:t>
            </a:r>
            <a:r>
              <a:rPr sz="2800" b="1" spc="355" dirty="0">
                <a:solidFill>
                  <a:srgbClr val="0033CC"/>
                </a:solidFill>
                <a:latin typeface="Cambria" panose="02040503050406030204"/>
                <a:cs typeface="Cambria" panose="02040503050406030204"/>
              </a:rPr>
              <a:t> </a:t>
            </a:r>
            <a:r>
              <a:rPr sz="2800" b="1" spc="65" dirty="0">
                <a:solidFill>
                  <a:srgbClr val="0033CC"/>
                </a:solidFill>
                <a:latin typeface="Cambria" panose="02040503050406030204"/>
                <a:cs typeface="Cambria" panose="02040503050406030204"/>
              </a:rPr>
              <a:t>are</a:t>
            </a:r>
            <a:r>
              <a:rPr sz="2800" b="1" spc="345" dirty="0">
                <a:solidFill>
                  <a:srgbClr val="0033CC"/>
                </a:solidFill>
                <a:latin typeface="Cambria" panose="02040503050406030204"/>
                <a:cs typeface="Cambria" panose="02040503050406030204"/>
              </a:rPr>
              <a:t> </a:t>
            </a:r>
            <a:r>
              <a:rPr sz="2800" b="1" spc="120" dirty="0">
                <a:solidFill>
                  <a:srgbClr val="0033CC"/>
                </a:solidFill>
                <a:latin typeface="Cambria" panose="02040503050406030204"/>
                <a:cs typeface="Cambria" panose="02040503050406030204"/>
              </a:rPr>
              <a:t>responsibilities</a:t>
            </a:r>
            <a:r>
              <a:rPr sz="2800" b="1" spc="380" dirty="0">
                <a:solidFill>
                  <a:srgbClr val="0033CC"/>
                </a:solidFill>
                <a:latin typeface="Cambria" panose="02040503050406030204"/>
                <a:cs typeface="Cambria" panose="02040503050406030204"/>
              </a:rPr>
              <a:t> </a:t>
            </a:r>
            <a:r>
              <a:rPr sz="2800" b="1" spc="110" dirty="0">
                <a:solidFill>
                  <a:srgbClr val="0033CC"/>
                </a:solidFill>
                <a:latin typeface="Cambria" panose="02040503050406030204"/>
                <a:cs typeface="Cambria" panose="02040503050406030204"/>
              </a:rPr>
              <a:t>of</a:t>
            </a:r>
            <a:r>
              <a:rPr sz="2800" b="1" dirty="0">
                <a:solidFill>
                  <a:srgbClr val="0033CC"/>
                </a:solidFill>
                <a:latin typeface="Cambria" panose="02040503050406030204"/>
                <a:cs typeface="Cambria" panose="02040503050406030204"/>
              </a:rPr>
              <a:t>	</a:t>
            </a:r>
            <a:r>
              <a:rPr sz="2800" b="1" spc="130" dirty="0">
                <a:solidFill>
                  <a:srgbClr val="0033CC"/>
                </a:solidFill>
                <a:latin typeface="Cambria" panose="02040503050406030204"/>
                <a:cs typeface="Cambria" panose="02040503050406030204"/>
              </a:rPr>
              <a:t>nurses</a:t>
            </a:r>
            <a:r>
              <a:rPr sz="2800" b="1" spc="340" dirty="0">
                <a:solidFill>
                  <a:srgbClr val="0033CC"/>
                </a:solidFill>
                <a:latin typeface="Cambria" panose="02040503050406030204"/>
                <a:cs typeface="Cambria" panose="02040503050406030204"/>
              </a:rPr>
              <a:t> </a:t>
            </a:r>
            <a:r>
              <a:rPr sz="2800" b="1" spc="85" dirty="0">
                <a:solidFill>
                  <a:srgbClr val="0033CC"/>
                </a:solidFill>
                <a:latin typeface="Cambria" panose="02040503050406030204"/>
                <a:cs typeface="Cambria" panose="02040503050406030204"/>
              </a:rPr>
              <a:t>regarding </a:t>
            </a:r>
            <a:r>
              <a:rPr sz="2800" b="1" spc="170" dirty="0">
                <a:solidFill>
                  <a:srgbClr val="0033CC"/>
                </a:solidFill>
                <a:latin typeface="Cambria" panose="02040503050406030204"/>
                <a:cs typeface="Cambria" panose="02040503050406030204"/>
              </a:rPr>
              <a:t>medication</a:t>
            </a:r>
            <a:r>
              <a:rPr sz="2800" b="1" spc="385" dirty="0">
                <a:solidFill>
                  <a:srgbClr val="0033CC"/>
                </a:solidFill>
                <a:latin typeface="Cambria" panose="02040503050406030204"/>
                <a:cs typeface="Cambria" panose="02040503050406030204"/>
              </a:rPr>
              <a:t> </a:t>
            </a:r>
            <a:r>
              <a:rPr sz="2800" b="1" spc="180" dirty="0">
                <a:solidFill>
                  <a:srgbClr val="0033CC"/>
                </a:solidFill>
                <a:latin typeface="Cambria" panose="02040503050406030204"/>
                <a:cs typeface="Cambria" panose="02040503050406030204"/>
              </a:rPr>
              <a:t>errors??</a:t>
            </a:r>
            <a:endParaRPr sz="2800">
              <a:latin typeface="Cambria" panose="02040503050406030204"/>
              <a:cs typeface="Cambria" panose="02040503050406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7508" y="182321"/>
            <a:ext cx="4951730" cy="1002030"/>
          </a:xfrm>
          <a:prstGeom prst="rect">
            <a:avLst/>
          </a:prstGeom>
        </p:spPr>
        <p:txBody>
          <a:bodyPr vert="horz" wrap="square" lIns="0" tIns="13335" rIns="0" bIns="0" rtlCol="0">
            <a:spAutoFit/>
          </a:bodyPr>
          <a:lstStyle/>
          <a:p>
            <a:pPr marL="635" algn="ctr">
              <a:lnSpc>
                <a:spcPct val="100000"/>
              </a:lnSpc>
              <a:spcBef>
                <a:spcPts val="105"/>
              </a:spcBef>
            </a:pPr>
            <a:r>
              <a:rPr sz="3200" dirty="0">
                <a:solidFill>
                  <a:srgbClr val="D50092"/>
                </a:solidFill>
              </a:rPr>
              <a:t>Nursing</a:t>
            </a:r>
            <a:r>
              <a:rPr sz="3200" spc="-25" dirty="0">
                <a:solidFill>
                  <a:srgbClr val="D50092"/>
                </a:solidFill>
              </a:rPr>
              <a:t> </a:t>
            </a:r>
            <a:r>
              <a:rPr sz="3200" spc="-10" dirty="0">
                <a:solidFill>
                  <a:srgbClr val="D50092"/>
                </a:solidFill>
              </a:rPr>
              <a:t>process</a:t>
            </a:r>
            <a:endParaRPr sz="3200"/>
          </a:p>
          <a:p>
            <a:pPr algn="ctr">
              <a:lnSpc>
                <a:spcPct val="100000"/>
              </a:lnSpc>
            </a:pPr>
            <a:r>
              <a:rPr sz="3200" b="0" dirty="0">
                <a:solidFill>
                  <a:srgbClr val="000099"/>
                </a:solidFill>
                <a:latin typeface="Times New Roman" panose="02020603050405020304"/>
                <a:cs typeface="Times New Roman" panose="02020603050405020304"/>
              </a:rPr>
              <a:t>Review</a:t>
            </a:r>
            <a:r>
              <a:rPr sz="3200" b="0" spc="-25" dirty="0">
                <a:solidFill>
                  <a:srgbClr val="000099"/>
                </a:solidFill>
                <a:latin typeface="Times New Roman" panose="02020603050405020304"/>
                <a:cs typeface="Times New Roman" panose="02020603050405020304"/>
              </a:rPr>
              <a:t> </a:t>
            </a:r>
            <a:r>
              <a:rPr sz="3200" b="0" dirty="0">
                <a:solidFill>
                  <a:srgbClr val="000099"/>
                </a:solidFill>
                <a:latin typeface="Times New Roman" panose="02020603050405020304"/>
                <a:cs typeface="Times New Roman" panose="02020603050405020304"/>
              </a:rPr>
              <a:t>of</a:t>
            </a:r>
            <a:r>
              <a:rPr sz="3200" b="0" spc="-10" dirty="0">
                <a:solidFill>
                  <a:srgbClr val="000099"/>
                </a:solidFill>
                <a:latin typeface="Times New Roman" panose="02020603050405020304"/>
                <a:cs typeface="Times New Roman" panose="02020603050405020304"/>
              </a:rPr>
              <a:t> </a:t>
            </a:r>
            <a:r>
              <a:rPr sz="3200" b="0" dirty="0">
                <a:solidFill>
                  <a:srgbClr val="000099"/>
                </a:solidFill>
                <a:latin typeface="Times New Roman" panose="02020603050405020304"/>
                <a:cs typeface="Times New Roman" panose="02020603050405020304"/>
              </a:rPr>
              <a:t>the</a:t>
            </a:r>
            <a:r>
              <a:rPr sz="3200" b="0" spc="-10" dirty="0">
                <a:solidFill>
                  <a:srgbClr val="000099"/>
                </a:solidFill>
                <a:latin typeface="Times New Roman" panose="02020603050405020304"/>
                <a:cs typeface="Times New Roman" panose="02020603050405020304"/>
              </a:rPr>
              <a:t> </a:t>
            </a:r>
            <a:r>
              <a:rPr sz="3200" b="0" dirty="0">
                <a:solidFill>
                  <a:srgbClr val="000099"/>
                </a:solidFill>
                <a:latin typeface="Times New Roman" panose="02020603050405020304"/>
                <a:cs typeface="Times New Roman" panose="02020603050405020304"/>
              </a:rPr>
              <a:t>nursing</a:t>
            </a:r>
            <a:r>
              <a:rPr sz="3200" b="0" spc="-35" dirty="0">
                <a:solidFill>
                  <a:srgbClr val="000099"/>
                </a:solidFill>
                <a:latin typeface="Times New Roman" panose="02020603050405020304"/>
                <a:cs typeface="Times New Roman" panose="02020603050405020304"/>
              </a:rPr>
              <a:t> </a:t>
            </a:r>
            <a:r>
              <a:rPr sz="3200" b="0" spc="-10" dirty="0">
                <a:solidFill>
                  <a:srgbClr val="000099"/>
                </a:solidFill>
                <a:latin typeface="Times New Roman" panose="02020603050405020304"/>
                <a:cs typeface="Times New Roman" panose="02020603050405020304"/>
              </a:rPr>
              <a:t>process</a:t>
            </a:r>
            <a:endParaRPr sz="3200">
              <a:latin typeface="Times New Roman" panose="02020603050405020304"/>
              <a:cs typeface="Times New Roman" panose="02020603050405020304"/>
            </a:endParaRPr>
          </a:p>
        </p:txBody>
      </p:sp>
      <p:sp>
        <p:nvSpPr>
          <p:cNvPr id="3" name="object 3"/>
          <p:cNvSpPr txBox="1"/>
          <p:nvPr/>
        </p:nvSpPr>
        <p:spPr>
          <a:xfrm>
            <a:off x="114300" y="1160780"/>
            <a:ext cx="8773160" cy="5365115"/>
          </a:xfrm>
          <a:prstGeom prst="rect">
            <a:avLst/>
          </a:prstGeom>
        </p:spPr>
        <p:txBody>
          <a:bodyPr vert="horz" wrap="square" lIns="0" tIns="85725" rIns="0" bIns="0" rtlCol="0">
            <a:noAutofit/>
          </a:bodyPr>
          <a:lstStyle/>
          <a:p>
            <a:pPr marL="355600" marR="5080" indent="-342900">
              <a:lnSpc>
                <a:spcPct val="80000"/>
              </a:lnSpc>
              <a:spcBef>
                <a:spcPts val="675"/>
              </a:spcBef>
              <a:buFont typeface="Microsoft Sans Serif" panose="020B0604020202020204"/>
              <a:buChar char="•"/>
              <a:tabLst>
                <a:tab pos="355600" algn="l"/>
              </a:tabLst>
            </a:pPr>
            <a:r>
              <a:rPr sz="2400" spc="-10" dirty="0">
                <a:latin typeface="Times New Roman" panose="02020603050405020304"/>
                <a:cs typeface="Times New Roman" panose="02020603050405020304"/>
              </a:rPr>
              <a:t>Generally,</a:t>
            </a:r>
            <a:r>
              <a:rPr sz="2400" spc="-6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nursing</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process</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conceptual</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framework</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for</a:t>
            </a:r>
            <a:r>
              <a:rPr sz="2400" spc="-2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nursing </a:t>
            </a:r>
            <a:r>
              <a:rPr sz="2400" dirty="0">
                <a:latin typeface="Times New Roman" panose="02020603050405020304"/>
                <a:cs typeface="Times New Roman" panose="02020603050405020304"/>
              </a:rPr>
              <a:t>action</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that</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nurses</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employ to</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guide</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health</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care</a:t>
            </a:r>
            <a:r>
              <a:rPr sz="2400" spc="-3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delivery.</a:t>
            </a:r>
            <a:endParaRPr sz="2400">
              <a:latin typeface="Times New Roman" panose="02020603050405020304"/>
              <a:cs typeface="Times New Roman" panose="02020603050405020304"/>
            </a:endParaRPr>
          </a:p>
          <a:p>
            <a:pPr marL="354965" indent="-342265">
              <a:lnSpc>
                <a:spcPts val="2590"/>
              </a:lnSpc>
              <a:spcBef>
                <a:spcPts val="5"/>
              </a:spcBef>
              <a:buFont typeface="Microsoft Sans Serif" panose="020B0604020202020204"/>
              <a:buChar char="•"/>
              <a:tabLst>
                <a:tab pos="354965" algn="l"/>
              </a:tabLst>
            </a:pPr>
            <a:r>
              <a:rPr sz="2400" dirty="0">
                <a:latin typeface="Times New Roman" panose="02020603050405020304"/>
                <a:cs typeface="Times New Roman" panose="02020603050405020304"/>
              </a:rPr>
              <a:t>Using</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nursing</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process requires</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practice,</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experience,</a:t>
            </a:r>
            <a:r>
              <a:rPr sz="2400" spc="-4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 </a:t>
            </a:r>
            <a:r>
              <a:rPr sz="2400" spc="-50" dirty="0">
                <a:latin typeface="Times New Roman" panose="02020603050405020304"/>
                <a:cs typeface="Times New Roman" panose="02020603050405020304"/>
              </a:rPr>
              <a:t>a</a:t>
            </a:r>
            <a:endParaRPr sz="2400">
              <a:latin typeface="Times New Roman" panose="02020603050405020304"/>
              <a:cs typeface="Times New Roman" panose="02020603050405020304"/>
            </a:endParaRPr>
          </a:p>
          <a:p>
            <a:pPr marL="355600">
              <a:lnSpc>
                <a:spcPts val="2590"/>
              </a:lnSpc>
            </a:pPr>
            <a:r>
              <a:rPr sz="2400" dirty="0">
                <a:latin typeface="Times New Roman" panose="02020603050405020304"/>
                <a:cs typeface="Times New Roman" panose="02020603050405020304"/>
              </a:rPr>
              <a:t>constant</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updating</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 </a:t>
            </a:r>
            <a:r>
              <a:rPr sz="2400" spc="-10" dirty="0">
                <a:latin typeface="Times New Roman" panose="02020603050405020304"/>
                <a:cs typeface="Times New Roman" panose="02020603050405020304"/>
              </a:rPr>
              <a:t>knowledge.</a:t>
            </a:r>
            <a:endParaRPr sz="2400">
              <a:latin typeface="Times New Roman" panose="02020603050405020304"/>
              <a:cs typeface="Times New Roman" panose="02020603050405020304"/>
            </a:endParaRPr>
          </a:p>
          <a:p>
            <a:pPr marL="355600" marR="26035" indent="-342900">
              <a:lnSpc>
                <a:spcPts val="2300"/>
              </a:lnSpc>
              <a:spcBef>
                <a:spcPts val="560"/>
              </a:spcBef>
              <a:buFont typeface="Microsoft Sans Serif" panose="020B0604020202020204"/>
              <a:buChar char="•"/>
              <a:tabLst>
                <a:tab pos="355600" algn="l"/>
              </a:tabLst>
            </a:pPr>
            <a:r>
              <a:rPr sz="2400" dirty="0">
                <a:latin typeface="Times New Roman" panose="02020603050405020304"/>
                <a:cs typeface="Times New Roman" panose="02020603050405020304"/>
              </a:rPr>
              <a:t>Nursing</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process</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systematic</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way</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gathering</a:t>
            </a:r>
            <a:r>
              <a:rPr sz="2400" spc="-4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3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using </a:t>
            </a:r>
            <a:r>
              <a:rPr sz="2400" dirty="0">
                <a:latin typeface="Times New Roman" panose="02020603050405020304"/>
                <a:cs typeface="Times New Roman" panose="02020603050405020304"/>
              </a:rPr>
              <a:t>information</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to</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plan</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provide</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individualized</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effective</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patient</a:t>
            </a:r>
            <a:r>
              <a:rPr sz="2400" spc="-5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care.</a:t>
            </a:r>
            <a:endParaRPr sz="2400">
              <a:latin typeface="Times New Roman" panose="02020603050405020304"/>
              <a:cs typeface="Times New Roman" panose="02020603050405020304"/>
            </a:endParaRPr>
          </a:p>
          <a:p>
            <a:pPr marL="354965" indent="-342265">
              <a:lnSpc>
                <a:spcPts val="2590"/>
              </a:lnSpc>
              <a:spcBef>
                <a:spcPts val="25"/>
              </a:spcBef>
              <a:buFont typeface="Microsoft Sans Serif" panose="020B0604020202020204"/>
              <a:buChar char="•"/>
              <a:tabLst>
                <a:tab pos="354965" algn="l"/>
              </a:tabLst>
            </a:pPr>
            <a:r>
              <a:rPr sz="2400" dirty="0">
                <a:latin typeface="Times New Roman" panose="02020603050405020304"/>
                <a:cs typeface="Times New Roman" panose="02020603050405020304"/>
              </a:rPr>
              <a:t>Nursing</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Process</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consisting</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10" dirty="0">
                <a:latin typeface="Times New Roman" panose="02020603050405020304"/>
                <a:cs typeface="Times New Roman" panose="02020603050405020304"/>
              </a:rPr>
              <a:t> problem-</a:t>
            </a:r>
            <a:r>
              <a:rPr sz="2400" dirty="0">
                <a:latin typeface="Times New Roman" panose="02020603050405020304"/>
                <a:cs typeface="Times New Roman" panose="02020603050405020304"/>
              </a:rPr>
              <a:t>solving</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steps</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that</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must</a:t>
            </a:r>
            <a:r>
              <a:rPr sz="2400" spc="2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be</a:t>
            </a:r>
            <a:endParaRPr sz="2400">
              <a:latin typeface="Times New Roman" panose="02020603050405020304"/>
              <a:cs typeface="Times New Roman" panose="02020603050405020304"/>
            </a:endParaRPr>
          </a:p>
          <a:p>
            <a:pPr marR="537210" algn="ctr">
              <a:lnSpc>
                <a:spcPts val="2585"/>
              </a:lnSpc>
            </a:pPr>
            <a:r>
              <a:rPr sz="2400" dirty="0">
                <a:latin typeface="Times New Roman" panose="02020603050405020304"/>
                <a:cs typeface="Times New Roman" panose="02020603050405020304"/>
              </a:rPr>
              <a:t>involved</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in</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all</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steps</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taken</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by</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nurse</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in</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caring</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for</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10" dirty="0">
                <a:latin typeface="Times New Roman" panose="02020603050405020304"/>
                <a:cs typeface="Times New Roman" panose="02020603050405020304"/>
              </a:rPr>
              <a:t> patient</a:t>
            </a:r>
          </a:p>
          <a:p>
            <a:pPr marR="537210" algn="l">
              <a:lnSpc>
                <a:spcPts val="2585"/>
              </a:lnSpc>
            </a:pPr>
            <a:r>
              <a:rPr sz="2800" b="1" spc="-10" dirty="0">
                <a:solidFill>
                  <a:srgbClr val="D50092"/>
                </a:solidFill>
                <a:latin typeface="Times New Roman" panose="02020603050405020304"/>
                <a:cs typeface="Times New Roman" panose="02020603050405020304"/>
              </a:rPr>
              <a:t>phases</a:t>
            </a:r>
            <a:r>
              <a:rPr lang="en-US" altLang="" sz="2800" b="1" spc="-10" dirty="0">
                <a:solidFill>
                  <a:srgbClr val="D50092"/>
                </a:solidFill>
                <a:latin typeface="Times New Roman" panose="02020603050405020304"/>
                <a:cs typeface="Times New Roman" panose="02020603050405020304"/>
              </a:rPr>
              <a:t> of Nursing process</a:t>
            </a:r>
            <a:endParaRPr sz="2800">
              <a:latin typeface="Times New Roman" panose="02020603050405020304"/>
              <a:cs typeface="Times New Roman" panose="02020603050405020304"/>
            </a:endParaRPr>
          </a:p>
          <a:p>
            <a:pPr marL="527685" indent="-514985">
              <a:lnSpc>
                <a:spcPct val="100000"/>
              </a:lnSpc>
              <a:spcBef>
                <a:spcPts val="15"/>
              </a:spcBef>
              <a:buAutoNum type="arabicPeriod"/>
              <a:tabLst>
                <a:tab pos="527685" algn="l"/>
              </a:tabLst>
            </a:pPr>
            <a:r>
              <a:rPr sz="2400" spc="-10" dirty="0">
                <a:latin typeface="Times New Roman" panose="02020603050405020304"/>
                <a:cs typeface="Times New Roman" panose="02020603050405020304"/>
              </a:rPr>
              <a:t>Assessment</a:t>
            </a:r>
            <a:endParaRPr sz="2400">
              <a:latin typeface="Times New Roman" panose="02020603050405020304"/>
              <a:cs typeface="Times New Roman" panose="02020603050405020304"/>
            </a:endParaRPr>
          </a:p>
          <a:p>
            <a:pPr marL="527685" indent="-514985">
              <a:lnSpc>
                <a:spcPct val="100000"/>
              </a:lnSpc>
              <a:spcBef>
                <a:spcPts val="5"/>
              </a:spcBef>
              <a:buAutoNum type="arabicPeriod"/>
              <a:tabLst>
                <a:tab pos="527685" algn="l"/>
              </a:tabLst>
            </a:pPr>
            <a:r>
              <a:rPr sz="2400" dirty="0">
                <a:latin typeface="Times New Roman" panose="02020603050405020304"/>
                <a:cs typeface="Times New Roman" panose="02020603050405020304"/>
              </a:rPr>
              <a:t>Analysis</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(nursing</a:t>
            </a:r>
            <a:r>
              <a:rPr sz="2400" spc="-3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diagnosis)</a:t>
            </a:r>
            <a:endParaRPr sz="2400">
              <a:latin typeface="Times New Roman" panose="02020603050405020304"/>
              <a:cs typeface="Times New Roman" panose="02020603050405020304"/>
            </a:endParaRPr>
          </a:p>
          <a:p>
            <a:pPr marL="527685" indent="-514985">
              <a:lnSpc>
                <a:spcPct val="100000"/>
              </a:lnSpc>
              <a:buAutoNum type="arabicPeriod"/>
              <a:tabLst>
                <a:tab pos="527685" algn="l"/>
              </a:tabLst>
            </a:pPr>
            <a:r>
              <a:rPr sz="2400" dirty="0">
                <a:latin typeface="Times New Roman" panose="02020603050405020304"/>
                <a:cs typeface="Times New Roman" panose="02020603050405020304"/>
              </a:rPr>
              <a:t>Planning-</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individual</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for each</a:t>
            </a:r>
            <a:r>
              <a:rPr sz="2400" spc="-3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patient</a:t>
            </a:r>
            <a:endParaRPr sz="2400">
              <a:latin typeface="Times New Roman" panose="02020603050405020304"/>
              <a:cs typeface="Times New Roman" panose="02020603050405020304"/>
            </a:endParaRPr>
          </a:p>
          <a:p>
            <a:pPr marL="527685" marR="182880" indent="-515620">
              <a:lnSpc>
                <a:spcPts val="2300"/>
              </a:lnSpc>
              <a:spcBef>
                <a:spcPts val="555"/>
              </a:spcBef>
              <a:buAutoNum type="arabicPeriod"/>
              <a:tabLst>
                <a:tab pos="527685" algn="l"/>
              </a:tabLst>
            </a:pPr>
            <a:r>
              <a:rPr sz="2400" dirty="0">
                <a:latin typeface="Times New Roman" panose="02020603050405020304"/>
                <a:cs typeface="Times New Roman" panose="02020603050405020304"/>
              </a:rPr>
              <a:t>Implementation-</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some</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collaborative</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with</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physician</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others</a:t>
            </a:r>
            <a:r>
              <a:rPr sz="2400" spc="-15"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are </a:t>
            </a:r>
            <a:r>
              <a:rPr sz="2400" spc="-10" dirty="0">
                <a:latin typeface="Times New Roman" panose="02020603050405020304"/>
                <a:cs typeface="Times New Roman" panose="02020603050405020304"/>
              </a:rPr>
              <a:t>independent</a:t>
            </a:r>
            <a:endParaRPr sz="2400">
              <a:latin typeface="Times New Roman" panose="02020603050405020304"/>
              <a:cs typeface="Times New Roman" panose="02020603050405020304"/>
            </a:endParaRPr>
          </a:p>
          <a:p>
            <a:pPr marL="527685" indent="-514985">
              <a:lnSpc>
                <a:spcPct val="100000"/>
              </a:lnSpc>
              <a:spcBef>
                <a:spcPts val="25"/>
              </a:spcBef>
              <a:buAutoNum type="arabicPeriod"/>
              <a:tabLst>
                <a:tab pos="527685" algn="l"/>
              </a:tabLst>
            </a:pPr>
            <a:r>
              <a:rPr sz="2400" spc="-10" dirty="0">
                <a:latin typeface="Times New Roman" panose="02020603050405020304"/>
                <a:cs typeface="Times New Roman" panose="02020603050405020304"/>
              </a:rPr>
              <a:t>Evaluation</a:t>
            </a:r>
            <a:endParaRPr sz="2400">
              <a:latin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6085" y="2198370"/>
            <a:ext cx="1804670" cy="1122680"/>
          </a:xfrm>
          <a:prstGeom prst="rect">
            <a:avLst/>
          </a:prstGeom>
        </p:spPr>
        <p:txBody>
          <a:bodyPr vert="horz" wrap="square" lIns="0" tIns="12700" rIns="0" bIns="0" rtlCol="0">
            <a:spAutoFit/>
          </a:bodyPr>
          <a:lstStyle/>
          <a:p>
            <a:pPr marL="12700" marR="5080" indent="25400">
              <a:lnSpc>
                <a:spcPct val="100000"/>
              </a:lnSpc>
              <a:spcBef>
                <a:spcPts val="100"/>
              </a:spcBef>
            </a:pPr>
            <a:r>
              <a:rPr sz="3600" spc="-10" dirty="0">
                <a:solidFill>
                  <a:srgbClr val="000099"/>
                </a:solidFill>
                <a:latin typeface="Arial" panose="020B0604020202020204"/>
                <a:cs typeface="Arial" panose="020B0604020202020204"/>
              </a:rPr>
              <a:t>Nursing Process</a:t>
            </a:r>
            <a:endParaRPr sz="3600">
              <a:latin typeface="Arial" panose="020B0604020202020204"/>
              <a:cs typeface="Arial" panose="020B0604020202020204"/>
            </a:endParaRPr>
          </a:p>
        </p:txBody>
      </p:sp>
      <p:grpSp>
        <p:nvGrpSpPr>
          <p:cNvPr id="3" name="object 3"/>
          <p:cNvGrpSpPr/>
          <p:nvPr/>
        </p:nvGrpSpPr>
        <p:grpSpPr>
          <a:xfrm>
            <a:off x="0" y="92964"/>
            <a:ext cx="9144000" cy="5393690"/>
            <a:chOff x="0" y="92964"/>
            <a:chExt cx="9144000" cy="5393690"/>
          </a:xfrm>
        </p:grpSpPr>
        <p:pic>
          <p:nvPicPr>
            <p:cNvPr id="4" name="object 4"/>
            <p:cNvPicPr/>
            <p:nvPr/>
          </p:nvPicPr>
          <p:blipFill>
            <a:blip r:embed="rId2" cstate="print"/>
            <a:stretch>
              <a:fillRect/>
            </a:stretch>
          </p:blipFill>
          <p:spPr>
            <a:xfrm>
              <a:off x="0" y="118872"/>
              <a:ext cx="9144000" cy="5367528"/>
            </a:xfrm>
            <a:prstGeom prst="rect">
              <a:avLst/>
            </a:prstGeom>
          </p:spPr>
        </p:pic>
        <p:pic>
          <p:nvPicPr>
            <p:cNvPr id="5" name="object 5"/>
            <p:cNvPicPr/>
            <p:nvPr/>
          </p:nvPicPr>
          <p:blipFill>
            <a:blip r:embed="rId3" cstate="print"/>
            <a:stretch>
              <a:fillRect/>
            </a:stretch>
          </p:blipFill>
          <p:spPr>
            <a:xfrm>
              <a:off x="0" y="92964"/>
              <a:ext cx="9144000" cy="5369051"/>
            </a:xfrm>
            <a:prstGeom prst="rect">
              <a:avLst/>
            </a:prstGeom>
          </p:spPr>
        </p:pic>
        <p:pic>
          <p:nvPicPr>
            <p:cNvPr id="6" name="object 6"/>
            <p:cNvPicPr/>
            <p:nvPr/>
          </p:nvPicPr>
          <p:blipFill>
            <a:blip r:embed="rId4" cstate="print"/>
            <a:stretch>
              <a:fillRect/>
            </a:stretch>
          </p:blipFill>
          <p:spPr>
            <a:xfrm>
              <a:off x="0" y="234442"/>
              <a:ext cx="9144000" cy="5085207"/>
            </a:xfrm>
            <a:prstGeom prst="rect">
              <a:avLst/>
            </a:prstGeom>
          </p:spPr>
        </p:pic>
      </p:grpSp>
      <p:sp>
        <p:nvSpPr>
          <p:cNvPr id="7" name="object 7"/>
          <p:cNvSpPr txBox="1"/>
          <p:nvPr/>
        </p:nvSpPr>
        <p:spPr>
          <a:xfrm>
            <a:off x="35153" y="5118608"/>
            <a:ext cx="8994775" cy="1122680"/>
          </a:xfrm>
          <a:prstGeom prst="rect">
            <a:avLst/>
          </a:prstGeom>
        </p:spPr>
        <p:txBody>
          <a:bodyPr vert="horz" wrap="square" lIns="0" tIns="12700" rIns="0" bIns="0" rtlCol="0">
            <a:spAutoFit/>
          </a:bodyPr>
          <a:lstStyle/>
          <a:p>
            <a:pPr marL="355600" marR="5080" indent="-342900">
              <a:lnSpc>
                <a:spcPct val="100000"/>
              </a:lnSpc>
              <a:spcBef>
                <a:spcPts val="100"/>
              </a:spcBef>
              <a:buFont typeface="Microsoft Sans Serif" panose="020B0604020202020204"/>
              <a:buChar char="•"/>
              <a:tabLst>
                <a:tab pos="355600" algn="l"/>
              </a:tabLst>
            </a:pPr>
            <a:r>
              <a:rPr sz="2400" dirty="0">
                <a:latin typeface="Times New Roman" panose="02020603050405020304"/>
                <a:cs typeface="Times New Roman" panose="02020603050405020304"/>
              </a:rPr>
              <a:t>Assessment</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interventions</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are</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“action”</a:t>
            </a:r>
            <a:r>
              <a:rPr sz="2400" spc="-65" dirty="0">
                <a:latin typeface="Times New Roman" panose="02020603050405020304"/>
                <a:cs typeface="Times New Roman" panose="02020603050405020304"/>
              </a:rPr>
              <a:t> </a:t>
            </a:r>
            <a:r>
              <a:rPr sz="2400" dirty="0">
                <a:latin typeface="Times New Roman" panose="02020603050405020304"/>
                <a:cs typeface="Times New Roman" panose="02020603050405020304"/>
              </a:rPr>
              <a:t>phases</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whereas</a:t>
            </a:r>
            <a:r>
              <a:rPr sz="2400" spc="-1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analysis </a:t>
            </a:r>
            <a:r>
              <a:rPr sz="2400" dirty="0">
                <a:latin typeface="Times New Roman" panose="02020603050405020304"/>
                <a:cs typeface="Times New Roman" panose="02020603050405020304"/>
              </a:rPr>
              <a:t>of</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assessment</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data</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establishing</a:t>
            </a:r>
            <a:r>
              <a:rPr sz="2400" spc="-60" dirty="0">
                <a:latin typeface="Times New Roman" panose="02020603050405020304"/>
                <a:cs typeface="Times New Roman" panose="02020603050405020304"/>
              </a:rPr>
              <a:t> </a:t>
            </a:r>
            <a:r>
              <a:rPr sz="2400" dirty="0">
                <a:latin typeface="Times New Roman" panose="02020603050405020304"/>
                <a:cs typeface="Times New Roman" panose="02020603050405020304"/>
              </a:rPr>
              <a:t>nursing</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diagnoses</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goals</a:t>
            </a:r>
            <a:r>
              <a:rPr sz="2400" spc="-2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are </a:t>
            </a:r>
            <a:r>
              <a:rPr sz="2400" dirty="0">
                <a:latin typeface="Times New Roman" panose="02020603050405020304"/>
                <a:cs typeface="Times New Roman" panose="02020603050405020304"/>
              </a:rPr>
              <a:t>“thinking”</a:t>
            </a:r>
            <a:r>
              <a:rPr sz="2400" spc="-2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phases.</a:t>
            </a:r>
            <a:endParaRPr sz="2400">
              <a:latin typeface="Times New Roman" panose="02020603050405020304"/>
              <a:cs typeface="Times New Roman" panose="02020603050405020304"/>
            </a:endParaRPr>
          </a:p>
        </p:txBody>
      </p:sp>
      <p:grpSp>
        <p:nvGrpSpPr>
          <p:cNvPr id="8" name="object 8"/>
          <p:cNvGrpSpPr/>
          <p:nvPr/>
        </p:nvGrpSpPr>
        <p:grpSpPr>
          <a:xfrm>
            <a:off x="1115618" y="62992"/>
            <a:ext cx="2490470" cy="4512945"/>
            <a:chOff x="1115618" y="62992"/>
            <a:chExt cx="2490470" cy="4512945"/>
          </a:xfrm>
        </p:grpSpPr>
        <p:sp>
          <p:nvSpPr>
            <p:cNvPr id="9" name="object 9"/>
            <p:cNvSpPr/>
            <p:nvPr/>
          </p:nvSpPr>
          <p:spPr>
            <a:xfrm>
              <a:off x="2659380" y="75692"/>
              <a:ext cx="934085" cy="752475"/>
            </a:xfrm>
            <a:custGeom>
              <a:avLst/>
              <a:gdLst/>
              <a:ahLst/>
              <a:cxnLst/>
              <a:rect l="l" t="t" r="r" b="b"/>
              <a:pathLst>
                <a:path w="934085" h="752475">
                  <a:moveTo>
                    <a:pt x="162306" y="0"/>
                  </a:moveTo>
                  <a:lnTo>
                    <a:pt x="0" y="280415"/>
                  </a:lnTo>
                  <a:lnTo>
                    <a:pt x="572134" y="611758"/>
                  </a:lnTo>
                  <a:lnTo>
                    <a:pt x="490981" y="751966"/>
                  </a:lnTo>
                  <a:lnTo>
                    <a:pt x="933704" y="633983"/>
                  </a:lnTo>
                  <a:lnTo>
                    <a:pt x="815720" y="191134"/>
                  </a:lnTo>
                  <a:lnTo>
                    <a:pt x="734568" y="331342"/>
                  </a:lnTo>
                  <a:lnTo>
                    <a:pt x="162306" y="0"/>
                  </a:lnTo>
                  <a:close/>
                </a:path>
              </a:pathLst>
            </a:custGeom>
            <a:solidFill>
              <a:srgbClr val="4F81BC"/>
            </a:solidFill>
          </p:spPr>
          <p:txBody>
            <a:bodyPr wrap="square" lIns="0" tIns="0" rIns="0" bIns="0" rtlCol="0"/>
            <a:lstStyle/>
            <a:p>
              <a:endParaRPr/>
            </a:p>
          </p:txBody>
        </p:sp>
        <p:sp>
          <p:nvSpPr>
            <p:cNvPr id="10" name="object 10"/>
            <p:cNvSpPr/>
            <p:nvPr/>
          </p:nvSpPr>
          <p:spPr>
            <a:xfrm>
              <a:off x="2659380" y="75692"/>
              <a:ext cx="934085" cy="752475"/>
            </a:xfrm>
            <a:custGeom>
              <a:avLst/>
              <a:gdLst/>
              <a:ahLst/>
              <a:cxnLst/>
              <a:rect l="l" t="t" r="r" b="b"/>
              <a:pathLst>
                <a:path w="934085" h="752475">
                  <a:moveTo>
                    <a:pt x="490981" y="751966"/>
                  </a:moveTo>
                  <a:lnTo>
                    <a:pt x="572134" y="611758"/>
                  </a:lnTo>
                  <a:lnTo>
                    <a:pt x="0" y="280415"/>
                  </a:lnTo>
                  <a:lnTo>
                    <a:pt x="162306" y="0"/>
                  </a:lnTo>
                  <a:lnTo>
                    <a:pt x="734568" y="331342"/>
                  </a:lnTo>
                  <a:lnTo>
                    <a:pt x="815720" y="191134"/>
                  </a:lnTo>
                  <a:lnTo>
                    <a:pt x="933704" y="633983"/>
                  </a:lnTo>
                  <a:lnTo>
                    <a:pt x="490981" y="751966"/>
                  </a:lnTo>
                  <a:close/>
                </a:path>
              </a:pathLst>
            </a:custGeom>
            <a:ln w="25400">
              <a:solidFill>
                <a:srgbClr val="385D89"/>
              </a:solidFill>
            </a:ln>
          </p:spPr>
          <p:txBody>
            <a:bodyPr wrap="square" lIns="0" tIns="0" rIns="0" bIns="0" rtlCol="0"/>
            <a:lstStyle/>
            <a:p>
              <a:endParaRPr/>
            </a:p>
          </p:txBody>
        </p:sp>
        <p:sp>
          <p:nvSpPr>
            <p:cNvPr id="11" name="object 11"/>
            <p:cNvSpPr/>
            <p:nvPr/>
          </p:nvSpPr>
          <p:spPr>
            <a:xfrm>
              <a:off x="1128318" y="4004690"/>
              <a:ext cx="803275" cy="558165"/>
            </a:xfrm>
            <a:custGeom>
              <a:avLst/>
              <a:gdLst/>
              <a:ahLst/>
              <a:cxnLst/>
              <a:rect l="l" t="t" r="r" b="b"/>
              <a:pathLst>
                <a:path w="803275" h="558164">
                  <a:moveTo>
                    <a:pt x="595198" y="0"/>
                  </a:moveTo>
                  <a:lnTo>
                    <a:pt x="559638" y="139572"/>
                  </a:lnTo>
                  <a:lnTo>
                    <a:pt x="71145" y="14985"/>
                  </a:lnTo>
                  <a:lnTo>
                    <a:pt x="0" y="294131"/>
                  </a:lnTo>
                  <a:lnTo>
                    <a:pt x="488391" y="418591"/>
                  </a:lnTo>
                  <a:lnTo>
                    <a:pt x="452831" y="558164"/>
                  </a:lnTo>
                  <a:lnTo>
                    <a:pt x="803097" y="350265"/>
                  </a:lnTo>
                  <a:lnTo>
                    <a:pt x="595198" y="0"/>
                  </a:lnTo>
                  <a:close/>
                </a:path>
              </a:pathLst>
            </a:custGeom>
            <a:solidFill>
              <a:srgbClr val="4F81BC"/>
            </a:solidFill>
          </p:spPr>
          <p:txBody>
            <a:bodyPr wrap="square" lIns="0" tIns="0" rIns="0" bIns="0" rtlCol="0"/>
            <a:lstStyle/>
            <a:p>
              <a:endParaRPr/>
            </a:p>
          </p:txBody>
        </p:sp>
        <p:sp>
          <p:nvSpPr>
            <p:cNvPr id="12" name="object 12"/>
            <p:cNvSpPr/>
            <p:nvPr/>
          </p:nvSpPr>
          <p:spPr>
            <a:xfrm>
              <a:off x="1128318" y="4004690"/>
              <a:ext cx="803275" cy="558165"/>
            </a:xfrm>
            <a:custGeom>
              <a:avLst/>
              <a:gdLst/>
              <a:ahLst/>
              <a:cxnLst/>
              <a:rect l="l" t="t" r="r" b="b"/>
              <a:pathLst>
                <a:path w="803275" h="558164">
                  <a:moveTo>
                    <a:pt x="452831" y="558164"/>
                  </a:moveTo>
                  <a:lnTo>
                    <a:pt x="488391" y="418591"/>
                  </a:lnTo>
                  <a:lnTo>
                    <a:pt x="0" y="294131"/>
                  </a:lnTo>
                  <a:lnTo>
                    <a:pt x="71145" y="14985"/>
                  </a:lnTo>
                  <a:lnTo>
                    <a:pt x="559638" y="139572"/>
                  </a:lnTo>
                  <a:lnTo>
                    <a:pt x="595198" y="0"/>
                  </a:lnTo>
                  <a:lnTo>
                    <a:pt x="803097" y="350265"/>
                  </a:lnTo>
                  <a:lnTo>
                    <a:pt x="452831" y="558164"/>
                  </a:lnTo>
                  <a:close/>
                </a:path>
              </a:pathLst>
            </a:custGeom>
            <a:ln w="25400">
              <a:solidFill>
                <a:srgbClr val="385D89"/>
              </a:solidFill>
            </a:ln>
          </p:spPr>
          <p:txBody>
            <a:bodyPr wrap="square" lIns="0" tIns="0" rIns="0" bIns="0" rtlCol="0"/>
            <a:lstStyle/>
            <a:p>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252" y="-90093"/>
            <a:ext cx="8267700" cy="697230"/>
          </a:xfrm>
          <a:prstGeom prst="rect">
            <a:avLst/>
          </a:prstGeom>
        </p:spPr>
        <p:txBody>
          <a:bodyPr vert="horz" wrap="square" lIns="0" tIns="13335" rIns="0" bIns="0" rtlCol="0">
            <a:spAutoFit/>
          </a:bodyPr>
          <a:lstStyle/>
          <a:p>
            <a:pPr marL="12700">
              <a:lnSpc>
                <a:spcPct val="100000"/>
              </a:lnSpc>
              <a:spcBef>
                <a:spcPts val="105"/>
              </a:spcBef>
            </a:pPr>
            <a:r>
              <a:rPr sz="4400" dirty="0">
                <a:solidFill>
                  <a:srgbClr val="D50092"/>
                </a:solidFill>
                <a:latin typeface="Calibri" panose="020F0502020204030204"/>
                <a:cs typeface="Calibri" panose="020F0502020204030204"/>
              </a:rPr>
              <a:t>Nursing</a:t>
            </a:r>
            <a:r>
              <a:rPr sz="4400" spc="-80" dirty="0">
                <a:solidFill>
                  <a:srgbClr val="D50092"/>
                </a:solidFill>
                <a:latin typeface="Calibri" panose="020F0502020204030204"/>
                <a:cs typeface="Calibri" panose="020F0502020204030204"/>
              </a:rPr>
              <a:t> </a:t>
            </a:r>
            <a:r>
              <a:rPr sz="4400" dirty="0">
                <a:solidFill>
                  <a:srgbClr val="D50092"/>
                </a:solidFill>
                <a:latin typeface="Calibri" panose="020F0502020204030204"/>
                <a:cs typeface="Calibri" panose="020F0502020204030204"/>
              </a:rPr>
              <a:t>process</a:t>
            </a:r>
            <a:r>
              <a:rPr sz="4400" spc="-70" dirty="0">
                <a:solidFill>
                  <a:srgbClr val="D50092"/>
                </a:solidFill>
                <a:latin typeface="Calibri" panose="020F0502020204030204"/>
                <a:cs typeface="Calibri" panose="020F0502020204030204"/>
              </a:rPr>
              <a:t> </a:t>
            </a:r>
            <a:r>
              <a:rPr sz="4400" dirty="0">
                <a:solidFill>
                  <a:srgbClr val="D50092"/>
                </a:solidFill>
                <a:latin typeface="Calibri" panose="020F0502020204030204"/>
                <a:cs typeface="Calibri" panose="020F0502020204030204"/>
              </a:rPr>
              <a:t>in</a:t>
            </a:r>
            <a:r>
              <a:rPr sz="4400" spc="-40" dirty="0">
                <a:solidFill>
                  <a:srgbClr val="D50092"/>
                </a:solidFill>
                <a:latin typeface="Calibri" panose="020F0502020204030204"/>
                <a:cs typeface="Calibri" panose="020F0502020204030204"/>
              </a:rPr>
              <a:t> </a:t>
            </a:r>
            <a:r>
              <a:rPr sz="4400" dirty="0">
                <a:solidFill>
                  <a:srgbClr val="D50092"/>
                </a:solidFill>
                <a:latin typeface="Calibri" panose="020F0502020204030204"/>
                <a:cs typeface="Calibri" panose="020F0502020204030204"/>
              </a:rPr>
              <a:t>the</a:t>
            </a:r>
            <a:r>
              <a:rPr sz="4400" spc="-40" dirty="0">
                <a:solidFill>
                  <a:srgbClr val="D50092"/>
                </a:solidFill>
                <a:latin typeface="Calibri" panose="020F0502020204030204"/>
                <a:cs typeface="Calibri" panose="020F0502020204030204"/>
              </a:rPr>
              <a:t> </a:t>
            </a:r>
            <a:r>
              <a:rPr sz="4400" dirty="0">
                <a:solidFill>
                  <a:srgbClr val="D50092"/>
                </a:solidFill>
                <a:latin typeface="Calibri" panose="020F0502020204030204"/>
                <a:cs typeface="Calibri" panose="020F0502020204030204"/>
              </a:rPr>
              <a:t>drug</a:t>
            </a:r>
            <a:r>
              <a:rPr sz="4400" spc="-35" dirty="0">
                <a:solidFill>
                  <a:srgbClr val="D50092"/>
                </a:solidFill>
                <a:latin typeface="Calibri" panose="020F0502020204030204"/>
                <a:cs typeface="Calibri" panose="020F0502020204030204"/>
              </a:rPr>
              <a:t> </a:t>
            </a:r>
            <a:r>
              <a:rPr sz="4400" spc="-10" dirty="0">
                <a:solidFill>
                  <a:srgbClr val="D50092"/>
                </a:solidFill>
                <a:latin typeface="Calibri" panose="020F0502020204030204"/>
                <a:cs typeface="Calibri" panose="020F0502020204030204"/>
              </a:rPr>
              <a:t>therapy</a:t>
            </a:r>
            <a:endParaRPr sz="4400">
              <a:latin typeface="Calibri" panose="020F0502020204030204"/>
              <a:cs typeface="Calibri" panose="020F0502020204030204"/>
            </a:endParaRPr>
          </a:p>
        </p:txBody>
      </p:sp>
      <p:pic>
        <p:nvPicPr>
          <p:cNvPr id="3" name="object 3"/>
          <p:cNvPicPr/>
          <p:nvPr/>
        </p:nvPicPr>
        <p:blipFill>
          <a:blip r:embed="rId2" cstate="print"/>
          <a:stretch>
            <a:fillRect/>
          </a:stretch>
        </p:blipFill>
        <p:spPr>
          <a:xfrm>
            <a:off x="35496" y="1340738"/>
            <a:ext cx="2395462" cy="1710448"/>
          </a:xfrm>
          <a:prstGeom prst="rect">
            <a:avLst/>
          </a:prstGeom>
        </p:spPr>
      </p:pic>
      <p:sp>
        <p:nvSpPr>
          <p:cNvPr id="4" name="object 4"/>
          <p:cNvSpPr txBox="1"/>
          <p:nvPr/>
        </p:nvSpPr>
        <p:spPr>
          <a:xfrm>
            <a:off x="321970" y="568197"/>
            <a:ext cx="8626475" cy="5810250"/>
          </a:xfrm>
          <a:prstGeom prst="rect">
            <a:avLst/>
          </a:prstGeom>
        </p:spPr>
        <p:txBody>
          <a:bodyPr vert="horz" wrap="square" lIns="0" tIns="13335" rIns="0" bIns="0" rtlCol="0">
            <a:spAutoFit/>
          </a:bodyPr>
          <a:lstStyle/>
          <a:p>
            <a:pPr marL="354965" marR="5080" indent="-342900">
              <a:lnSpc>
                <a:spcPct val="100000"/>
              </a:lnSpc>
              <a:spcBef>
                <a:spcPts val="105"/>
              </a:spcBef>
              <a:buFont typeface="Microsoft Sans Serif" panose="020B0604020202020204"/>
              <a:buChar char="•"/>
              <a:tabLst>
                <a:tab pos="354965" algn="l"/>
              </a:tabLst>
            </a:pPr>
            <a:r>
              <a:rPr sz="3200" dirty="0">
                <a:latin typeface="Times New Roman" panose="02020603050405020304"/>
                <a:cs typeface="Times New Roman" panose="02020603050405020304"/>
              </a:rPr>
              <a:t>Each</a:t>
            </a:r>
            <a:r>
              <a:rPr sz="3200" spc="-25" dirty="0">
                <a:latin typeface="Times New Roman" panose="02020603050405020304"/>
                <a:cs typeface="Times New Roman" panose="02020603050405020304"/>
              </a:rPr>
              <a:t> </a:t>
            </a:r>
            <a:r>
              <a:rPr sz="3200" dirty="0">
                <a:latin typeface="Times New Roman" panose="02020603050405020304"/>
                <a:cs typeface="Times New Roman" panose="02020603050405020304"/>
              </a:rPr>
              <a:t>part</a:t>
            </a:r>
            <a:r>
              <a:rPr sz="3200" spc="-40" dirty="0">
                <a:latin typeface="Times New Roman" panose="02020603050405020304"/>
                <a:cs typeface="Times New Roman" panose="02020603050405020304"/>
              </a:rPr>
              <a:t> </a:t>
            </a:r>
            <a:r>
              <a:rPr sz="3200" dirty="0">
                <a:latin typeface="Times New Roman" panose="02020603050405020304"/>
                <a:cs typeface="Times New Roman" panose="02020603050405020304"/>
              </a:rPr>
              <a:t>of</a:t>
            </a:r>
            <a:r>
              <a:rPr sz="3200" spc="-15" dirty="0">
                <a:latin typeface="Times New Roman" panose="02020603050405020304"/>
                <a:cs typeface="Times New Roman" panose="02020603050405020304"/>
              </a:rPr>
              <a:t> </a:t>
            </a:r>
            <a:r>
              <a:rPr sz="3200" dirty="0">
                <a:latin typeface="Times New Roman" panose="02020603050405020304"/>
                <a:cs typeface="Times New Roman" panose="02020603050405020304"/>
              </a:rPr>
              <a:t>nursing</a:t>
            </a:r>
            <a:r>
              <a:rPr sz="3200" spc="-50" dirty="0">
                <a:latin typeface="Times New Roman" panose="02020603050405020304"/>
                <a:cs typeface="Times New Roman" panose="02020603050405020304"/>
              </a:rPr>
              <a:t> </a:t>
            </a:r>
            <a:r>
              <a:rPr sz="3200" dirty="0">
                <a:latin typeface="Times New Roman" panose="02020603050405020304"/>
                <a:cs typeface="Times New Roman" panose="02020603050405020304"/>
              </a:rPr>
              <a:t>process</a:t>
            </a:r>
            <a:r>
              <a:rPr sz="3200" spc="-35" dirty="0">
                <a:latin typeface="Times New Roman" panose="02020603050405020304"/>
                <a:cs typeface="Times New Roman" panose="02020603050405020304"/>
              </a:rPr>
              <a:t> </a:t>
            </a:r>
            <a:r>
              <a:rPr sz="3200" dirty="0">
                <a:latin typeface="Times New Roman" panose="02020603050405020304"/>
                <a:cs typeface="Times New Roman" panose="02020603050405020304"/>
              </a:rPr>
              <a:t>is</a:t>
            </a:r>
            <a:r>
              <a:rPr sz="3200" spc="-15" dirty="0">
                <a:latin typeface="Times New Roman" panose="02020603050405020304"/>
                <a:cs typeface="Times New Roman" panose="02020603050405020304"/>
              </a:rPr>
              <a:t> </a:t>
            </a:r>
            <a:r>
              <a:rPr sz="3200" dirty="0">
                <a:latin typeface="Times New Roman" panose="02020603050405020304"/>
                <a:cs typeface="Times New Roman" panose="02020603050405020304"/>
              </a:rPr>
              <a:t>applicable,</a:t>
            </a:r>
            <a:r>
              <a:rPr sz="3200" spc="-50" dirty="0">
                <a:latin typeface="Times New Roman" panose="02020603050405020304"/>
                <a:cs typeface="Times New Roman" panose="02020603050405020304"/>
              </a:rPr>
              <a:t> </a:t>
            </a:r>
            <a:r>
              <a:rPr sz="3200" spc="-20" dirty="0">
                <a:latin typeface="Times New Roman" panose="02020603050405020304"/>
                <a:cs typeface="Times New Roman" panose="02020603050405020304"/>
              </a:rPr>
              <a:t>with </a:t>
            </a:r>
            <a:r>
              <a:rPr sz="3200" dirty="0">
                <a:latin typeface="Times New Roman" panose="02020603050405020304"/>
                <a:cs typeface="Times New Roman" panose="02020603050405020304"/>
              </a:rPr>
              <a:t>modification,</a:t>
            </a:r>
            <a:r>
              <a:rPr sz="3200" spc="-60" dirty="0">
                <a:latin typeface="Times New Roman" panose="02020603050405020304"/>
                <a:cs typeface="Times New Roman" panose="02020603050405020304"/>
              </a:rPr>
              <a:t> </a:t>
            </a:r>
            <a:r>
              <a:rPr sz="3200" dirty="0">
                <a:latin typeface="Times New Roman" panose="02020603050405020304"/>
                <a:cs typeface="Times New Roman" panose="02020603050405020304"/>
              </a:rPr>
              <a:t>to the administration</a:t>
            </a:r>
            <a:r>
              <a:rPr sz="3200" spc="-35" dirty="0">
                <a:latin typeface="Times New Roman" panose="02020603050405020304"/>
                <a:cs typeface="Times New Roman" panose="02020603050405020304"/>
              </a:rPr>
              <a:t> </a:t>
            </a:r>
            <a:r>
              <a:rPr sz="3200" dirty="0">
                <a:latin typeface="Times New Roman" panose="02020603050405020304"/>
                <a:cs typeface="Times New Roman" panose="02020603050405020304"/>
              </a:rPr>
              <a:t>of</a:t>
            </a:r>
            <a:r>
              <a:rPr sz="3200" spc="-15" dirty="0">
                <a:latin typeface="Times New Roman" panose="02020603050405020304"/>
                <a:cs typeface="Times New Roman" panose="02020603050405020304"/>
              </a:rPr>
              <a:t> </a:t>
            </a:r>
            <a:r>
              <a:rPr sz="3200" spc="-10" dirty="0">
                <a:latin typeface="Times New Roman" panose="02020603050405020304"/>
                <a:cs typeface="Times New Roman" panose="02020603050405020304"/>
              </a:rPr>
              <a:t>medications.</a:t>
            </a:r>
            <a:endParaRPr sz="3200">
              <a:latin typeface="Times New Roman" panose="02020603050405020304"/>
              <a:cs typeface="Times New Roman" panose="02020603050405020304"/>
            </a:endParaRPr>
          </a:p>
          <a:p>
            <a:pPr marL="2129790" marR="432435" indent="202565">
              <a:lnSpc>
                <a:spcPct val="100000"/>
              </a:lnSpc>
              <a:spcBef>
                <a:spcPts val="2070"/>
              </a:spcBef>
            </a:pPr>
            <a:r>
              <a:rPr sz="3200" dirty="0">
                <a:solidFill>
                  <a:srgbClr val="000099"/>
                </a:solidFill>
                <a:latin typeface="Times New Roman" panose="02020603050405020304"/>
                <a:cs typeface="Times New Roman" panose="02020603050405020304"/>
              </a:rPr>
              <a:t>guides</a:t>
            </a:r>
            <a:r>
              <a:rPr sz="3200" spc="-35"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nursing</a:t>
            </a:r>
            <a:r>
              <a:rPr sz="3200" spc="-60"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decisions</a:t>
            </a:r>
            <a:r>
              <a:rPr sz="3200" spc="-45"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about</a:t>
            </a:r>
            <a:r>
              <a:rPr sz="3200" spc="-35" dirty="0">
                <a:solidFill>
                  <a:srgbClr val="000099"/>
                </a:solidFill>
                <a:latin typeface="Times New Roman" panose="02020603050405020304"/>
                <a:cs typeface="Times New Roman" panose="02020603050405020304"/>
              </a:rPr>
              <a:t> </a:t>
            </a:r>
            <a:r>
              <a:rPr sz="3200" spc="-20" dirty="0">
                <a:solidFill>
                  <a:srgbClr val="000099"/>
                </a:solidFill>
                <a:latin typeface="Times New Roman" panose="02020603050405020304"/>
                <a:cs typeface="Times New Roman" panose="02020603050405020304"/>
              </a:rPr>
              <a:t>drug </a:t>
            </a:r>
            <a:r>
              <a:rPr sz="3200" dirty="0">
                <a:solidFill>
                  <a:srgbClr val="000099"/>
                </a:solidFill>
                <a:latin typeface="Times New Roman" panose="02020603050405020304"/>
                <a:cs typeface="Times New Roman" panose="02020603050405020304"/>
              </a:rPr>
              <a:t>administration</a:t>
            </a:r>
            <a:r>
              <a:rPr sz="3200" spc="-55"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to</a:t>
            </a:r>
            <a:r>
              <a:rPr sz="3200" spc="-20"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ensure</a:t>
            </a:r>
            <a:r>
              <a:rPr sz="3200" spc="-45"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the</a:t>
            </a:r>
            <a:r>
              <a:rPr sz="3200" spc="-20" dirty="0">
                <a:solidFill>
                  <a:srgbClr val="000099"/>
                </a:solidFill>
                <a:latin typeface="Times New Roman" panose="02020603050405020304"/>
                <a:cs typeface="Times New Roman" panose="02020603050405020304"/>
              </a:rPr>
              <a:t> </a:t>
            </a:r>
            <a:r>
              <a:rPr sz="3200" spc="-10" dirty="0">
                <a:solidFill>
                  <a:srgbClr val="000099"/>
                </a:solidFill>
                <a:latin typeface="Times New Roman" panose="02020603050405020304"/>
                <a:cs typeface="Times New Roman" panose="02020603050405020304"/>
              </a:rPr>
              <a:t>patient's</a:t>
            </a:r>
            <a:endParaRPr sz="3200">
              <a:latin typeface="Times New Roman" panose="02020603050405020304"/>
              <a:cs typeface="Times New Roman" panose="02020603050405020304"/>
            </a:endParaRPr>
          </a:p>
          <a:p>
            <a:pPr marL="198120">
              <a:lnSpc>
                <a:spcPct val="100000"/>
              </a:lnSpc>
              <a:spcBef>
                <a:spcPts val="5"/>
              </a:spcBef>
            </a:pPr>
            <a:r>
              <a:rPr sz="3200" spc="-20" dirty="0">
                <a:solidFill>
                  <a:srgbClr val="000099"/>
                </a:solidFill>
                <a:latin typeface="Times New Roman" panose="02020603050405020304"/>
                <a:cs typeface="Times New Roman" panose="02020603050405020304"/>
              </a:rPr>
              <a:t>safety,</a:t>
            </a:r>
            <a:r>
              <a:rPr sz="3200" spc="-75"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and</a:t>
            </a:r>
            <a:r>
              <a:rPr sz="3200" spc="-45"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meet</a:t>
            </a:r>
            <a:r>
              <a:rPr sz="3200" spc="-65"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medical</a:t>
            </a:r>
            <a:r>
              <a:rPr sz="3200" spc="-50"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and</a:t>
            </a:r>
            <a:r>
              <a:rPr sz="3200" spc="-50" dirty="0">
                <a:solidFill>
                  <a:srgbClr val="000099"/>
                </a:solidFill>
                <a:latin typeface="Times New Roman" panose="02020603050405020304"/>
                <a:cs typeface="Times New Roman" panose="02020603050405020304"/>
              </a:rPr>
              <a:t> </a:t>
            </a:r>
            <a:r>
              <a:rPr sz="3200" dirty="0">
                <a:solidFill>
                  <a:srgbClr val="000099"/>
                </a:solidFill>
                <a:latin typeface="Times New Roman" panose="02020603050405020304"/>
                <a:cs typeface="Times New Roman" panose="02020603050405020304"/>
              </a:rPr>
              <a:t>legal</a:t>
            </a:r>
            <a:r>
              <a:rPr sz="3200" spc="-65" dirty="0">
                <a:solidFill>
                  <a:srgbClr val="000099"/>
                </a:solidFill>
                <a:latin typeface="Times New Roman" panose="02020603050405020304"/>
                <a:cs typeface="Times New Roman" panose="02020603050405020304"/>
              </a:rPr>
              <a:t> </a:t>
            </a:r>
            <a:r>
              <a:rPr sz="3200" spc="-10" dirty="0">
                <a:solidFill>
                  <a:srgbClr val="000099"/>
                </a:solidFill>
                <a:latin typeface="Times New Roman" panose="02020603050405020304"/>
                <a:cs typeface="Times New Roman" panose="02020603050405020304"/>
              </a:rPr>
              <a:t>standards.</a:t>
            </a:r>
            <a:endParaRPr sz="3200">
              <a:latin typeface="Times New Roman" panose="02020603050405020304"/>
              <a:cs typeface="Times New Roman" panose="02020603050405020304"/>
            </a:endParaRPr>
          </a:p>
          <a:p>
            <a:pPr marL="313055" marR="820420" indent="-255270">
              <a:lnSpc>
                <a:spcPct val="100000"/>
              </a:lnSpc>
              <a:spcBef>
                <a:spcPts val="2555"/>
              </a:spcBef>
              <a:buClr>
                <a:srgbClr val="9F4DA2"/>
              </a:buClr>
              <a:buFont typeface="Georgia" panose="02040502050405020303"/>
              <a:buChar char="•"/>
              <a:tabLst>
                <a:tab pos="314325" algn="l"/>
              </a:tabLst>
            </a:pP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5" dirty="0">
                <a:latin typeface="Times New Roman" panose="02020603050405020304"/>
                <a:cs typeface="Times New Roman" panose="02020603050405020304"/>
              </a:rPr>
              <a:t> </a:t>
            </a:r>
            <a:r>
              <a:rPr sz="3200" b="1" dirty="0">
                <a:solidFill>
                  <a:srgbClr val="FF0066"/>
                </a:solidFill>
                <a:latin typeface="Arial" panose="020B0604020202020204"/>
                <a:cs typeface="Arial" panose="020B0604020202020204"/>
              </a:rPr>
              <a:t>Crucial</a:t>
            </a:r>
            <a:r>
              <a:rPr sz="3200" b="1" spc="-220" dirty="0">
                <a:solidFill>
                  <a:srgbClr val="FF0066"/>
                </a:solidFill>
                <a:latin typeface="Arial" panose="020B0604020202020204"/>
                <a:cs typeface="Arial" panose="020B0604020202020204"/>
              </a:rPr>
              <a:t> </a:t>
            </a:r>
            <a:r>
              <a:rPr sz="2800" dirty="0">
                <a:latin typeface="Times New Roman" panose="02020603050405020304"/>
                <a:cs typeface="Times New Roman" panose="02020603050405020304"/>
              </a:rPr>
              <a:t>for</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safe</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medication 	administration.</a:t>
            </a:r>
            <a:endParaRPr sz="2800">
              <a:latin typeface="Times New Roman" panose="02020603050405020304"/>
              <a:cs typeface="Times New Roman" panose="02020603050405020304"/>
            </a:endParaRPr>
          </a:p>
          <a:p>
            <a:pPr marL="314325" marR="348615" indent="-256540">
              <a:lnSpc>
                <a:spcPct val="100000"/>
              </a:lnSpc>
              <a:spcBef>
                <a:spcPts val="300"/>
              </a:spcBef>
              <a:buClr>
                <a:srgbClr val="9F4DA2"/>
              </a:buClr>
              <a:buFont typeface="Georgia" panose="02040502050405020303"/>
              <a:buChar char="•"/>
              <a:tabLst>
                <a:tab pos="314325" algn="l"/>
              </a:tabLst>
            </a:pPr>
            <a:r>
              <a:rPr sz="3200" dirty="0">
                <a:solidFill>
                  <a:srgbClr val="FF0066"/>
                </a:solidFill>
                <a:latin typeface="Microsoft Sans Serif" panose="020B0604020202020204"/>
                <a:cs typeface="Microsoft Sans Serif" panose="020B0604020202020204"/>
              </a:rPr>
              <a:t>“Crucial”</a:t>
            </a:r>
            <a:r>
              <a:rPr sz="3200" spc="-5" dirty="0">
                <a:solidFill>
                  <a:srgbClr val="FF0066"/>
                </a:solidFill>
                <a:latin typeface="Microsoft Sans Serif" panose="020B0604020202020204"/>
                <a:cs typeface="Microsoft Sans Serif" panose="020B06040202020202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greatest</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significance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determining</a:t>
            </a:r>
            <a:r>
              <a:rPr sz="2800" spc="-1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an </a:t>
            </a:r>
            <a:r>
              <a:rPr sz="2800" spc="-10" dirty="0">
                <a:latin typeface="Times New Roman" panose="02020603050405020304"/>
                <a:cs typeface="Times New Roman" panose="02020603050405020304"/>
              </a:rPr>
              <a:t>outcome.</a:t>
            </a:r>
            <a:endParaRPr sz="2800">
              <a:latin typeface="Times New Roman" panose="02020603050405020304"/>
              <a:cs typeface="Times New Roman" panose="02020603050405020304"/>
            </a:endParaRPr>
          </a:p>
          <a:p>
            <a:pPr marL="313055" marR="343535" indent="-255270">
              <a:lnSpc>
                <a:spcPct val="100000"/>
              </a:lnSpc>
              <a:spcBef>
                <a:spcPts val="295"/>
              </a:spcBef>
              <a:buClr>
                <a:srgbClr val="9F4DA2"/>
              </a:buClr>
              <a:buFont typeface="Georgia" panose="02040502050405020303"/>
              <a:buChar char="•"/>
              <a:tabLst>
                <a:tab pos="314325" algn="l"/>
              </a:tabLst>
            </a:pPr>
            <a:r>
              <a:rPr sz="2800" dirty="0">
                <a:latin typeface="Times New Roman" panose="02020603050405020304"/>
                <a:cs typeface="Times New Roman" panose="02020603050405020304"/>
              </a:rPr>
              <a:t>Application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therapy</a:t>
            </a:r>
            <a:r>
              <a:rPr sz="2800" spc="-4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is 	</a:t>
            </a:r>
            <a:r>
              <a:rPr sz="2800" dirty="0">
                <a:latin typeface="Times New Roman" panose="02020603050405020304"/>
                <a:cs typeface="Times New Roman" panose="02020603050405020304"/>
              </a:rPr>
              <a:t>directed</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individualizing</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treatment,</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which</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critical</a:t>
            </a:r>
            <a:r>
              <a:rPr sz="2800" spc="-6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to</a:t>
            </a:r>
            <a:endParaRPr sz="2800">
              <a:latin typeface="Times New Roman" panose="02020603050405020304"/>
              <a:cs typeface="Times New Roman" panose="02020603050405020304"/>
            </a:endParaRPr>
          </a:p>
        </p:txBody>
      </p:sp>
      <p:sp>
        <p:nvSpPr>
          <p:cNvPr id="5" name="object 5"/>
          <p:cNvSpPr txBox="1"/>
          <p:nvPr/>
        </p:nvSpPr>
        <p:spPr>
          <a:xfrm>
            <a:off x="624027" y="6353657"/>
            <a:ext cx="507111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achieving</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therapeutic</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objective.</a:t>
            </a:r>
            <a:endParaRPr sz="2800">
              <a:latin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2172" y="-102870"/>
            <a:ext cx="2721610" cy="574040"/>
          </a:xfrm>
          <a:prstGeom prst="rect">
            <a:avLst/>
          </a:prstGeom>
        </p:spPr>
        <p:txBody>
          <a:bodyPr vert="horz" wrap="square" lIns="0" tIns="12700" rIns="0" bIns="0" rtlCol="0">
            <a:spAutoFit/>
          </a:bodyPr>
          <a:lstStyle/>
          <a:p>
            <a:pPr marL="12700">
              <a:lnSpc>
                <a:spcPct val="100000"/>
              </a:lnSpc>
              <a:spcBef>
                <a:spcPts val="100"/>
              </a:spcBef>
            </a:pPr>
            <a:r>
              <a:rPr sz="3600" spc="-10" dirty="0">
                <a:latin typeface="Arial" panose="020B0604020202020204"/>
                <a:cs typeface="Arial" panose="020B0604020202020204"/>
              </a:rPr>
              <a:t>Assessment</a:t>
            </a:r>
            <a:endParaRPr sz="3600">
              <a:latin typeface="Arial" panose="020B0604020202020204"/>
              <a:cs typeface="Arial" panose="020B0604020202020204"/>
            </a:endParaRPr>
          </a:p>
        </p:txBody>
      </p:sp>
      <p:sp>
        <p:nvSpPr>
          <p:cNvPr id="3" name="object 3"/>
          <p:cNvSpPr txBox="1"/>
          <p:nvPr/>
        </p:nvSpPr>
        <p:spPr>
          <a:xfrm>
            <a:off x="351231" y="756615"/>
            <a:ext cx="6819900" cy="452120"/>
          </a:xfrm>
          <a:prstGeom prst="rect">
            <a:avLst/>
          </a:prstGeom>
        </p:spPr>
        <p:txBody>
          <a:bodyPr vert="horz" wrap="square" lIns="0" tIns="12065" rIns="0" bIns="0" rtlCol="0">
            <a:spAutoFit/>
          </a:bodyPr>
          <a:lstStyle/>
          <a:p>
            <a:pPr marL="12700">
              <a:lnSpc>
                <a:spcPct val="100000"/>
              </a:lnSpc>
              <a:spcBef>
                <a:spcPts val="95"/>
              </a:spcBef>
              <a:tabLst>
                <a:tab pos="3754120" algn="l"/>
              </a:tabLst>
            </a:pPr>
            <a:r>
              <a:rPr sz="2800" b="1" dirty="0">
                <a:solidFill>
                  <a:srgbClr val="000099"/>
                </a:solidFill>
                <a:latin typeface="Times New Roman" panose="02020603050405020304"/>
                <a:cs typeface="Times New Roman" panose="02020603050405020304"/>
              </a:rPr>
              <a:t>Initial</a:t>
            </a:r>
            <a:r>
              <a:rPr sz="2800" b="1" spc="-75" dirty="0">
                <a:solidFill>
                  <a:srgbClr val="000099"/>
                </a:solidFill>
                <a:latin typeface="Times New Roman" panose="02020603050405020304"/>
                <a:cs typeface="Times New Roman" panose="02020603050405020304"/>
              </a:rPr>
              <a:t> </a:t>
            </a:r>
            <a:r>
              <a:rPr sz="2800" b="1" spc="-10" dirty="0">
                <a:solidFill>
                  <a:srgbClr val="000099"/>
                </a:solidFill>
                <a:latin typeface="Times New Roman" panose="02020603050405020304"/>
                <a:cs typeface="Times New Roman" panose="02020603050405020304"/>
              </a:rPr>
              <a:t>assessment</a:t>
            </a:r>
            <a:r>
              <a:rPr sz="2800" b="1" dirty="0">
                <a:solidFill>
                  <a:srgbClr val="000099"/>
                </a:solidFill>
                <a:latin typeface="Times New Roman" panose="02020603050405020304"/>
                <a:cs typeface="Times New Roman" panose="02020603050405020304"/>
              </a:rPr>
              <a:t>	Ongoing</a:t>
            </a:r>
            <a:r>
              <a:rPr sz="2800" b="1" spc="-95" dirty="0">
                <a:solidFill>
                  <a:srgbClr val="000099"/>
                </a:solidFill>
                <a:latin typeface="Times New Roman" panose="02020603050405020304"/>
                <a:cs typeface="Times New Roman" panose="02020603050405020304"/>
              </a:rPr>
              <a:t> </a:t>
            </a:r>
            <a:r>
              <a:rPr sz="2800" b="1" spc="-10" dirty="0">
                <a:solidFill>
                  <a:srgbClr val="000099"/>
                </a:solidFill>
                <a:latin typeface="Times New Roman" panose="02020603050405020304"/>
                <a:cs typeface="Times New Roman" panose="02020603050405020304"/>
              </a:rPr>
              <a:t>assessment</a:t>
            </a:r>
            <a:endParaRPr sz="2800">
              <a:latin typeface="Times New Roman" panose="02020603050405020304"/>
              <a:cs typeface="Times New Roman" panose="02020603050405020304"/>
            </a:endParaRPr>
          </a:p>
        </p:txBody>
      </p:sp>
      <p:sp>
        <p:nvSpPr>
          <p:cNvPr id="4" name="object 4"/>
          <p:cNvSpPr txBox="1"/>
          <p:nvPr/>
        </p:nvSpPr>
        <p:spPr>
          <a:xfrm>
            <a:off x="-29768" y="1268984"/>
            <a:ext cx="9068435" cy="1817370"/>
          </a:xfrm>
          <a:prstGeom prst="rect">
            <a:avLst/>
          </a:prstGeom>
        </p:spPr>
        <p:txBody>
          <a:bodyPr vert="horz" wrap="square" lIns="0" tIns="12065" rIns="0" bIns="0" rtlCol="0">
            <a:spAutoFit/>
          </a:bodyPr>
          <a:lstStyle/>
          <a:p>
            <a:pPr marL="355600" marR="5080" indent="-342900">
              <a:lnSpc>
                <a:spcPct val="100000"/>
              </a:lnSpc>
              <a:spcBef>
                <a:spcPts val="95"/>
              </a:spcBef>
              <a:buFont typeface="Microsoft Sans Serif" panose="020B0604020202020204"/>
              <a:buChar char="•"/>
              <a:tabLst>
                <a:tab pos="355600" algn="l"/>
              </a:tabLst>
            </a:pPr>
            <a:r>
              <a:rPr sz="2800" dirty="0">
                <a:latin typeface="Times New Roman" panose="02020603050405020304"/>
                <a:cs typeface="Times New Roman" panose="02020603050405020304"/>
              </a:rPr>
              <a:t>Assessment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consists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collecting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(objective</a:t>
            </a:r>
            <a:r>
              <a:rPr sz="2800" spc="-3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and </a:t>
            </a:r>
            <a:r>
              <a:rPr sz="2800" dirty="0">
                <a:latin typeface="Times New Roman" panose="02020603050405020304"/>
                <a:cs typeface="Times New Roman" panose="02020603050405020304"/>
              </a:rPr>
              <a:t>subjective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about</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pt –</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These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are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used</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identify </a:t>
            </a:r>
            <a:r>
              <a:rPr sz="2800" dirty="0">
                <a:latin typeface="Times New Roman" panose="02020603050405020304"/>
                <a:cs typeface="Times New Roman" panose="02020603050405020304"/>
              </a:rPr>
              <a:t>actual</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potential</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health</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problems.</a:t>
            </a:r>
            <a:endParaRPr sz="2800">
              <a:latin typeface="Times New Roman" panose="02020603050405020304"/>
              <a:cs typeface="Times New Roman" panose="02020603050405020304"/>
            </a:endParaRPr>
          </a:p>
          <a:p>
            <a:pPr marL="354965" indent="-342265">
              <a:lnSpc>
                <a:spcPct val="100000"/>
              </a:lnSpc>
              <a:spcBef>
                <a:spcPts val="675"/>
              </a:spcBef>
              <a:buFont typeface="Microsoft Sans Serif" panose="020B0604020202020204"/>
              <a:buChar char="•"/>
              <a:tabLst>
                <a:tab pos="354965" algn="l"/>
              </a:tabLst>
            </a:pP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database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established</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during</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assessment</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provides</a:t>
            </a:r>
            <a:r>
              <a:rPr sz="2800" spc="-55"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a:t>
            </a:r>
            <a:endParaRPr sz="2800">
              <a:latin typeface="Times New Roman" panose="02020603050405020304"/>
              <a:cs typeface="Times New Roman" panose="02020603050405020304"/>
            </a:endParaRPr>
          </a:p>
        </p:txBody>
      </p:sp>
      <p:sp>
        <p:nvSpPr>
          <p:cNvPr id="5" name="object 5"/>
          <p:cNvSpPr txBox="1"/>
          <p:nvPr/>
        </p:nvSpPr>
        <p:spPr>
          <a:xfrm>
            <a:off x="1799335" y="6475882"/>
            <a:ext cx="2484755" cy="452120"/>
          </a:xfrm>
          <a:prstGeom prst="rect">
            <a:avLst/>
          </a:prstGeom>
        </p:spPr>
        <p:txBody>
          <a:bodyPr vert="horz" wrap="square" lIns="0" tIns="12065" rIns="0" bIns="0" rtlCol="0">
            <a:spAutoFit/>
          </a:bodyPr>
          <a:lstStyle/>
          <a:p>
            <a:pPr marL="290830" indent="-282575">
              <a:lnSpc>
                <a:spcPct val="100000"/>
              </a:lnSpc>
              <a:spcBef>
                <a:spcPts val="95"/>
              </a:spcBef>
              <a:buSzPct val="96000"/>
              <a:buFont typeface="Wingdings" panose="05000000000000000000"/>
              <a:buChar char=""/>
              <a:tabLst>
                <a:tab pos="290830" algn="l"/>
              </a:tabLst>
            </a:pPr>
            <a:r>
              <a:rPr sz="2800" dirty="0">
                <a:latin typeface="Times New Roman" panose="02020603050405020304"/>
                <a:cs typeface="Times New Roman" panose="02020603050405020304"/>
              </a:rPr>
              <a:t>laboratory</a:t>
            </a:r>
            <a:r>
              <a:rPr sz="2800" spc="-1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tests</a:t>
            </a:r>
            <a:endParaRPr sz="2800">
              <a:latin typeface="Times New Roman" panose="02020603050405020304"/>
              <a:cs typeface="Times New Roman" panose="02020603050405020304"/>
            </a:endParaRPr>
          </a:p>
        </p:txBody>
      </p:sp>
      <p:sp>
        <p:nvSpPr>
          <p:cNvPr id="6" name="object 6"/>
          <p:cNvSpPr txBox="1"/>
          <p:nvPr/>
        </p:nvSpPr>
        <p:spPr>
          <a:xfrm>
            <a:off x="313131" y="3061461"/>
            <a:ext cx="8296909" cy="3595370"/>
          </a:xfrm>
          <a:prstGeom prst="rect">
            <a:avLst/>
          </a:prstGeom>
        </p:spPr>
        <p:txBody>
          <a:bodyPr vert="horz" wrap="square" lIns="0" tIns="12065" rIns="0" bIns="0" rtlCol="0">
            <a:spAutoFit/>
          </a:bodyPr>
          <a:lstStyle/>
          <a:p>
            <a:pPr marL="12700" marR="90170">
              <a:lnSpc>
                <a:spcPct val="100000"/>
              </a:lnSpc>
              <a:spcBef>
                <a:spcPts val="95"/>
              </a:spcBef>
            </a:pPr>
            <a:r>
              <a:rPr sz="2800" dirty="0">
                <a:latin typeface="Times New Roman" panose="02020603050405020304"/>
                <a:cs typeface="Times New Roman" panose="02020603050405020304"/>
              </a:rPr>
              <a:t>foundation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subsequent</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steps</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(e.g., </a:t>
            </a:r>
            <a:r>
              <a:rPr sz="2800" dirty="0">
                <a:latin typeface="Times New Roman" panose="02020603050405020304"/>
                <a:cs typeface="Times New Roman" panose="02020603050405020304"/>
              </a:rPr>
              <a:t>effectiveness</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therapy).</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Important</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methods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data </a:t>
            </a:r>
            <a:r>
              <a:rPr sz="2800" dirty="0">
                <a:latin typeface="Times New Roman" panose="02020603050405020304"/>
                <a:cs typeface="Times New Roman" panose="02020603050405020304"/>
              </a:rPr>
              <a:t>collection</a:t>
            </a:r>
            <a:r>
              <a:rPr sz="2800" spc="-25" dirty="0">
                <a:latin typeface="Times New Roman" panose="02020603050405020304"/>
                <a:cs typeface="Times New Roman" panose="02020603050405020304"/>
              </a:rPr>
              <a:t> are</a:t>
            </a:r>
            <a:endParaRPr sz="2800">
              <a:latin typeface="Times New Roman" panose="02020603050405020304"/>
              <a:cs typeface="Times New Roman" panose="02020603050405020304"/>
            </a:endParaRPr>
          </a:p>
          <a:p>
            <a:pPr marL="1776730" indent="-282575">
              <a:lnSpc>
                <a:spcPct val="100000"/>
              </a:lnSpc>
              <a:spcBef>
                <a:spcPts val="675"/>
              </a:spcBef>
              <a:buSzPct val="96000"/>
              <a:buFont typeface="Wingdings" panose="05000000000000000000"/>
              <a:buChar char=""/>
              <a:tabLst>
                <a:tab pos="1776730" algn="l"/>
              </a:tabLst>
            </a:pPr>
            <a:r>
              <a:rPr sz="2800" dirty="0">
                <a:latin typeface="Times New Roman" panose="02020603050405020304"/>
                <a:cs typeface="Times New Roman" panose="02020603050405020304"/>
              </a:rPr>
              <a:t>Pt</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interview</a:t>
            </a:r>
            <a:endParaRPr sz="2800">
              <a:latin typeface="Times New Roman" panose="02020603050405020304"/>
              <a:cs typeface="Times New Roman" panose="02020603050405020304"/>
            </a:endParaRPr>
          </a:p>
          <a:p>
            <a:pPr marL="1776730" indent="-282575">
              <a:lnSpc>
                <a:spcPct val="100000"/>
              </a:lnSpc>
              <a:spcBef>
                <a:spcPts val="675"/>
              </a:spcBef>
              <a:buSzPct val="96000"/>
              <a:buFont typeface="Wingdings" panose="05000000000000000000"/>
              <a:buChar char=""/>
              <a:tabLst>
                <a:tab pos="1776730" algn="l"/>
              </a:tabLst>
            </a:pPr>
            <a:r>
              <a:rPr sz="2800" dirty="0">
                <a:latin typeface="Times New Roman" panose="02020603050405020304"/>
                <a:cs typeface="Times New Roman" panose="02020603050405020304"/>
              </a:rPr>
              <a:t>Medical</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0" dirty="0">
                <a:latin typeface="Times New Roman" panose="02020603050405020304"/>
                <a:cs typeface="Times New Roman" panose="02020603050405020304"/>
              </a:rPr>
              <a:t> drug-</a:t>
            </a:r>
            <a:r>
              <a:rPr sz="2800" dirty="0">
                <a:latin typeface="Times New Roman" panose="02020603050405020304"/>
                <a:cs typeface="Times New Roman" panose="02020603050405020304"/>
              </a:rPr>
              <a:t>use</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histories</a:t>
            </a:r>
            <a:endParaRPr sz="2800">
              <a:latin typeface="Times New Roman" panose="02020603050405020304"/>
              <a:cs typeface="Times New Roman" panose="02020603050405020304"/>
            </a:endParaRPr>
          </a:p>
          <a:p>
            <a:pPr marL="1776730" indent="-282575">
              <a:lnSpc>
                <a:spcPct val="100000"/>
              </a:lnSpc>
              <a:spcBef>
                <a:spcPts val="670"/>
              </a:spcBef>
              <a:buSzPct val="96000"/>
              <a:buFont typeface="Wingdings" panose="05000000000000000000"/>
              <a:buChar char=""/>
              <a:tabLst>
                <a:tab pos="1776730" algn="l"/>
              </a:tabLst>
            </a:pPr>
            <a:r>
              <a:rPr sz="2800" dirty="0">
                <a:latin typeface="Times New Roman" panose="02020603050405020304"/>
                <a:cs typeface="Times New Roman" panose="02020603050405020304"/>
              </a:rPr>
              <a:t>observation</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patient</a:t>
            </a:r>
            <a:endParaRPr sz="2800">
              <a:latin typeface="Times New Roman" panose="02020603050405020304"/>
              <a:cs typeface="Times New Roman" panose="02020603050405020304"/>
            </a:endParaRPr>
          </a:p>
          <a:p>
            <a:pPr marL="1776730" indent="-282575">
              <a:lnSpc>
                <a:spcPct val="100000"/>
              </a:lnSpc>
              <a:spcBef>
                <a:spcPts val="675"/>
              </a:spcBef>
              <a:buSzPct val="96000"/>
              <a:buFont typeface="Wingdings" panose="05000000000000000000"/>
              <a:buChar char=""/>
              <a:tabLst>
                <a:tab pos="1776730" algn="l"/>
              </a:tabLst>
            </a:pPr>
            <a:r>
              <a:rPr sz="2800" dirty="0">
                <a:latin typeface="Times New Roman" panose="02020603050405020304"/>
                <a:cs typeface="Times New Roman" panose="02020603050405020304"/>
              </a:rPr>
              <a:t>Physical</a:t>
            </a:r>
            <a:r>
              <a:rPr sz="2800" spc="-7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examination</a:t>
            </a:r>
            <a:endParaRPr sz="2800">
              <a:latin typeface="Times New Roman" panose="02020603050405020304"/>
              <a:cs typeface="Times New Roman" panose="02020603050405020304"/>
            </a:endParaRPr>
          </a:p>
          <a:p>
            <a:pPr marR="5080" algn="r">
              <a:lnSpc>
                <a:spcPct val="100000"/>
              </a:lnSpc>
              <a:spcBef>
                <a:spcPts val="290"/>
              </a:spcBef>
            </a:pPr>
            <a:endParaRPr sz="1200">
              <a:latin typeface="Calibri" panose="020F0502020204030204"/>
              <a:cs typeface="Calibri" panose="020F0502020204030204"/>
            </a:endParaRPr>
          </a:p>
        </p:txBody>
      </p:sp>
      <p:grpSp>
        <p:nvGrpSpPr>
          <p:cNvPr id="7" name="object 7"/>
          <p:cNvGrpSpPr/>
          <p:nvPr/>
        </p:nvGrpSpPr>
        <p:grpSpPr>
          <a:xfrm>
            <a:off x="2077211" y="377952"/>
            <a:ext cx="896619" cy="698500"/>
            <a:chOff x="2077211" y="377952"/>
            <a:chExt cx="896619" cy="698500"/>
          </a:xfrm>
        </p:grpSpPr>
        <p:pic>
          <p:nvPicPr>
            <p:cNvPr id="8" name="object 8"/>
            <p:cNvPicPr/>
            <p:nvPr/>
          </p:nvPicPr>
          <p:blipFill>
            <a:blip r:embed="rId2" cstate="print"/>
            <a:stretch>
              <a:fillRect/>
            </a:stretch>
          </p:blipFill>
          <p:spPr>
            <a:xfrm>
              <a:off x="2077211" y="377952"/>
              <a:ext cx="896112" cy="697991"/>
            </a:xfrm>
            <a:prstGeom prst="rect">
              <a:avLst/>
            </a:prstGeom>
          </p:spPr>
        </p:pic>
        <p:sp>
          <p:nvSpPr>
            <p:cNvPr id="9" name="object 9"/>
            <p:cNvSpPr/>
            <p:nvPr/>
          </p:nvSpPr>
          <p:spPr>
            <a:xfrm>
              <a:off x="2289936" y="398272"/>
              <a:ext cx="641350" cy="443230"/>
            </a:xfrm>
            <a:custGeom>
              <a:avLst/>
              <a:gdLst/>
              <a:ahLst/>
              <a:cxnLst/>
              <a:rect l="l" t="t" r="r" b="b"/>
              <a:pathLst>
                <a:path w="641350" h="443230">
                  <a:moveTo>
                    <a:pt x="89302" y="283380"/>
                  </a:moveTo>
                  <a:lnTo>
                    <a:pt x="82089" y="284448"/>
                  </a:lnTo>
                  <a:lnTo>
                    <a:pt x="75805" y="288135"/>
                  </a:lnTo>
                  <a:lnTo>
                    <a:pt x="71246" y="294131"/>
                  </a:lnTo>
                  <a:lnTo>
                    <a:pt x="0" y="442975"/>
                  </a:lnTo>
                  <a:lnTo>
                    <a:pt x="80425" y="437514"/>
                  </a:lnTo>
                  <a:lnTo>
                    <a:pt x="41910" y="437514"/>
                  </a:lnTo>
                  <a:lnTo>
                    <a:pt x="20574" y="406018"/>
                  </a:lnTo>
                  <a:lnTo>
                    <a:pt x="78867" y="366493"/>
                  </a:lnTo>
                  <a:lnTo>
                    <a:pt x="105663" y="310641"/>
                  </a:lnTo>
                  <a:lnTo>
                    <a:pt x="107469" y="303297"/>
                  </a:lnTo>
                  <a:lnTo>
                    <a:pt x="106394" y="296084"/>
                  </a:lnTo>
                  <a:lnTo>
                    <a:pt x="102699" y="289800"/>
                  </a:lnTo>
                  <a:lnTo>
                    <a:pt x="96646" y="285241"/>
                  </a:lnTo>
                  <a:lnTo>
                    <a:pt x="89302" y="283380"/>
                  </a:lnTo>
                  <a:close/>
                </a:path>
                <a:path w="641350" h="443230">
                  <a:moveTo>
                    <a:pt x="78867" y="366493"/>
                  </a:moveTo>
                  <a:lnTo>
                    <a:pt x="20574" y="406018"/>
                  </a:lnTo>
                  <a:lnTo>
                    <a:pt x="41910" y="437514"/>
                  </a:lnTo>
                  <a:lnTo>
                    <a:pt x="52963" y="430022"/>
                  </a:lnTo>
                  <a:lnTo>
                    <a:pt x="48387" y="430022"/>
                  </a:lnTo>
                  <a:lnTo>
                    <a:pt x="29971" y="402716"/>
                  </a:lnTo>
                  <a:lnTo>
                    <a:pt x="62540" y="400522"/>
                  </a:lnTo>
                  <a:lnTo>
                    <a:pt x="78867" y="366493"/>
                  </a:lnTo>
                  <a:close/>
                </a:path>
                <a:path w="641350" h="443230">
                  <a:moveTo>
                    <a:pt x="161925" y="393826"/>
                  </a:moveTo>
                  <a:lnTo>
                    <a:pt x="100223" y="397983"/>
                  </a:lnTo>
                  <a:lnTo>
                    <a:pt x="41910" y="437514"/>
                  </a:lnTo>
                  <a:lnTo>
                    <a:pt x="80425" y="437514"/>
                  </a:lnTo>
                  <a:lnTo>
                    <a:pt x="164592" y="431800"/>
                  </a:lnTo>
                  <a:lnTo>
                    <a:pt x="182244" y="411479"/>
                  </a:lnTo>
                  <a:lnTo>
                    <a:pt x="180284" y="404221"/>
                  </a:lnTo>
                  <a:lnTo>
                    <a:pt x="175799" y="398462"/>
                  </a:lnTo>
                  <a:lnTo>
                    <a:pt x="169457" y="394799"/>
                  </a:lnTo>
                  <a:lnTo>
                    <a:pt x="161925" y="393826"/>
                  </a:lnTo>
                  <a:close/>
                </a:path>
                <a:path w="641350" h="443230">
                  <a:moveTo>
                    <a:pt x="62540" y="400522"/>
                  </a:moveTo>
                  <a:lnTo>
                    <a:pt x="29971" y="402716"/>
                  </a:lnTo>
                  <a:lnTo>
                    <a:pt x="48387" y="430022"/>
                  </a:lnTo>
                  <a:lnTo>
                    <a:pt x="62540" y="400522"/>
                  </a:lnTo>
                  <a:close/>
                </a:path>
                <a:path w="641350" h="443230">
                  <a:moveTo>
                    <a:pt x="100223" y="397983"/>
                  </a:moveTo>
                  <a:lnTo>
                    <a:pt x="62540" y="400522"/>
                  </a:lnTo>
                  <a:lnTo>
                    <a:pt x="48500" y="429785"/>
                  </a:lnTo>
                  <a:lnTo>
                    <a:pt x="48387" y="430022"/>
                  </a:lnTo>
                  <a:lnTo>
                    <a:pt x="52963" y="430022"/>
                  </a:lnTo>
                  <a:lnTo>
                    <a:pt x="100223" y="397983"/>
                  </a:lnTo>
                  <a:close/>
                </a:path>
                <a:path w="641350" h="443230">
                  <a:moveTo>
                    <a:pt x="619379" y="0"/>
                  </a:moveTo>
                  <a:lnTo>
                    <a:pt x="78867" y="366493"/>
                  </a:lnTo>
                  <a:lnTo>
                    <a:pt x="62540" y="400522"/>
                  </a:lnTo>
                  <a:lnTo>
                    <a:pt x="100223" y="397983"/>
                  </a:lnTo>
                  <a:lnTo>
                    <a:pt x="640842" y="31495"/>
                  </a:lnTo>
                  <a:lnTo>
                    <a:pt x="619379" y="0"/>
                  </a:lnTo>
                  <a:close/>
                </a:path>
              </a:pathLst>
            </a:custGeom>
            <a:solidFill>
              <a:srgbClr val="000000"/>
            </a:solidFill>
          </p:spPr>
          <p:txBody>
            <a:bodyPr wrap="square" lIns="0" tIns="0" rIns="0" bIns="0" rtlCol="0"/>
            <a:lstStyle/>
            <a:p>
              <a:endParaRPr/>
            </a:p>
          </p:txBody>
        </p:sp>
      </p:grpSp>
      <p:grpSp>
        <p:nvGrpSpPr>
          <p:cNvPr id="10" name="object 10"/>
          <p:cNvGrpSpPr/>
          <p:nvPr/>
        </p:nvGrpSpPr>
        <p:grpSpPr>
          <a:xfrm>
            <a:off x="3438144" y="406908"/>
            <a:ext cx="1202690" cy="501650"/>
            <a:chOff x="3438144" y="406908"/>
            <a:chExt cx="1202690" cy="501650"/>
          </a:xfrm>
        </p:grpSpPr>
        <p:pic>
          <p:nvPicPr>
            <p:cNvPr id="11" name="object 11"/>
            <p:cNvPicPr/>
            <p:nvPr/>
          </p:nvPicPr>
          <p:blipFill>
            <a:blip r:embed="rId3" cstate="print"/>
            <a:stretch>
              <a:fillRect/>
            </a:stretch>
          </p:blipFill>
          <p:spPr>
            <a:xfrm>
              <a:off x="3438144" y="406908"/>
              <a:ext cx="1202436" cy="501396"/>
            </a:xfrm>
            <a:prstGeom prst="rect">
              <a:avLst/>
            </a:prstGeom>
          </p:spPr>
        </p:pic>
        <p:sp>
          <p:nvSpPr>
            <p:cNvPr id="12" name="object 12"/>
            <p:cNvSpPr/>
            <p:nvPr/>
          </p:nvSpPr>
          <p:spPr>
            <a:xfrm>
              <a:off x="3480435" y="426593"/>
              <a:ext cx="948055" cy="294640"/>
            </a:xfrm>
            <a:custGeom>
              <a:avLst/>
              <a:gdLst/>
              <a:ahLst/>
              <a:cxnLst/>
              <a:rect l="l" t="t" r="r" b="b"/>
              <a:pathLst>
                <a:path w="948054" h="294640">
                  <a:moveTo>
                    <a:pt x="837941" y="239720"/>
                  </a:moveTo>
                  <a:lnTo>
                    <a:pt x="778637" y="257429"/>
                  </a:lnTo>
                  <a:lnTo>
                    <a:pt x="771989" y="261014"/>
                  </a:lnTo>
                  <a:lnTo>
                    <a:pt x="767365" y="266684"/>
                  </a:lnTo>
                  <a:lnTo>
                    <a:pt x="765171" y="273663"/>
                  </a:lnTo>
                  <a:lnTo>
                    <a:pt x="765810" y="281178"/>
                  </a:lnTo>
                  <a:lnTo>
                    <a:pt x="769395" y="287825"/>
                  </a:lnTo>
                  <a:lnTo>
                    <a:pt x="775065" y="292449"/>
                  </a:lnTo>
                  <a:lnTo>
                    <a:pt x="782044" y="294643"/>
                  </a:lnTo>
                  <a:lnTo>
                    <a:pt x="789559" y="294005"/>
                  </a:lnTo>
                  <a:lnTo>
                    <a:pt x="915457" y="256286"/>
                  </a:lnTo>
                  <a:lnTo>
                    <a:pt x="906399" y="256286"/>
                  </a:lnTo>
                  <a:lnTo>
                    <a:pt x="837941" y="239720"/>
                  </a:lnTo>
                  <a:close/>
                </a:path>
                <a:path w="948054" h="294640">
                  <a:moveTo>
                    <a:pt x="874071" y="228932"/>
                  </a:moveTo>
                  <a:lnTo>
                    <a:pt x="837941" y="239720"/>
                  </a:lnTo>
                  <a:lnTo>
                    <a:pt x="906399" y="256286"/>
                  </a:lnTo>
                  <a:lnTo>
                    <a:pt x="907545" y="251587"/>
                  </a:lnTo>
                  <a:lnTo>
                    <a:pt x="897636" y="251587"/>
                  </a:lnTo>
                  <a:lnTo>
                    <a:pt x="874071" y="228932"/>
                  </a:lnTo>
                  <a:close/>
                </a:path>
                <a:path w="948054" h="294640">
                  <a:moveTo>
                    <a:pt x="815070" y="127079"/>
                  </a:moveTo>
                  <a:lnTo>
                    <a:pt x="807940" y="128637"/>
                  </a:lnTo>
                  <a:lnTo>
                    <a:pt x="801751" y="132969"/>
                  </a:lnTo>
                  <a:lnTo>
                    <a:pt x="797651" y="139301"/>
                  </a:lnTo>
                  <a:lnTo>
                    <a:pt x="796385" y="146478"/>
                  </a:lnTo>
                  <a:lnTo>
                    <a:pt x="797929" y="153632"/>
                  </a:lnTo>
                  <a:lnTo>
                    <a:pt x="802259" y="159893"/>
                  </a:lnTo>
                  <a:lnTo>
                    <a:pt x="846815" y="202729"/>
                  </a:lnTo>
                  <a:lnTo>
                    <a:pt x="915415" y="219329"/>
                  </a:lnTo>
                  <a:lnTo>
                    <a:pt x="906399" y="256286"/>
                  </a:lnTo>
                  <a:lnTo>
                    <a:pt x="915457" y="256286"/>
                  </a:lnTo>
                  <a:lnTo>
                    <a:pt x="947674" y="246634"/>
                  </a:lnTo>
                  <a:lnTo>
                    <a:pt x="828675" y="132334"/>
                  </a:lnTo>
                  <a:lnTo>
                    <a:pt x="822271" y="128307"/>
                  </a:lnTo>
                  <a:lnTo>
                    <a:pt x="815070" y="127079"/>
                  </a:lnTo>
                  <a:close/>
                </a:path>
                <a:path w="948054" h="294640">
                  <a:moveTo>
                    <a:pt x="905382" y="219583"/>
                  </a:moveTo>
                  <a:lnTo>
                    <a:pt x="874071" y="228932"/>
                  </a:lnTo>
                  <a:lnTo>
                    <a:pt x="897636" y="251587"/>
                  </a:lnTo>
                  <a:lnTo>
                    <a:pt x="905382" y="219583"/>
                  </a:lnTo>
                  <a:close/>
                </a:path>
                <a:path w="948054" h="294640">
                  <a:moveTo>
                    <a:pt x="915354" y="219583"/>
                  </a:moveTo>
                  <a:lnTo>
                    <a:pt x="905382" y="219583"/>
                  </a:lnTo>
                  <a:lnTo>
                    <a:pt x="897636" y="251587"/>
                  </a:lnTo>
                  <a:lnTo>
                    <a:pt x="907545" y="251587"/>
                  </a:lnTo>
                  <a:lnTo>
                    <a:pt x="915354" y="219583"/>
                  </a:lnTo>
                  <a:close/>
                </a:path>
                <a:path w="948054" h="294640">
                  <a:moveTo>
                    <a:pt x="9016" y="0"/>
                  </a:moveTo>
                  <a:lnTo>
                    <a:pt x="0" y="36957"/>
                  </a:lnTo>
                  <a:lnTo>
                    <a:pt x="837941" y="239720"/>
                  </a:lnTo>
                  <a:lnTo>
                    <a:pt x="874071" y="228932"/>
                  </a:lnTo>
                  <a:lnTo>
                    <a:pt x="846815" y="202729"/>
                  </a:lnTo>
                  <a:lnTo>
                    <a:pt x="9016" y="0"/>
                  </a:lnTo>
                  <a:close/>
                </a:path>
                <a:path w="948054" h="294640">
                  <a:moveTo>
                    <a:pt x="846815" y="202729"/>
                  </a:moveTo>
                  <a:lnTo>
                    <a:pt x="874071" y="228932"/>
                  </a:lnTo>
                  <a:lnTo>
                    <a:pt x="905382" y="219583"/>
                  </a:lnTo>
                  <a:lnTo>
                    <a:pt x="915354" y="219583"/>
                  </a:lnTo>
                  <a:lnTo>
                    <a:pt x="915415" y="219329"/>
                  </a:lnTo>
                  <a:lnTo>
                    <a:pt x="846815" y="202729"/>
                  </a:lnTo>
                  <a:close/>
                </a:path>
              </a:pathLst>
            </a:custGeom>
            <a:solidFill>
              <a:srgbClr val="000000"/>
            </a:solidFill>
          </p:spPr>
          <p:txBody>
            <a:bodyPr wrap="square" lIns="0" tIns="0" rIns="0" bIns="0" rtlCol="0"/>
            <a:lstStyle/>
            <a:p>
              <a:endParaRPr/>
            </a:p>
          </p:txBody>
        </p:sp>
      </p:grpSp>
      <p:sp>
        <p:nvSpPr>
          <p:cNvPr id="13" name="object 13"/>
          <p:cNvSpPr txBox="1"/>
          <p:nvPr/>
        </p:nvSpPr>
        <p:spPr>
          <a:xfrm>
            <a:off x="5910198" y="-80010"/>
            <a:ext cx="293878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Times New Roman" panose="02020603050405020304"/>
                <a:cs typeface="Times New Roman" panose="02020603050405020304"/>
              </a:rPr>
              <a:t>Collection</a:t>
            </a:r>
            <a:r>
              <a:rPr sz="3200" spc="-25" dirty="0">
                <a:latin typeface="Times New Roman" panose="02020603050405020304"/>
                <a:cs typeface="Times New Roman" panose="02020603050405020304"/>
              </a:rPr>
              <a:t> </a:t>
            </a:r>
            <a:r>
              <a:rPr sz="3200" dirty="0">
                <a:latin typeface="Times New Roman" panose="02020603050405020304"/>
                <a:cs typeface="Times New Roman" panose="02020603050405020304"/>
              </a:rPr>
              <a:t>of</a:t>
            </a:r>
            <a:r>
              <a:rPr sz="3200" spc="5" dirty="0">
                <a:latin typeface="Times New Roman" panose="02020603050405020304"/>
                <a:cs typeface="Times New Roman" panose="02020603050405020304"/>
              </a:rPr>
              <a:t> </a:t>
            </a:r>
            <a:r>
              <a:rPr sz="3200" spc="-20" dirty="0">
                <a:latin typeface="Times New Roman" panose="02020603050405020304"/>
                <a:cs typeface="Times New Roman" panose="02020603050405020304"/>
              </a:rPr>
              <a:t>data</a:t>
            </a:r>
            <a:endParaRPr sz="3200">
              <a:latin typeface="Times New Roman" panose="02020603050405020304"/>
              <a:cs typeface="Times New Roman" panose="02020603050405020304"/>
            </a:endParaRPr>
          </a:p>
        </p:txBody>
      </p:sp>
      <p:sp>
        <p:nvSpPr>
          <p:cNvPr id="14" name="object 14"/>
          <p:cNvSpPr txBox="1"/>
          <p:nvPr/>
        </p:nvSpPr>
        <p:spPr>
          <a:xfrm>
            <a:off x="6182995" y="407670"/>
            <a:ext cx="2736215" cy="513715"/>
          </a:xfrm>
          <a:prstGeom prst="rect">
            <a:avLst/>
          </a:prstGeom>
        </p:spPr>
        <p:txBody>
          <a:bodyPr vert="horz" wrap="square" lIns="0" tIns="13335" rIns="0" bIns="0" rtlCol="0">
            <a:spAutoFit/>
          </a:bodyPr>
          <a:lstStyle/>
          <a:p>
            <a:pPr marL="12700">
              <a:lnSpc>
                <a:spcPct val="100000"/>
              </a:lnSpc>
              <a:spcBef>
                <a:spcPts val="105"/>
              </a:spcBef>
            </a:pPr>
            <a:r>
              <a:rPr sz="3200" dirty="0">
                <a:latin typeface="Times New Roman" panose="02020603050405020304"/>
                <a:cs typeface="Times New Roman" panose="02020603050405020304"/>
              </a:rPr>
              <a:t>about</a:t>
            </a:r>
            <a:r>
              <a:rPr sz="3200" spc="-45" dirty="0">
                <a:latin typeface="Times New Roman" panose="02020603050405020304"/>
                <a:cs typeface="Times New Roman" panose="02020603050405020304"/>
              </a:rPr>
              <a:t> </a:t>
            </a:r>
            <a:r>
              <a:rPr sz="3200" dirty="0">
                <a:latin typeface="Times New Roman" panose="02020603050405020304"/>
                <a:cs typeface="Times New Roman" panose="02020603050405020304"/>
              </a:rPr>
              <a:t>the</a:t>
            </a:r>
            <a:r>
              <a:rPr sz="3200" spc="-15" dirty="0">
                <a:latin typeface="Times New Roman" panose="02020603050405020304"/>
                <a:cs typeface="Times New Roman" panose="02020603050405020304"/>
              </a:rPr>
              <a:t> </a:t>
            </a:r>
            <a:r>
              <a:rPr sz="3200" spc="-10" dirty="0">
                <a:latin typeface="Times New Roman" panose="02020603050405020304"/>
                <a:cs typeface="Times New Roman" panose="02020603050405020304"/>
              </a:rPr>
              <a:t>patient</a:t>
            </a:r>
            <a:endParaRPr sz="3200">
              <a:latin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425577"/>
            <a:ext cx="8352155" cy="6253480"/>
          </a:xfrm>
          <a:prstGeom prst="rect">
            <a:avLst/>
          </a:prstGeom>
        </p:spPr>
        <p:txBody>
          <a:bodyPr vert="horz" wrap="square" lIns="0" tIns="12065" rIns="0" bIns="0" rtlCol="0">
            <a:spAutoFit/>
          </a:bodyPr>
          <a:lstStyle/>
          <a:p>
            <a:pPr marL="355600" marR="201930" indent="-342900">
              <a:lnSpc>
                <a:spcPct val="100000"/>
              </a:lnSpc>
              <a:spcBef>
                <a:spcPts val="95"/>
              </a:spcBef>
              <a:buFont typeface="Microsoft Sans Serif" panose="020B0604020202020204"/>
              <a:buChar char="•"/>
              <a:tabLst>
                <a:tab pos="355600" algn="l"/>
              </a:tabLst>
            </a:pPr>
            <a:r>
              <a:rPr sz="2800" dirty="0">
                <a:latin typeface="Times New Roman" panose="02020603050405020304"/>
                <a:cs typeface="Times New Roman" panose="02020603050405020304"/>
              </a:rPr>
              <a:t>Before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any</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administered,</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must </a:t>
            </a:r>
            <a:r>
              <a:rPr sz="2800" spc="-10" dirty="0">
                <a:latin typeface="Times New Roman" panose="02020603050405020304"/>
                <a:cs typeface="Times New Roman" panose="02020603050405020304"/>
              </a:rPr>
              <a:t>obtain </a:t>
            </a:r>
            <a:r>
              <a:rPr sz="2800" dirty="0">
                <a:latin typeface="Times New Roman" panose="02020603050405020304"/>
                <a:cs typeface="Times New Roman" panose="02020603050405020304"/>
              </a:rPr>
              <a:t>and</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pertinent</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information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regarding</a:t>
            </a:r>
            <a:r>
              <a:rPr sz="2800" spc="-5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patient’s</a:t>
            </a:r>
            <a:r>
              <a:rPr sz="2800" spc="-85" dirty="0">
                <a:latin typeface="Times New Roman" panose="02020603050405020304"/>
                <a:cs typeface="Times New Roman" panose="02020603050405020304"/>
              </a:rPr>
              <a:t> </a:t>
            </a:r>
            <a:r>
              <a:rPr sz="2800" dirty="0">
                <a:latin typeface="Times New Roman" panose="02020603050405020304"/>
                <a:cs typeface="Times New Roman" panose="02020603050405020304"/>
              </a:rPr>
              <a:t>medical</a:t>
            </a:r>
            <a:r>
              <a:rPr sz="2800" spc="-7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history,</a:t>
            </a:r>
            <a:r>
              <a:rPr sz="2800" spc="-90" dirty="0">
                <a:latin typeface="Times New Roman" panose="02020603050405020304"/>
                <a:cs typeface="Times New Roman" panose="02020603050405020304"/>
              </a:rPr>
              <a:t> </a:t>
            </a:r>
            <a:r>
              <a:rPr sz="2800" dirty="0">
                <a:latin typeface="Times New Roman" panose="02020603050405020304"/>
                <a:cs typeface="Times New Roman" panose="02020603050405020304"/>
              </a:rPr>
              <a:t>physical</a:t>
            </a:r>
            <a:r>
              <a:rPr sz="2800" spc="-9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assessment,</a:t>
            </a:r>
            <a:r>
              <a:rPr sz="2800" spc="-7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disease </a:t>
            </a:r>
            <a:r>
              <a:rPr sz="2800" dirty="0">
                <a:latin typeface="Times New Roman" panose="02020603050405020304"/>
                <a:cs typeface="Times New Roman" panose="02020603050405020304"/>
              </a:rPr>
              <a:t>processes,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learning</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needs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capabilities.</a:t>
            </a:r>
            <a:r>
              <a:rPr sz="2800" spc="-5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Growth </a:t>
            </a:r>
            <a:r>
              <a:rPr sz="2800" dirty="0">
                <a:latin typeface="Times New Roman" panose="02020603050405020304"/>
                <a:cs typeface="Times New Roman" panose="02020603050405020304"/>
              </a:rPr>
              <a:t>and</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developmental</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factors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must</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always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be</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considered.</a:t>
            </a:r>
            <a:endParaRPr sz="2800">
              <a:latin typeface="Times New Roman" panose="02020603050405020304"/>
              <a:cs typeface="Times New Roman" panose="02020603050405020304"/>
            </a:endParaRPr>
          </a:p>
          <a:p>
            <a:pPr marL="355600" marR="170180" indent="-342900">
              <a:lnSpc>
                <a:spcPct val="100000"/>
              </a:lnSpc>
              <a:spcBef>
                <a:spcPts val="675"/>
              </a:spcBef>
              <a:buFont typeface="Microsoft Sans Serif" panose="020B0604020202020204"/>
              <a:buChar char="•"/>
              <a:tabLst>
                <a:tab pos="355600" algn="l"/>
              </a:tabLst>
            </a:pPr>
            <a:r>
              <a:rPr sz="2800" dirty="0">
                <a:latin typeface="Times New Roman" panose="02020603050405020304"/>
                <a:cs typeface="Times New Roman" panose="02020603050405020304"/>
              </a:rPr>
              <a:t>It</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important</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remember that</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large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number</a:t>
            </a:r>
            <a:r>
              <a:rPr sz="2800" spc="-25" dirty="0">
                <a:latin typeface="Times New Roman" panose="02020603050405020304"/>
                <a:cs typeface="Times New Roman" panose="02020603050405020304"/>
              </a:rPr>
              <a:t> of </a:t>
            </a:r>
            <a:r>
              <a:rPr sz="2800" dirty="0">
                <a:latin typeface="Times New Roman" panose="02020603050405020304"/>
                <a:cs typeface="Times New Roman" panose="02020603050405020304"/>
              </a:rPr>
              <a:t>variables</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influence</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patient’s</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response</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5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medications.</a:t>
            </a:r>
            <a:endParaRPr sz="2800">
              <a:latin typeface="Times New Roman" panose="02020603050405020304"/>
              <a:cs typeface="Times New Roman" panose="02020603050405020304"/>
            </a:endParaRPr>
          </a:p>
          <a:p>
            <a:pPr marL="355600" marR="739775" indent="-342900">
              <a:lnSpc>
                <a:spcPct val="115000"/>
              </a:lnSpc>
              <a:spcBef>
                <a:spcPts val="370"/>
              </a:spcBef>
              <a:buFont typeface="Microsoft Sans Serif" panose="020B0604020202020204"/>
              <a:buChar char="•"/>
              <a:tabLst>
                <a:tab pos="355600" algn="l"/>
              </a:tabLst>
            </a:pPr>
            <a:r>
              <a:rPr sz="2800" dirty="0">
                <a:latin typeface="Times New Roman" panose="02020603050405020304"/>
                <a:cs typeface="Times New Roman" panose="02020603050405020304"/>
              </a:rPr>
              <a:t>Having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firm</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understanding</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these</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variables</a:t>
            </a:r>
            <a:r>
              <a:rPr sz="2800" spc="-6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can </a:t>
            </a:r>
            <a:r>
              <a:rPr sz="2800" dirty="0">
                <a:latin typeface="Times New Roman" panose="02020603050405020304"/>
                <a:cs typeface="Times New Roman" panose="02020603050405020304"/>
              </a:rPr>
              <a:t>increase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success</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pharmacotherapy.</a:t>
            </a:r>
            <a:endParaRPr sz="2800">
              <a:latin typeface="Times New Roman" panose="02020603050405020304"/>
              <a:cs typeface="Times New Roman" panose="02020603050405020304"/>
            </a:endParaRPr>
          </a:p>
          <a:p>
            <a:pPr marL="355600" marR="109220" indent="-342900">
              <a:lnSpc>
                <a:spcPct val="115000"/>
              </a:lnSpc>
              <a:spcBef>
                <a:spcPts val="1670"/>
              </a:spcBef>
              <a:buFont typeface="Microsoft Sans Serif" panose="020B0604020202020204"/>
              <a:buChar char="•"/>
              <a:tabLst>
                <a:tab pos="355600" algn="l"/>
              </a:tabLst>
            </a:pPr>
            <a:r>
              <a:rPr sz="2800" dirty="0">
                <a:latin typeface="Times New Roman" panose="02020603050405020304"/>
                <a:cs typeface="Times New Roman" panose="02020603050405020304"/>
              </a:rPr>
              <a:t>The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extent</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assessment</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collection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data </a:t>
            </a:r>
            <a:r>
              <a:rPr sz="2800" dirty="0">
                <a:latin typeface="Times New Roman" panose="02020603050405020304"/>
                <a:cs typeface="Times New Roman" panose="02020603050405020304"/>
              </a:rPr>
              <a:t>before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after</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administered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will</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depend</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on</a:t>
            </a:r>
            <a:r>
              <a:rPr sz="2800" spc="-1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type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reason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its</a:t>
            </a:r>
            <a:r>
              <a:rPr sz="2800" spc="-3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use.</a:t>
            </a:r>
            <a:endParaRPr sz="2800">
              <a:latin typeface="Times New Roman" panose="02020603050405020304"/>
              <a:cs typeface="Times New Roman" panose="02020603050405020304"/>
            </a:endParaRPr>
          </a:p>
          <a:p>
            <a:pPr marL="3872865">
              <a:lnSpc>
                <a:spcPct val="100000"/>
              </a:lnSpc>
              <a:spcBef>
                <a:spcPts val="1695"/>
              </a:spcBef>
              <a:tabLst>
                <a:tab pos="7793990" algn="l"/>
              </a:tabLst>
            </a:pPr>
            <a:r>
              <a:rPr sz="1200" dirty="0">
                <a:solidFill>
                  <a:srgbClr val="888888"/>
                </a:solidFill>
                <a:latin typeface="Calibri" panose="020F0502020204030204"/>
                <a:cs typeface="Calibri" panose="020F0502020204030204"/>
              </a:rPr>
              <a:t>	</a:t>
            </a:r>
            <a:endParaRPr sz="1200">
              <a:latin typeface="Calibri" panose="020F0502020204030204"/>
              <a:cs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300" y="151130"/>
            <a:ext cx="8837930" cy="1911350"/>
          </a:xfrm>
          <a:prstGeom prst="rect">
            <a:avLst/>
          </a:prstGeom>
        </p:spPr>
        <p:txBody>
          <a:bodyPr vert="horz" wrap="square" lIns="0" tIns="34925" rIns="0" bIns="0" rtlCol="0">
            <a:noAutofit/>
          </a:bodyPr>
          <a:lstStyle/>
          <a:p>
            <a:pPr marL="12700" marR="5080">
              <a:lnSpc>
                <a:spcPct val="95000"/>
              </a:lnSpc>
              <a:spcBef>
                <a:spcPts val="275"/>
              </a:spcBef>
            </a:pPr>
            <a:r>
              <a:rPr sz="3100" dirty="0">
                <a:solidFill>
                  <a:srgbClr val="D50092"/>
                </a:solidFill>
              </a:rPr>
              <a:t>Initial</a:t>
            </a:r>
            <a:r>
              <a:rPr sz="3100" spc="-55" dirty="0">
                <a:solidFill>
                  <a:srgbClr val="D50092"/>
                </a:solidFill>
              </a:rPr>
              <a:t> </a:t>
            </a:r>
            <a:r>
              <a:rPr sz="3100" dirty="0">
                <a:solidFill>
                  <a:srgbClr val="D50092"/>
                </a:solidFill>
              </a:rPr>
              <a:t>or</a:t>
            </a:r>
            <a:r>
              <a:rPr sz="3100" spc="-135" dirty="0">
                <a:solidFill>
                  <a:srgbClr val="D50092"/>
                </a:solidFill>
              </a:rPr>
              <a:t> </a:t>
            </a:r>
            <a:r>
              <a:rPr sz="3100" spc="-40" dirty="0">
                <a:solidFill>
                  <a:srgbClr val="D50092"/>
                </a:solidFill>
              </a:rPr>
              <a:t>pre-</a:t>
            </a:r>
            <a:r>
              <a:rPr sz="3100" dirty="0">
                <a:solidFill>
                  <a:srgbClr val="D50092"/>
                </a:solidFill>
              </a:rPr>
              <a:t>administration</a:t>
            </a:r>
            <a:r>
              <a:rPr sz="3100" spc="-40" dirty="0">
                <a:solidFill>
                  <a:srgbClr val="D50092"/>
                </a:solidFill>
              </a:rPr>
              <a:t> </a:t>
            </a:r>
            <a:r>
              <a:rPr sz="3100" dirty="0">
                <a:solidFill>
                  <a:srgbClr val="D50092"/>
                </a:solidFill>
              </a:rPr>
              <a:t>assessment</a:t>
            </a:r>
            <a:r>
              <a:rPr sz="3100" spc="-20" dirty="0">
                <a:solidFill>
                  <a:srgbClr val="D50092"/>
                </a:solidFill>
              </a:rPr>
              <a:t> </a:t>
            </a:r>
            <a:r>
              <a:rPr sz="2700" dirty="0">
                <a:solidFill>
                  <a:srgbClr val="D50092"/>
                </a:solidFill>
              </a:rPr>
              <a:t>–</a:t>
            </a:r>
            <a:r>
              <a:rPr sz="2700" spc="-65" dirty="0">
                <a:solidFill>
                  <a:srgbClr val="D50092"/>
                </a:solidFill>
              </a:rPr>
              <a:t> </a:t>
            </a:r>
            <a:r>
              <a:rPr sz="2600" b="0" dirty="0">
                <a:solidFill>
                  <a:srgbClr val="000000"/>
                </a:solidFill>
                <a:latin typeface="Times New Roman" panose="02020603050405020304"/>
                <a:cs typeface="Times New Roman" panose="02020603050405020304"/>
              </a:rPr>
              <a:t>Collection</a:t>
            </a:r>
            <a:r>
              <a:rPr sz="2600" b="0" spc="-75" dirty="0">
                <a:solidFill>
                  <a:srgbClr val="000000"/>
                </a:solidFill>
                <a:latin typeface="Times New Roman" panose="02020603050405020304"/>
                <a:cs typeface="Times New Roman" panose="02020603050405020304"/>
              </a:rPr>
              <a:t> </a:t>
            </a:r>
            <a:r>
              <a:rPr sz="2600" b="0" spc="-25" dirty="0">
                <a:solidFill>
                  <a:srgbClr val="000000"/>
                </a:solidFill>
                <a:latin typeface="Times New Roman" panose="02020603050405020304"/>
                <a:cs typeface="Times New Roman" panose="02020603050405020304"/>
              </a:rPr>
              <a:t>of </a:t>
            </a:r>
            <a:r>
              <a:rPr sz="2600" b="0" dirty="0">
                <a:solidFill>
                  <a:srgbClr val="000000"/>
                </a:solidFill>
                <a:latin typeface="Times New Roman" panose="02020603050405020304"/>
                <a:cs typeface="Times New Roman" panose="02020603050405020304"/>
              </a:rPr>
              <a:t>base</a:t>
            </a:r>
            <a:r>
              <a:rPr sz="2600" b="0" spc="-2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line</a:t>
            </a:r>
            <a:r>
              <a:rPr sz="2600" b="0" spc="-1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data</a:t>
            </a:r>
            <a:r>
              <a:rPr sz="2600" b="0" spc="-3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before</a:t>
            </a:r>
            <a:r>
              <a:rPr sz="2600" b="0" spc="-3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administration</a:t>
            </a:r>
            <a:r>
              <a:rPr sz="2600" b="0" spc="-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of</a:t>
            </a:r>
            <a:r>
              <a:rPr sz="2600" b="0" spc="-3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drugs</a:t>
            </a:r>
            <a:r>
              <a:rPr sz="2600" b="0" spc="-2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to</a:t>
            </a:r>
            <a:r>
              <a:rPr sz="2600" b="0" spc="-1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identify</a:t>
            </a:r>
            <a:r>
              <a:rPr sz="2600" b="0" spc="-20" dirty="0">
                <a:solidFill>
                  <a:srgbClr val="000000"/>
                </a:solidFill>
                <a:latin typeface="Times New Roman" panose="02020603050405020304"/>
                <a:cs typeface="Times New Roman" panose="02020603050405020304"/>
              </a:rPr>
              <a:t> </a:t>
            </a:r>
            <a:r>
              <a:rPr sz="2600" b="0" spc="-25" dirty="0">
                <a:solidFill>
                  <a:srgbClr val="000000"/>
                </a:solidFill>
                <a:latin typeface="Times New Roman" panose="02020603050405020304"/>
                <a:cs typeface="Times New Roman" panose="02020603050405020304"/>
              </a:rPr>
              <a:t>the </a:t>
            </a:r>
            <a:r>
              <a:rPr sz="2600" b="0" dirty="0">
                <a:solidFill>
                  <a:srgbClr val="000000"/>
                </a:solidFill>
                <a:latin typeface="Times New Roman" panose="02020603050405020304"/>
                <a:cs typeface="Times New Roman" panose="02020603050405020304"/>
              </a:rPr>
              <a:t>variable</a:t>
            </a:r>
            <a:r>
              <a:rPr sz="2600" b="0" spc="-4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that</a:t>
            </a:r>
            <a:r>
              <a:rPr sz="2600" b="0" spc="-3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can</a:t>
            </a:r>
            <a:r>
              <a:rPr sz="2600" b="0" spc="-3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affect</a:t>
            </a:r>
            <a:r>
              <a:rPr sz="2600" b="0" spc="-3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an</a:t>
            </a:r>
            <a:r>
              <a:rPr sz="2600" b="0" spc="-2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individual's</a:t>
            </a:r>
            <a:r>
              <a:rPr sz="2600" b="0" spc="-3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responses</a:t>
            </a:r>
            <a:r>
              <a:rPr sz="2600" b="0" spc="-3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to</a:t>
            </a:r>
            <a:r>
              <a:rPr sz="2600" b="0" spc="-2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drugs</a:t>
            </a:r>
            <a:r>
              <a:rPr sz="2600" b="0" spc="-45" dirty="0">
                <a:solidFill>
                  <a:srgbClr val="000000"/>
                </a:solidFill>
                <a:latin typeface="Times New Roman" panose="02020603050405020304"/>
                <a:cs typeface="Times New Roman" panose="02020603050405020304"/>
              </a:rPr>
              <a:t> </a:t>
            </a:r>
            <a:r>
              <a:rPr sz="2600" b="0" spc="-25" dirty="0">
                <a:solidFill>
                  <a:srgbClr val="000000"/>
                </a:solidFill>
                <a:latin typeface="Times New Roman" panose="02020603050405020304"/>
                <a:cs typeface="Times New Roman" panose="02020603050405020304"/>
              </a:rPr>
              <a:t>and </a:t>
            </a:r>
            <a:r>
              <a:rPr sz="2600" b="0" dirty="0">
                <a:solidFill>
                  <a:srgbClr val="000000"/>
                </a:solidFill>
                <a:latin typeface="Times New Roman" panose="02020603050405020304"/>
                <a:cs typeface="Times New Roman" panose="02020603050405020304"/>
              </a:rPr>
              <a:t>evaluate</a:t>
            </a:r>
            <a:r>
              <a:rPr sz="2600" b="0" spc="-3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the</a:t>
            </a:r>
            <a:r>
              <a:rPr sz="2600" b="0" spc="-1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effectiveness</a:t>
            </a:r>
            <a:r>
              <a:rPr sz="2600" b="0" spc="-3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of</a:t>
            </a:r>
            <a:r>
              <a:rPr sz="2600" b="0" spc="-1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the</a:t>
            </a:r>
            <a:r>
              <a:rPr sz="2600" b="0" spc="-3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drug</a:t>
            </a:r>
            <a:r>
              <a:rPr sz="2600" b="0" spc="-3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and</a:t>
            </a:r>
            <a:r>
              <a:rPr sz="2600" b="0" spc="-2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the</a:t>
            </a:r>
            <a:r>
              <a:rPr sz="2600" b="0" spc="-15"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presence</a:t>
            </a:r>
            <a:r>
              <a:rPr sz="2600" b="0" spc="-50" dirty="0">
                <a:solidFill>
                  <a:srgbClr val="000000"/>
                </a:solidFill>
                <a:latin typeface="Times New Roman" panose="02020603050405020304"/>
                <a:cs typeface="Times New Roman" panose="02020603050405020304"/>
              </a:rPr>
              <a:t> </a:t>
            </a:r>
            <a:r>
              <a:rPr sz="2600" b="0" dirty="0">
                <a:solidFill>
                  <a:srgbClr val="000000"/>
                </a:solidFill>
                <a:latin typeface="Times New Roman" panose="02020603050405020304"/>
                <a:cs typeface="Times New Roman" panose="02020603050405020304"/>
              </a:rPr>
              <a:t>of</a:t>
            </a:r>
            <a:r>
              <a:rPr sz="2600" b="0" spc="-10" dirty="0">
                <a:solidFill>
                  <a:srgbClr val="000000"/>
                </a:solidFill>
                <a:latin typeface="Times New Roman" panose="02020603050405020304"/>
                <a:cs typeface="Times New Roman" panose="02020603050405020304"/>
              </a:rPr>
              <a:t> </a:t>
            </a:r>
            <a:r>
              <a:rPr sz="2600" b="0" spc="-25" dirty="0">
                <a:solidFill>
                  <a:srgbClr val="000000"/>
                </a:solidFill>
                <a:latin typeface="Times New Roman" panose="02020603050405020304"/>
                <a:cs typeface="Times New Roman" panose="02020603050405020304"/>
              </a:rPr>
              <a:t>any </a:t>
            </a:r>
            <a:r>
              <a:rPr sz="2600" b="0" dirty="0">
                <a:solidFill>
                  <a:srgbClr val="000000"/>
                </a:solidFill>
                <a:latin typeface="Times New Roman" panose="02020603050405020304"/>
                <a:cs typeface="Times New Roman" panose="02020603050405020304"/>
              </a:rPr>
              <a:t>adverse</a:t>
            </a:r>
            <a:r>
              <a:rPr sz="2600" b="0" spc="-30" dirty="0">
                <a:solidFill>
                  <a:srgbClr val="000000"/>
                </a:solidFill>
                <a:latin typeface="Times New Roman" panose="02020603050405020304"/>
                <a:cs typeface="Times New Roman" panose="02020603050405020304"/>
              </a:rPr>
              <a:t> </a:t>
            </a:r>
            <a:r>
              <a:rPr sz="2600" b="0" spc="-10" dirty="0">
                <a:solidFill>
                  <a:srgbClr val="000000"/>
                </a:solidFill>
                <a:latin typeface="Times New Roman" panose="02020603050405020304"/>
                <a:cs typeface="Times New Roman" panose="02020603050405020304"/>
              </a:rPr>
              <a:t>reactions.</a:t>
            </a:r>
            <a:endParaRPr sz="2600">
              <a:latin typeface="Times New Roman" panose="02020603050405020304"/>
              <a:cs typeface="Times New Roman" panose="02020603050405020304"/>
            </a:endParaRPr>
          </a:p>
        </p:txBody>
      </p:sp>
      <p:sp>
        <p:nvSpPr>
          <p:cNvPr id="3" name="object 3"/>
          <p:cNvSpPr txBox="1"/>
          <p:nvPr/>
        </p:nvSpPr>
        <p:spPr>
          <a:xfrm>
            <a:off x="241198" y="2062937"/>
            <a:ext cx="8417560" cy="791845"/>
          </a:xfrm>
          <a:prstGeom prst="rect">
            <a:avLst/>
          </a:prstGeom>
        </p:spPr>
        <p:txBody>
          <a:bodyPr vert="horz" wrap="square" lIns="0" tIns="48895" rIns="0" bIns="0" rtlCol="0">
            <a:spAutoFit/>
          </a:bodyPr>
          <a:lstStyle/>
          <a:p>
            <a:pPr marL="12700" marR="5080">
              <a:lnSpc>
                <a:spcPts val="2900"/>
              </a:lnSpc>
              <a:spcBef>
                <a:spcPts val="385"/>
              </a:spcBef>
            </a:pPr>
            <a:r>
              <a:rPr sz="2600" dirty="0">
                <a:latin typeface="Times New Roman" panose="02020603050405020304"/>
                <a:cs typeface="Times New Roman" panose="02020603050405020304"/>
              </a:rPr>
              <a:t>The</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goals</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Initial</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preadministration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assessment</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gather </a:t>
            </a:r>
            <a:r>
              <a:rPr sz="2600" dirty="0">
                <a:latin typeface="Times New Roman" panose="02020603050405020304"/>
                <a:cs typeface="Times New Roman" panose="02020603050405020304"/>
              </a:rPr>
              <a:t>data</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needed</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for </a:t>
            </a:r>
            <a:r>
              <a:rPr sz="2600" spc="-50" dirty="0">
                <a:latin typeface="Times New Roman" panose="02020603050405020304"/>
                <a:cs typeface="Times New Roman" panose="02020603050405020304"/>
              </a:rPr>
              <a:t>:</a:t>
            </a:r>
            <a:endParaRPr sz="2600">
              <a:latin typeface="Times New Roman" panose="02020603050405020304"/>
              <a:cs typeface="Times New Roman" panose="02020603050405020304"/>
            </a:endParaRPr>
          </a:p>
        </p:txBody>
      </p:sp>
      <p:sp>
        <p:nvSpPr>
          <p:cNvPr id="4" name="object 4"/>
          <p:cNvSpPr txBox="1"/>
          <p:nvPr/>
        </p:nvSpPr>
        <p:spPr>
          <a:xfrm>
            <a:off x="241198" y="2825939"/>
            <a:ext cx="5273040" cy="2923540"/>
          </a:xfrm>
          <a:prstGeom prst="rect">
            <a:avLst/>
          </a:prstGeom>
        </p:spPr>
        <p:txBody>
          <a:bodyPr vert="horz" wrap="square" lIns="0" tIns="12065" rIns="0" bIns="0" rtlCol="0">
            <a:spAutoFit/>
          </a:bodyPr>
          <a:lstStyle/>
          <a:p>
            <a:pPr marL="146685" marR="5080" indent="-52070">
              <a:lnSpc>
                <a:spcPct val="145000"/>
              </a:lnSpc>
              <a:spcBef>
                <a:spcPts val="95"/>
              </a:spcBef>
              <a:buClr>
                <a:srgbClr val="FF0000"/>
              </a:buClr>
              <a:buFont typeface="Times New Roman" panose="02020603050405020304"/>
              <a:buAutoNum type="arabicPeriod"/>
              <a:tabLst>
                <a:tab pos="146685" algn="l"/>
                <a:tab pos="424815" algn="l"/>
              </a:tabLst>
            </a:pPr>
            <a:r>
              <a:rPr sz="2600" b="1" spc="-20" dirty="0">
                <a:solidFill>
                  <a:srgbClr val="000099"/>
                </a:solidFill>
                <a:latin typeface="Calibri" panose="020F0502020204030204"/>
                <a:cs typeface="Calibri" panose="020F0502020204030204"/>
              </a:rPr>
              <a:t>Collection</a:t>
            </a:r>
            <a:r>
              <a:rPr sz="2600" b="1" spc="-105" dirty="0">
                <a:solidFill>
                  <a:srgbClr val="000099"/>
                </a:solidFill>
                <a:latin typeface="Calibri" panose="020F0502020204030204"/>
                <a:cs typeface="Calibri" panose="020F0502020204030204"/>
              </a:rPr>
              <a:t> </a:t>
            </a:r>
            <a:r>
              <a:rPr sz="2600" b="1" dirty="0">
                <a:solidFill>
                  <a:srgbClr val="000099"/>
                </a:solidFill>
                <a:latin typeface="Calibri" panose="020F0502020204030204"/>
                <a:cs typeface="Calibri" panose="020F0502020204030204"/>
              </a:rPr>
              <a:t>of</a:t>
            </a:r>
            <a:r>
              <a:rPr sz="2600" b="1" spc="-20" dirty="0">
                <a:solidFill>
                  <a:srgbClr val="000099"/>
                </a:solidFill>
                <a:latin typeface="Calibri" panose="020F0502020204030204"/>
                <a:cs typeface="Calibri" panose="020F0502020204030204"/>
              </a:rPr>
              <a:t> </a:t>
            </a:r>
            <a:r>
              <a:rPr sz="2600" b="1" spc="-80" dirty="0">
                <a:solidFill>
                  <a:srgbClr val="000099"/>
                </a:solidFill>
                <a:latin typeface="Calibri" panose="020F0502020204030204"/>
                <a:cs typeface="Calibri" panose="020F0502020204030204"/>
              </a:rPr>
              <a:t>baseline</a:t>
            </a:r>
            <a:r>
              <a:rPr sz="2600" b="1" spc="-60" dirty="0">
                <a:solidFill>
                  <a:srgbClr val="000099"/>
                </a:solidFill>
                <a:latin typeface="Calibri" panose="020F0502020204030204"/>
                <a:cs typeface="Calibri" panose="020F0502020204030204"/>
              </a:rPr>
              <a:t> </a:t>
            </a:r>
            <a:r>
              <a:rPr sz="2600" b="1" spc="-95" dirty="0">
                <a:solidFill>
                  <a:srgbClr val="000099"/>
                </a:solidFill>
                <a:latin typeface="Calibri" panose="020F0502020204030204"/>
                <a:cs typeface="Calibri" panose="020F0502020204030204"/>
              </a:rPr>
              <a:t>data</a:t>
            </a:r>
            <a:r>
              <a:rPr sz="2600" b="1" spc="-55" dirty="0">
                <a:solidFill>
                  <a:srgbClr val="000099"/>
                </a:solidFill>
                <a:latin typeface="Calibri" panose="020F0502020204030204"/>
                <a:cs typeface="Calibri" panose="020F0502020204030204"/>
              </a:rPr>
              <a:t> </a:t>
            </a:r>
            <a:r>
              <a:rPr sz="2600" b="1" spc="-130" dirty="0">
                <a:solidFill>
                  <a:srgbClr val="000099"/>
                </a:solidFill>
                <a:latin typeface="Calibri" panose="020F0502020204030204"/>
                <a:cs typeface="Calibri" panose="020F0502020204030204"/>
              </a:rPr>
              <a:t>needed</a:t>
            </a:r>
            <a:r>
              <a:rPr sz="2600" b="1" spc="-25" dirty="0">
                <a:solidFill>
                  <a:srgbClr val="000099"/>
                </a:solidFill>
                <a:latin typeface="Calibri" panose="020F0502020204030204"/>
                <a:cs typeface="Calibri" panose="020F0502020204030204"/>
              </a:rPr>
              <a:t> to </a:t>
            </a:r>
            <a:r>
              <a:rPr sz="2600" b="1" spc="-90" dirty="0">
                <a:solidFill>
                  <a:srgbClr val="000099"/>
                </a:solidFill>
                <a:latin typeface="Calibri" panose="020F0502020204030204"/>
                <a:cs typeface="Calibri" panose="020F0502020204030204"/>
              </a:rPr>
              <a:t>evaluate</a:t>
            </a:r>
            <a:r>
              <a:rPr sz="2600" b="1" spc="-25" dirty="0">
                <a:solidFill>
                  <a:srgbClr val="000099"/>
                </a:solidFill>
                <a:latin typeface="Calibri" panose="020F0502020204030204"/>
                <a:cs typeface="Calibri" panose="020F0502020204030204"/>
              </a:rPr>
              <a:t> </a:t>
            </a:r>
            <a:r>
              <a:rPr sz="2600" b="1" spc="-60" dirty="0">
                <a:solidFill>
                  <a:srgbClr val="000099"/>
                </a:solidFill>
                <a:latin typeface="Calibri" panose="020F0502020204030204"/>
                <a:cs typeface="Calibri" panose="020F0502020204030204"/>
              </a:rPr>
              <a:t>therapeutic</a:t>
            </a:r>
            <a:r>
              <a:rPr sz="2600" b="1" spc="-35" dirty="0">
                <a:solidFill>
                  <a:srgbClr val="000099"/>
                </a:solidFill>
                <a:latin typeface="Calibri" panose="020F0502020204030204"/>
                <a:cs typeface="Calibri" panose="020F0502020204030204"/>
              </a:rPr>
              <a:t> </a:t>
            </a:r>
            <a:r>
              <a:rPr sz="2600" b="1" spc="-10" dirty="0">
                <a:solidFill>
                  <a:srgbClr val="000099"/>
                </a:solidFill>
                <a:latin typeface="Calibri" panose="020F0502020204030204"/>
                <a:cs typeface="Calibri" panose="020F0502020204030204"/>
              </a:rPr>
              <a:t>responses.</a:t>
            </a:r>
            <a:endParaRPr sz="2600">
              <a:latin typeface="Calibri" panose="020F0502020204030204"/>
              <a:cs typeface="Calibri" panose="020F0502020204030204"/>
            </a:endParaRPr>
          </a:p>
          <a:p>
            <a:pPr marL="146685" marR="15240" indent="-134620">
              <a:lnSpc>
                <a:spcPts val="4600"/>
              </a:lnSpc>
              <a:spcBef>
                <a:spcPts val="385"/>
              </a:spcBef>
              <a:buClr>
                <a:srgbClr val="FF0000"/>
              </a:buClr>
              <a:buAutoNum type="arabicPeriod"/>
              <a:tabLst>
                <a:tab pos="146685" algn="l"/>
                <a:tab pos="415925" algn="l"/>
              </a:tabLst>
            </a:pPr>
            <a:r>
              <a:rPr sz="2600" b="1" spc="-20" dirty="0">
                <a:solidFill>
                  <a:srgbClr val="000099"/>
                </a:solidFill>
                <a:latin typeface="Calibri" panose="020F0502020204030204"/>
                <a:cs typeface="Calibri" panose="020F0502020204030204"/>
              </a:rPr>
              <a:t>Collection</a:t>
            </a:r>
            <a:r>
              <a:rPr sz="2600" b="1" spc="-105" dirty="0">
                <a:solidFill>
                  <a:srgbClr val="000099"/>
                </a:solidFill>
                <a:latin typeface="Calibri" panose="020F0502020204030204"/>
                <a:cs typeface="Calibri" panose="020F0502020204030204"/>
              </a:rPr>
              <a:t> </a:t>
            </a:r>
            <a:r>
              <a:rPr sz="2600" b="1" dirty="0">
                <a:solidFill>
                  <a:srgbClr val="000099"/>
                </a:solidFill>
                <a:latin typeface="Calibri" panose="020F0502020204030204"/>
                <a:cs typeface="Calibri" panose="020F0502020204030204"/>
              </a:rPr>
              <a:t>of</a:t>
            </a:r>
            <a:r>
              <a:rPr sz="2600" b="1" spc="-20" dirty="0">
                <a:solidFill>
                  <a:srgbClr val="000099"/>
                </a:solidFill>
                <a:latin typeface="Calibri" panose="020F0502020204030204"/>
                <a:cs typeface="Calibri" panose="020F0502020204030204"/>
              </a:rPr>
              <a:t> </a:t>
            </a:r>
            <a:r>
              <a:rPr sz="2600" b="1" spc="-80" dirty="0">
                <a:solidFill>
                  <a:srgbClr val="000099"/>
                </a:solidFill>
                <a:latin typeface="Calibri" panose="020F0502020204030204"/>
                <a:cs typeface="Calibri" panose="020F0502020204030204"/>
              </a:rPr>
              <a:t>baseline</a:t>
            </a:r>
            <a:r>
              <a:rPr sz="2600" b="1" spc="-60" dirty="0">
                <a:solidFill>
                  <a:srgbClr val="000099"/>
                </a:solidFill>
                <a:latin typeface="Calibri" panose="020F0502020204030204"/>
                <a:cs typeface="Calibri" panose="020F0502020204030204"/>
              </a:rPr>
              <a:t> </a:t>
            </a:r>
            <a:r>
              <a:rPr sz="2600" b="1" spc="-95" dirty="0">
                <a:solidFill>
                  <a:srgbClr val="000099"/>
                </a:solidFill>
                <a:latin typeface="Calibri" panose="020F0502020204030204"/>
                <a:cs typeface="Calibri" panose="020F0502020204030204"/>
              </a:rPr>
              <a:t>data</a:t>
            </a:r>
            <a:r>
              <a:rPr sz="2600" b="1" spc="-55" dirty="0">
                <a:solidFill>
                  <a:srgbClr val="000099"/>
                </a:solidFill>
                <a:latin typeface="Calibri" panose="020F0502020204030204"/>
                <a:cs typeface="Calibri" panose="020F0502020204030204"/>
              </a:rPr>
              <a:t> </a:t>
            </a:r>
            <a:r>
              <a:rPr sz="2600" b="1" spc="-130" dirty="0">
                <a:solidFill>
                  <a:srgbClr val="000099"/>
                </a:solidFill>
                <a:latin typeface="Calibri" panose="020F0502020204030204"/>
                <a:cs typeface="Calibri" panose="020F0502020204030204"/>
              </a:rPr>
              <a:t>needed</a:t>
            </a:r>
            <a:r>
              <a:rPr sz="2600" b="1" spc="-30" dirty="0">
                <a:solidFill>
                  <a:srgbClr val="000099"/>
                </a:solidFill>
                <a:latin typeface="Calibri" panose="020F0502020204030204"/>
                <a:cs typeface="Calibri" panose="020F0502020204030204"/>
              </a:rPr>
              <a:t> </a:t>
            </a:r>
            <a:r>
              <a:rPr sz="2600" b="1" spc="-25" dirty="0">
                <a:solidFill>
                  <a:srgbClr val="000099"/>
                </a:solidFill>
                <a:latin typeface="Calibri" panose="020F0502020204030204"/>
                <a:cs typeface="Calibri" panose="020F0502020204030204"/>
              </a:rPr>
              <a:t>to </a:t>
            </a:r>
            <a:r>
              <a:rPr sz="2600" b="1" spc="-90" dirty="0">
                <a:solidFill>
                  <a:srgbClr val="000099"/>
                </a:solidFill>
                <a:latin typeface="Calibri" panose="020F0502020204030204"/>
                <a:cs typeface="Calibri" panose="020F0502020204030204"/>
              </a:rPr>
              <a:t>evaluate</a:t>
            </a:r>
            <a:r>
              <a:rPr sz="2600" b="1" spc="-25" dirty="0">
                <a:solidFill>
                  <a:srgbClr val="000099"/>
                </a:solidFill>
                <a:latin typeface="Calibri" panose="020F0502020204030204"/>
                <a:cs typeface="Calibri" panose="020F0502020204030204"/>
              </a:rPr>
              <a:t> </a:t>
            </a:r>
            <a:r>
              <a:rPr sz="2600" b="1" spc="-85" dirty="0">
                <a:solidFill>
                  <a:srgbClr val="000099"/>
                </a:solidFill>
                <a:latin typeface="Calibri" panose="020F0502020204030204"/>
                <a:cs typeface="Calibri" panose="020F0502020204030204"/>
              </a:rPr>
              <a:t>adverse</a:t>
            </a:r>
            <a:r>
              <a:rPr sz="2600" b="1" spc="-20" dirty="0">
                <a:solidFill>
                  <a:srgbClr val="000099"/>
                </a:solidFill>
                <a:latin typeface="Calibri" panose="020F0502020204030204"/>
                <a:cs typeface="Calibri" panose="020F0502020204030204"/>
              </a:rPr>
              <a:t> </a:t>
            </a:r>
            <a:r>
              <a:rPr sz="2600" b="1" spc="-10" dirty="0">
                <a:solidFill>
                  <a:srgbClr val="000099"/>
                </a:solidFill>
                <a:latin typeface="Calibri" panose="020F0502020204030204"/>
                <a:cs typeface="Calibri" panose="020F0502020204030204"/>
              </a:rPr>
              <a:t>effects.</a:t>
            </a:r>
            <a:endParaRPr sz="2600">
              <a:latin typeface="Calibri" panose="020F0502020204030204"/>
              <a:cs typeface="Calibri" panose="020F0502020204030204"/>
            </a:endParaRPr>
          </a:p>
          <a:p>
            <a:pPr marL="415290" indent="-323850">
              <a:lnSpc>
                <a:spcPct val="100000"/>
              </a:lnSpc>
              <a:spcBef>
                <a:spcPts val="1060"/>
              </a:spcBef>
              <a:buClr>
                <a:srgbClr val="FF0000"/>
              </a:buClr>
              <a:buAutoNum type="arabicPeriod"/>
              <a:tabLst>
                <a:tab pos="415290" algn="l"/>
              </a:tabLst>
            </a:pPr>
            <a:r>
              <a:rPr sz="2600" b="1" spc="-40" dirty="0">
                <a:solidFill>
                  <a:srgbClr val="000099"/>
                </a:solidFill>
                <a:latin typeface="Calibri" panose="020F0502020204030204"/>
                <a:cs typeface="Calibri" panose="020F0502020204030204"/>
              </a:rPr>
              <a:t>Identification</a:t>
            </a:r>
            <a:r>
              <a:rPr sz="2600" b="1" spc="-70" dirty="0">
                <a:solidFill>
                  <a:srgbClr val="000099"/>
                </a:solidFill>
                <a:latin typeface="Calibri" panose="020F0502020204030204"/>
                <a:cs typeface="Calibri" panose="020F0502020204030204"/>
              </a:rPr>
              <a:t> </a:t>
            </a:r>
            <a:r>
              <a:rPr sz="2600" b="1" dirty="0">
                <a:solidFill>
                  <a:srgbClr val="000099"/>
                </a:solidFill>
                <a:latin typeface="Calibri" panose="020F0502020204030204"/>
                <a:cs typeface="Calibri" panose="020F0502020204030204"/>
              </a:rPr>
              <a:t>of</a:t>
            </a:r>
            <a:r>
              <a:rPr sz="2600" b="1" spc="-30" dirty="0">
                <a:solidFill>
                  <a:srgbClr val="000099"/>
                </a:solidFill>
                <a:latin typeface="Calibri" panose="020F0502020204030204"/>
                <a:cs typeface="Calibri" panose="020F0502020204030204"/>
              </a:rPr>
              <a:t> </a:t>
            </a:r>
            <a:r>
              <a:rPr sz="2600" b="1" spc="95" dirty="0">
                <a:solidFill>
                  <a:srgbClr val="000099"/>
                </a:solidFill>
                <a:latin typeface="Calibri" panose="020F0502020204030204"/>
                <a:cs typeface="Calibri" panose="020F0502020204030204"/>
              </a:rPr>
              <a:t>high-</a:t>
            </a:r>
            <a:r>
              <a:rPr sz="2600" b="1" dirty="0">
                <a:solidFill>
                  <a:srgbClr val="000099"/>
                </a:solidFill>
                <a:latin typeface="Calibri" panose="020F0502020204030204"/>
                <a:cs typeface="Calibri" panose="020F0502020204030204"/>
              </a:rPr>
              <a:t>risk</a:t>
            </a:r>
            <a:r>
              <a:rPr sz="2600" b="1" spc="-80" dirty="0">
                <a:solidFill>
                  <a:srgbClr val="000099"/>
                </a:solidFill>
                <a:latin typeface="Calibri" panose="020F0502020204030204"/>
                <a:cs typeface="Calibri" panose="020F0502020204030204"/>
              </a:rPr>
              <a:t> </a:t>
            </a:r>
            <a:r>
              <a:rPr sz="2600" b="1" spc="-10" dirty="0">
                <a:solidFill>
                  <a:srgbClr val="000099"/>
                </a:solidFill>
                <a:latin typeface="Calibri" panose="020F0502020204030204"/>
                <a:cs typeface="Calibri" panose="020F0502020204030204"/>
              </a:rPr>
              <a:t>patients</a:t>
            </a:r>
            <a:endParaRPr sz="2600">
              <a:latin typeface="Calibri" panose="020F0502020204030204"/>
              <a:cs typeface="Calibri" panose="020F0502020204030204"/>
            </a:endParaRPr>
          </a:p>
        </p:txBody>
      </p:sp>
      <p:sp>
        <p:nvSpPr>
          <p:cNvPr id="6" name="object 6"/>
          <p:cNvSpPr txBox="1"/>
          <p:nvPr/>
        </p:nvSpPr>
        <p:spPr>
          <a:xfrm>
            <a:off x="320446" y="5908954"/>
            <a:ext cx="8289925" cy="412750"/>
          </a:xfrm>
          <a:prstGeom prst="rect">
            <a:avLst/>
          </a:prstGeom>
        </p:spPr>
        <p:txBody>
          <a:bodyPr vert="horz" wrap="square" lIns="0" tIns="12700" rIns="0" bIns="0" rtlCol="0">
            <a:spAutoFit/>
          </a:bodyPr>
          <a:lstStyle/>
          <a:p>
            <a:pPr marL="12700">
              <a:lnSpc>
                <a:spcPct val="100000"/>
              </a:lnSpc>
              <a:spcBef>
                <a:spcPts val="100"/>
              </a:spcBef>
              <a:tabLst>
                <a:tab pos="6875780" algn="l"/>
                <a:tab pos="7183755" algn="l"/>
              </a:tabLst>
            </a:pPr>
            <a:r>
              <a:rPr sz="2600" b="1" dirty="0">
                <a:solidFill>
                  <a:srgbClr val="FF0000"/>
                </a:solidFill>
                <a:latin typeface="Calibri" panose="020F0502020204030204"/>
                <a:cs typeface="Calibri" panose="020F0502020204030204"/>
              </a:rPr>
              <a:t>4.</a:t>
            </a:r>
            <a:r>
              <a:rPr sz="2600" b="1" spc="-60" dirty="0">
                <a:solidFill>
                  <a:srgbClr val="FF0000"/>
                </a:solidFill>
                <a:latin typeface="Calibri" panose="020F0502020204030204"/>
                <a:cs typeface="Calibri" panose="020F0502020204030204"/>
              </a:rPr>
              <a:t> </a:t>
            </a:r>
            <a:r>
              <a:rPr sz="2600" b="1" spc="-120" dirty="0">
                <a:solidFill>
                  <a:srgbClr val="000099"/>
                </a:solidFill>
                <a:latin typeface="Calibri" panose="020F0502020204030204"/>
                <a:cs typeface="Calibri" panose="020F0502020204030204"/>
              </a:rPr>
              <a:t>Assessment</a:t>
            </a:r>
            <a:r>
              <a:rPr sz="2600" b="1" spc="-30" dirty="0">
                <a:solidFill>
                  <a:srgbClr val="000099"/>
                </a:solidFill>
                <a:latin typeface="Calibri" panose="020F0502020204030204"/>
                <a:cs typeface="Calibri" panose="020F0502020204030204"/>
              </a:rPr>
              <a:t> </a:t>
            </a:r>
            <a:r>
              <a:rPr sz="2600" b="1" dirty="0">
                <a:solidFill>
                  <a:srgbClr val="000099"/>
                </a:solidFill>
                <a:latin typeface="Calibri" panose="020F0502020204030204"/>
                <a:cs typeface="Calibri" panose="020F0502020204030204"/>
              </a:rPr>
              <a:t>of</a:t>
            </a:r>
            <a:r>
              <a:rPr sz="2600" b="1" spc="-20" dirty="0">
                <a:solidFill>
                  <a:srgbClr val="000099"/>
                </a:solidFill>
                <a:latin typeface="Calibri" panose="020F0502020204030204"/>
                <a:cs typeface="Calibri" panose="020F0502020204030204"/>
              </a:rPr>
              <a:t> </a:t>
            </a:r>
            <a:r>
              <a:rPr sz="2600" b="1" spc="-100" dirty="0">
                <a:solidFill>
                  <a:srgbClr val="000099"/>
                </a:solidFill>
                <a:latin typeface="Calibri" panose="020F0502020204030204"/>
                <a:cs typeface="Calibri" panose="020F0502020204030204"/>
              </a:rPr>
              <a:t>the</a:t>
            </a:r>
            <a:r>
              <a:rPr sz="2600" b="1" spc="-45" dirty="0">
                <a:solidFill>
                  <a:srgbClr val="000099"/>
                </a:solidFill>
                <a:latin typeface="Calibri" panose="020F0502020204030204"/>
                <a:cs typeface="Calibri" panose="020F0502020204030204"/>
              </a:rPr>
              <a:t> </a:t>
            </a:r>
            <a:r>
              <a:rPr sz="2600" b="1" spc="-105" dirty="0">
                <a:solidFill>
                  <a:srgbClr val="000099"/>
                </a:solidFill>
                <a:latin typeface="Calibri" panose="020F0502020204030204"/>
                <a:cs typeface="Calibri" panose="020F0502020204030204"/>
              </a:rPr>
              <a:t>patient's</a:t>
            </a:r>
            <a:r>
              <a:rPr sz="2600" b="1" spc="-45" dirty="0">
                <a:solidFill>
                  <a:srgbClr val="000099"/>
                </a:solidFill>
                <a:latin typeface="Calibri" panose="020F0502020204030204"/>
                <a:cs typeface="Calibri" panose="020F0502020204030204"/>
              </a:rPr>
              <a:t> </a:t>
            </a:r>
            <a:r>
              <a:rPr sz="2600" b="1" spc="-25" dirty="0">
                <a:solidFill>
                  <a:srgbClr val="000099"/>
                </a:solidFill>
                <a:latin typeface="Calibri" panose="020F0502020204030204"/>
                <a:cs typeface="Calibri" panose="020F0502020204030204"/>
              </a:rPr>
              <a:t>capacity</a:t>
            </a:r>
            <a:r>
              <a:rPr sz="2600" b="1" spc="-50" dirty="0">
                <a:solidFill>
                  <a:srgbClr val="000099"/>
                </a:solidFill>
                <a:latin typeface="Calibri" panose="020F0502020204030204"/>
                <a:cs typeface="Calibri" panose="020F0502020204030204"/>
              </a:rPr>
              <a:t> </a:t>
            </a:r>
            <a:r>
              <a:rPr sz="2600" b="1" dirty="0">
                <a:solidFill>
                  <a:srgbClr val="000099"/>
                </a:solidFill>
                <a:latin typeface="Calibri" panose="020F0502020204030204"/>
                <a:cs typeface="Calibri" panose="020F0502020204030204"/>
              </a:rPr>
              <a:t>for</a:t>
            </a:r>
            <a:r>
              <a:rPr sz="2600" b="1" spc="-45" dirty="0">
                <a:solidFill>
                  <a:srgbClr val="000099"/>
                </a:solidFill>
                <a:latin typeface="Calibri" panose="020F0502020204030204"/>
                <a:cs typeface="Calibri" panose="020F0502020204030204"/>
              </a:rPr>
              <a:t> </a:t>
            </a:r>
            <a:r>
              <a:rPr sz="2600" b="1" dirty="0">
                <a:solidFill>
                  <a:srgbClr val="000099"/>
                </a:solidFill>
                <a:latin typeface="Calibri" panose="020F0502020204030204"/>
                <a:cs typeface="Calibri" panose="020F0502020204030204"/>
              </a:rPr>
              <a:t>self-</a:t>
            </a:r>
            <a:r>
              <a:rPr sz="2600" b="1" spc="-20" dirty="0">
                <a:solidFill>
                  <a:srgbClr val="000099"/>
                </a:solidFill>
                <a:latin typeface="Calibri" panose="020F0502020204030204"/>
                <a:cs typeface="Calibri" panose="020F0502020204030204"/>
              </a:rPr>
              <a:t>care</a:t>
            </a:r>
            <a:endParaRPr sz="1200">
              <a:latin typeface="Calibri" panose="020F0502020204030204"/>
              <a:cs typeface="Calibri" panose="020F0502020204030204"/>
            </a:endParaRPr>
          </a:p>
        </p:txBody>
      </p:sp>
      <p:sp>
        <p:nvSpPr>
          <p:cNvPr id="7" name="object 7"/>
          <p:cNvSpPr txBox="1"/>
          <p:nvPr/>
        </p:nvSpPr>
        <p:spPr>
          <a:xfrm>
            <a:off x="6444234" y="3645027"/>
            <a:ext cx="2555875" cy="1579245"/>
          </a:xfrm>
          <a:prstGeom prst="rect">
            <a:avLst/>
          </a:prstGeom>
          <a:ln w="9525">
            <a:solidFill>
              <a:srgbClr val="000000"/>
            </a:solidFill>
          </a:ln>
        </p:spPr>
        <p:txBody>
          <a:bodyPr vert="horz" wrap="square" lIns="0" tIns="22860" rIns="0" bIns="0" rtlCol="0">
            <a:spAutoFit/>
          </a:bodyPr>
          <a:lstStyle/>
          <a:p>
            <a:pPr marL="92075" marR="354330" algn="just">
              <a:lnSpc>
                <a:spcPts val="3860"/>
              </a:lnSpc>
              <a:spcBef>
                <a:spcPts val="180"/>
              </a:spcBef>
            </a:pPr>
            <a:r>
              <a:rPr sz="2800" dirty="0">
                <a:latin typeface="Times New Roman" panose="02020603050405020304"/>
                <a:cs typeface="Times New Roman" panose="02020603050405020304"/>
              </a:rPr>
              <a:t>Specific</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3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particular</a:t>
            </a:r>
            <a:r>
              <a:rPr sz="2800" spc="-6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drug </a:t>
            </a:r>
            <a:r>
              <a:rPr sz="2800" dirty="0">
                <a:latin typeface="Times New Roman" panose="02020603050405020304"/>
                <a:cs typeface="Times New Roman" panose="02020603050405020304"/>
              </a:rPr>
              <a:t>being</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used.</a:t>
            </a:r>
            <a:endParaRPr sz="2800">
              <a:latin typeface="Times New Roman" panose="02020603050405020304"/>
              <a:cs typeface="Times New Roman" panose="02020603050405020304"/>
            </a:endParaRPr>
          </a:p>
        </p:txBody>
      </p:sp>
      <p:sp>
        <p:nvSpPr>
          <p:cNvPr id="9" name="object 9"/>
          <p:cNvSpPr/>
          <p:nvPr/>
        </p:nvSpPr>
        <p:spPr>
          <a:xfrm>
            <a:off x="5868161" y="3140964"/>
            <a:ext cx="504190" cy="2664460"/>
          </a:xfrm>
          <a:custGeom>
            <a:avLst/>
            <a:gdLst/>
            <a:ahLst/>
            <a:cxnLst/>
            <a:rect l="l" t="t" r="r" b="b"/>
            <a:pathLst>
              <a:path w="504189" h="2664460">
                <a:moveTo>
                  <a:pt x="0" y="0"/>
                </a:moveTo>
                <a:lnTo>
                  <a:pt x="79654" y="2140"/>
                </a:lnTo>
                <a:lnTo>
                  <a:pt x="148823" y="8103"/>
                </a:lnTo>
                <a:lnTo>
                  <a:pt x="203362" y="17199"/>
                </a:lnTo>
                <a:lnTo>
                  <a:pt x="251967" y="42037"/>
                </a:lnTo>
                <a:lnTo>
                  <a:pt x="251967" y="1290193"/>
                </a:lnTo>
                <a:lnTo>
                  <a:pt x="264823" y="1303427"/>
                </a:lnTo>
                <a:lnTo>
                  <a:pt x="300618" y="1314930"/>
                </a:lnTo>
                <a:lnTo>
                  <a:pt x="355194" y="1324007"/>
                </a:lnTo>
                <a:lnTo>
                  <a:pt x="424395" y="1329963"/>
                </a:lnTo>
                <a:lnTo>
                  <a:pt x="504063" y="1332103"/>
                </a:lnTo>
                <a:lnTo>
                  <a:pt x="424395" y="1334243"/>
                </a:lnTo>
                <a:lnTo>
                  <a:pt x="355194" y="1340206"/>
                </a:lnTo>
                <a:lnTo>
                  <a:pt x="300618" y="1349302"/>
                </a:lnTo>
                <a:lnTo>
                  <a:pt x="264823" y="1360843"/>
                </a:lnTo>
                <a:lnTo>
                  <a:pt x="251967" y="1374140"/>
                </a:lnTo>
                <a:lnTo>
                  <a:pt x="251967" y="2622296"/>
                </a:lnTo>
                <a:lnTo>
                  <a:pt x="239125" y="2635573"/>
                </a:lnTo>
                <a:lnTo>
                  <a:pt x="203362" y="2647103"/>
                </a:lnTo>
                <a:lnTo>
                  <a:pt x="148823" y="2656193"/>
                </a:lnTo>
                <a:lnTo>
                  <a:pt x="79654" y="2662154"/>
                </a:lnTo>
                <a:lnTo>
                  <a:pt x="0" y="2664294"/>
                </a:lnTo>
              </a:path>
            </a:pathLst>
          </a:custGeom>
          <a:ln w="9525">
            <a:solidFill>
              <a:srgbClr val="497DBA"/>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64795"/>
            <a:ext cx="8374380" cy="6050915"/>
          </a:xfrm>
          <a:prstGeom prst="rect">
            <a:avLst/>
          </a:prstGeom>
        </p:spPr>
        <p:txBody>
          <a:bodyPr vert="horz" wrap="square" lIns="0" tIns="17780" rIns="0" bIns="0" rtlCol="0">
            <a:spAutoFit/>
          </a:bodyPr>
          <a:lstStyle/>
          <a:p>
            <a:pPr marL="354965" marR="758190" indent="-342900">
              <a:lnSpc>
                <a:spcPct val="106000"/>
              </a:lnSpc>
              <a:spcBef>
                <a:spcPts val="140"/>
              </a:spcBef>
              <a:buFont typeface="Microsoft Sans Serif" panose="020B0604020202020204"/>
              <a:buChar char="•"/>
              <a:tabLst>
                <a:tab pos="354965" algn="l"/>
              </a:tabLst>
            </a:pPr>
            <a:r>
              <a:rPr sz="3300" b="1" dirty="0">
                <a:solidFill>
                  <a:srgbClr val="D50092"/>
                </a:solidFill>
                <a:latin typeface="Times New Roman" panose="02020603050405020304"/>
                <a:cs typeface="Times New Roman" panose="02020603050405020304"/>
              </a:rPr>
              <a:t>Ongoing</a:t>
            </a:r>
            <a:r>
              <a:rPr sz="3300" b="1" spc="-55" dirty="0">
                <a:solidFill>
                  <a:srgbClr val="D50092"/>
                </a:solidFill>
                <a:latin typeface="Times New Roman" panose="02020603050405020304"/>
                <a:cs typeface="Times New Roman" panose="02020603050405020304"/>
              </a:rPr>
              <a:t> </a:t>
            </a:r>
            <a:r>
              <a:rPr sz="3300" b="1" dirty="0">
                <a:solidFill>
                  <a:srgbClr val="D50092"/>
                </a:solidFill>
                <a:latin typeface="Times New Roman" panose="02020603050405020304"/>
                <a:cs typeface="Times New Roman" panose="02020603050405020304"/>
              </a:rPr>
              <a:t>assessment</a:t>
            </a:r>
            <a:r>
              <a:rPr sz="3300" b="1" spc="-15" dirty="0">
                <a:solidFill>
                  <a:srgbClr val="D50092"/>
                </a:solidFill>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r>
              <a:rPr sz="2800" b="1"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Collection</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after </a:t>
            </a:r>
            <a:r>
              <a:rPr sz="2800" dirty="0">
                <a:latin typeface="Times New Roman" panose="02020603050405020304"/>
                <a:cs typeface="Times New Roman" panose="02020603050405020304"/>
              </a:rPr>
              <a:t>administration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has</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2</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basic</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goals:</a:t>
            </a:r>
            <a:endParaRPr sz="2800">
              <a:latin typeface="Times New Roman" panose="02020603050405020304"/>
              <a:cs typeface="Times New Roman" panose="02020603050405020304"/>
            </a:endParaRPr>
          </a:p>
          <a:p>
            <a:pPr marL="440690" indent="-427990">
              <a:lnSpc>
                <a:spcPct val="100000"/>
              </a:lnSpc>
              <a:spcBef>
                <a:spcPts val="1800"/>
              </a:spcBef>
              <a:buClr>
                <a:srgbClr val="FF0000"/>
              </a:buClr>
              <a:buAutoNum type="arabicPeriod"/>
              <a:tabLst>
                <a:tab pos="440690" algn="l"/>
              </a:tabLst>
            </a:pPr>
            <a:r>
              <a:rPr sz="2800" b="1" spc="-10" dirty="0">
                <a:solidFill>
                  <a:srgbClr val="000099"/>
                </a:solidFill>
                <a:latin typeface="Calibri" panose="020F0502020204030204"/>
                <a:cs typeface="Calibri" panose="020F0502020204030204"/>
              </a:rPr>
              <a:t>Collect</a:t>
            </a:r>
            <a:r>
              <a:rPr sz="2800" b="1" spc="-145" dirty="0">
                <a:solidFill>
                  <a:srgbClr val="000099"/>
                </a:solidFill>
                <a:latin typeface="Calibri" panose="020F0502020204030204"/>
                <a:cs typeface="Calibri" panose="020F0502020204030204"/>
              </a:rPr>
              <a:t> </a:t>
            </a:r>
            <a:r>
              <a:rPr sz="2800" b="1" spc="-90" dirty="0">
                <a:solidFill>
                  <a:srgbClr val="000099"/>
                </a:solidFill>
                <a:latin typeface="Calibri" panose="020F0502020204030204"/>
                <a:cs typeface="Calibri" panose="020F0502020204030204"/>
              </a:rPr>
              <a:t>data</a:t>
            </a:r>
            <a:r>
              <a:rPr sz="2800" b="1" spc="-65" dirty="0">
                <a:solidFill>
                  <a:srgbClr val="000099"/>
                </a:solidFill>
                <a:latin typeface="Calibri" panose="020F0502020204030204"/>
                <a:cs typeface="Calibri" panose="020F0502020204030204"/>
              </a:rPr>
              <a:t> </a:t>
            </a:r>
            <a:r>
              <a:rPr sz="2800" b="1" spc="-85" dirty="0">
                <a:solidFill>
                  <a:srgbClr val="000099"/>
                </a:solidFill>
                <a:latin typeface="Calibri" panose="020F0502020204030204"/>
                <a:cs typeface="Calibri" panose="020F0502020204030204"/>
              </a:rPr>
              <a:t>related</a:t>
            </a:r>
            <a:r>
              <a:rPr sz="2800" b="1" spc="-75" dirty="0">
                <a:solidFill>
                  <a:srgbClr val="000099"/>
                </a:solidFill>
                <a:latin typeface="Calibri" panose="020F0502020204030204"/>
                <a:cs typeface="Calibri" panose="020F0502020204030204"/>
              </a:rPr>
              <a:t> </a:t>
            </a:r>
            <a:r>
              <a:rPr sz="2800" b="1" spc="-145" dirty="0">
                <a:solidFill>
                  <a:srgbClr val="000099"/>
                </a:solidFill>
                <a:latin typeface="Calibri" panose="020F0502020204030204"/>
                <a:cs typeface="Calibri" panose="020F0502020204030204"/>
              </a:rPr>
              <a:t>to</a:t>
            </a:r>
            <a:r>
              <a:rPr sz="2800" b="1" spc="-15" dirty="0">
                <a:solidFill>
                  <a:srgbClr val="000099"/>
                </a:solidFill>
                <a:latin typeface="Calibri" panose="020F0502020204030204"/>
                <a:cs typeface="Calibri" panose="020F0502020204030204"/>
              </a:rPr>
              <a:t> </a:t>
            </a:r>
            <a:r>
              <a:rPr sz="2800" b="1" spc="-90" dirty="0">
                <a:solidFill>
                  <a:srgbClr val="000099"/>
                </a:solidFill>
                <a:latin typeface="Calibri" panose="020F0502020204030204"/>
                <a:cs typeface="Calibri" panose="020F0502020204030204"/>
              </a:rPr>
              <a:t>effectiveness</a:t>
            </a:r>
            <a:r>
              <a:rPr sz="2800" b="1" spc="-70" dirty="0">
                <a:solidFill>
                  <a:srgbClr val="000099"/>
                </a:solidFill>
                <a:latin typeface="Calibri" panose="020F0502020204030204"/>
                <a:cs typeface="Calibri" panose="020F0502020204030204"/>
              </a:rPr>
              <a:t> </a:t>
            </a:r>
            <a:r>
              <a:rPr sz="2800" b="1" dirty="0">
                <a:solidFill>
                  <a:srgbClr val="000099"/>
                </a:solidFill>
                <a:latin typeface="Calibri" panose="020F0502020204030204"/>
                <a:cs typeface="Calibri" panose="020F0502020204030204"/>
              </a:rPr>
              <a:t>of</a:t>
            </a:r>
            <a:r>
              <a:rPr sz="2800" b="1" spc="-45" dirty="0">
                <a:solidFill>
                  <a:srgbClr val="000099"/>
                </a:solidFill>
                <a:latin typeface="Calibri" panose="020F0502020204030204"/>
                <a:cs typeface="Calibri" panose="020F0502020204030204"/>
              </a:rPr>
              <a:t> </a:t>
            </a:r>
            <a:r>
              <a:rPr sz="2800" b="1" spc="-110" dirty="0">
                <a:solidFill>
                  <a:srgbClr val="000099"/>
                </a:solidFill>
                <a:latin typeface="Calibri" panose="020F0502020204030204"/>
                <a:cs typeface="Calibri" panose="020F0502020204030204"/>
              </a:rPr>
              <a:t>the</a:t>
            </a:r>
            <a:r>
              <a:rPr sz="2800" b="1" spc="-50" dirty="0">
                <a:solidFill>
                  <a:srgbClr val="000099"/>
                </a:solidFill>
                <a:latin typeface="Calibri" panose="020F0502020204030204"/>
                <a:cs typeface="Calibri" panose="020F0502020204030204"/>
              </a:rPr>
              <a:t> </a:t>
            </a:r>
            <a:r>
              <a:rPr sz="2800" b="1" spc="-10" dirty="0">
                <a:solidFill>
                  <a:srgbClr val="000099"/>
                </a:solidFill>
                <a:latin typeface="Calibri" panose="020F0502020204030204"/>
                <a:cs typeface="Calibri" panose="020F0502020204030204"/>
              </a:rPr>
              <a:t>drug.</a:t>
            </a:r>
            <a:endParaRPr sz="2800">
              <a:latin typeface="Calibri" panose="020F0502020204030204"/>
              <a:cs typeface="Calibri" panose="020F0502020204030204"/>
            </a:endParaRPr>
          </a:p>
          <a:p>
            <a:pPr marL="354965" marR="5080" lvl="1" indent="-342900">
              <a:lnSpc>
                <a:spcPct val="105000"/>
              </a:lnSpc>
              <a:spcBef>
                <a:spcPts val="710"/>
              </a:spcBef>
              <a:buFont typeface="Microsoft Sans Serif" panose="020B0604020202020204"/>
              <a:buChar char="•"/>
              <a:tabLst>
                <a:tab pos="354965" algn="l"/>
              </a:tabLst>
            </a:pPr>
            <a:r>
              <a:rPr sz="2800" dirty="0">
                <a:latin typeface="Times New Roman" panose="02020603050405020304"/>
                <a:cs typeface="Times New Roman" panose="02020603050405020304"/>
              </a:rPr>
              <a:t>Objective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include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blood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pressure,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pulse,</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respiratory </a:t>
            </a:r>
            <a:r>
              <a:rPr sz="2800" dirty="0">
                <a:latin typeface="Times New Roman" panose="02020603050405020304"/>
                <a:cs typeface="Times New Roman" panose="02020603050405020304"/>
              </a:rPr>
              <a:t>rate,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temperature,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weight,</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examination</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skin, </a:t>
            </a:r>
            <a:r>
              <a:rPr sz="2800" dirty="0">
                <a:latin typeface="Times New Roman" panose="02020603050405020304"/>
                <a:cs typeface="Times New Roman" panose="02020603050405020304"/>
              </a:rPr>
              <a:t>examination</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intravenous</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infusion</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site,</a:t>
            </a:r>
            <a:r>
              <a:rPr sz="2800" spc="-3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and </a:t>
            </a:r>
            <a:r>
              <a:rPr sz="2800" dirty="0">
                <a:latin typeface="Times New Roman" panose="02020603050405020304"/>
                <a:cs typeface="Times New Roman" panose="02020603050405020304"/>
              </a:rPr>
              <a:t>auscultation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 the</a:t>
            </a:r>
            <a:r>
              <a:rPr sz="2800" spc="-10" dirty="0">
                <a:latin typeface="Times New Roman" panose="02020603050405020304"/>
                <a:cs typeface="Times New Roman" panose="02020603050405020304"/>
              </a:rPr>
              <a:t> lungs……...</a:t>
            </a:r>
            <a:endParaRPr sz="2800">
              <a:latin typeface="Times New Roman" panose="02020603050405020304"/>
              <a:cs typeface="Times New Roman" panose="02020603050405020304"/>
            </a:endParaRPr>
          </a:p>
          <a:p>
            <a:pPr marL="354965" marR="688975" lvl="1" indent="-342900">
              <a:lnSpc>
                <a:spcPct val="105000"/>
              </a:lnSpc>
              <a:spcBef>
                <a:spcPts val="675"/>
              </a:spcBef>
              <a:buFont typeface="Microsoft Sans Serif" panose="020B0604020202020204"/>
              <a:buChar char="•"/>
              <a:tabLst>
                <a:tab pos="354965" algn="l"/>
              </a:tabLst>
            </a:pPr>
            <a:r>
              <a:rPr sz="2800" dirty="0">
                <a:latin typeface="Times New Roman" panose="02020603050405020304"/>
                <a:cs typeface="Times New Roman" panose="02020603050405020304"/>
              </a:rPr>
              <a:t>Subjective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include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any</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statements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made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25" dirty="0">
                <a:latin typeface="Times New Roman" panose="02020603050405020304"/>
                <a:cs typeface="Times New Roman" panose="02020603050405020304"/>
              </a:rPr>
              <a:t> the </a:t>
            </a:r>
            <a:r>
              <a:rPr sz="2800" dirty="0">
                <a:latin typeface="Times New Roman" panose="02020603050405020304"/>
                <a:cs typeface="Times New Roman" panose="02020603050405020304"/>
              </a:rPr>
              <a:t>patient</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about</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relief</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or</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non-</a:t>
            </a:r>
            <a:r>
              <a:rPr sz="2800" dirty="0">
                <a:latin typeface="Times New Roman" panose="02020603050405020304"/>
                <a:cs typeface="Times New Roman" panose="02020603050405020304"/>
              </a:rPr>
              <a:t>relief</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pain</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or</a:t>
            </a:r>
            <a:r>
              <a:rPr sz="2800" spc="-1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other </a:t>
            </a:r>
            <a:r>
              <a:rPr sz="2800" dirty="0">
                <a:latin typeface="Times New Roman" panose="02020603050405020304"/>
                <a:cs typeface="Times New Roman" panose="02020603050405020304"/>
              </a:rPr>
              <a:t>symptoms</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after</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administration</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6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drug…..</a:t>
            </a:r>
            <a:endParaRPr sz="2800">
              <a:latin typeface="Times New Roman" panose="02020603050405020304"/>
              <a:cs typeface="Times New Roman" panose="02020603050405020304"/>
            </a:endParaRPr>
          </a:p>
          <a:p>
            <a:pPr>
              <a:lnSpc>
                <a:spcPct val="100000"/>
              </a:lnSpc>
              <a:spcBef>
                <a:spcPts val="1810"/>
              </a:spcBef>
            </a:pPr>
            <a:endParaRPr sz="2800">
              <a:latin typeface="Times New Roman" panose="02020603050405020304"/>
              <a:cs typeface="Times New Roman" panose="02020603050405020304"/>
            </a:endParaRPr>
          </a:p>
          <a:p>
            <a:pPr marL="12700">
              <a:lnSpc>
                <a:spcPct val="100000"/>
              </a:lnSpc>
            </a:pPr>
            <a:r>
              <a:rPr sz="2800" b="1" dirty="0">
                <a:solidFill>
                  <a:srgbClr val="FF0000"/>
                </a:solidFill>
                <a:latin typeface="Times New Roman" panose="02020603050405020304"/>
                <a:cs typeface="Times New Roman" panose="02020603050405020304"/>
              </a:rPr>
              <a:t>2.</a:t>
            </a:r>
            <a:r>
              <a:rPr sz="2800" b="1" spc="-40" dirty="0">
                <a:solidFill>
                  <a:srgbClr val="FF0000"/>
                </a:solidFill>
                <a:latin typeface="Times New Roman" panose="02020603050405020304"/>
                <a:cs typeface="Times New Roman" panose="02020603050405020304"/>
              </a:rPr>
              <a:t> </a:t>
            </a:r>
            <a:r>
              <a:rPr sz="2800" b="1" spc="-30" dirty="0">
                <a:solidFill>
                  <a:srgbClr val="000099"/>
                </a:solidFill>
                <a:latin typeface="Calibri" panose="020F0502020204030204"/>
                <a:cs typeface="Calibri" panose="020F0502020204030204"/>
              </a:rPr>
              <a:t>Monitor</a:t>
            </a:r>
            <a:r>
              <a:rPr sz="2800" b="1" spc="-25" dirty="0">
                <a:solidFill>
                  <a:srgbClr val="000099"/>
                </a:solidFill>
                <a:latin typeface="Calibri" panose="020F0502020204030204"/>
                <a:cs typeface="Calibri" panose="020F0502020204030204"/>
              </a:rPr>
              <a:t> </a:t>
            </a:r>
            <a:r>
              <a:rPr sz="2800" b="1" dirty="0">
                <a:solidFill>
                  <a:srgbClr val="000099"/>
                </a:solidFill>
                <a:latin typeface="Calibri" panose="020F0502020204030204"/>
                <a:cs typeface="Calibri" panose="020F0502020204030204"/>
              </a:rPr>
              <a:t>for</a:t>
            </a:r>
            <a:r>
              <a:rPr sz="2800" b="1" spc="-30" dirty="0">
                <a:solidFill>
                  <a:srgbClr val="000099"/>
                </a:solidFill>
                <a:latin typeface="Calibri" panose="020F0502020204030204"/>
                <a:cs typeface="Calibri" panose="020F0502020204030204"/>
              </a:rPr>
              <a:t> </a:t>
            </a:r>
            <a:r>
              <a:rPr sz="2800" b="1" spc="-85" dirty="0">
                <a:solidFill>
                  <a:srgbClr val="000099"/>
                </a:solidFill>
                <a:latin typeface="Calibri" panose="020F0502020204030204"/>
                <a:cs typeface="Calibri" panose="020F0502020204030204"/>
              </a:rPr>
              <a:t>adverse</a:t>
            </a:r>
            <a:r>
              <a:rPr sz="2800" b="1" spc="-50" dirty="0">
                <a:solidFill>
                  <a:srgbClr val="000099"/>
                </a:solidFill>
                <a:latin typeface="Calibri" panose="020F0502020204030204"/>
                <a:cs typeface="Calibri" panose="020F0502020204030204"/>
              </a:rPr>
              <a:t> </a:t>
            </a:r>
            <a:r>
              <a:rPr sz="2800" b="1" dirty="0">
                <a:solidFill>
                  <a:srgbClr val="000099"/>
                </a:solidFill>
                <a:latin typeface="Calibri" panose="020F0502020204030204"/>
                <a:cs typeface="Calibri" panose="020F0502020204030204"/>
              </a:rPr>
              <a:t>drug</a:t>
            </a:r>
            <a:r>
              <a:rPr sz="2800" b="1" spc="-25" dirty="0">
                <a:solidFill>
                  <a:srgbClr val="000099"/>
                </a:solidFill>
                <a:latin typeface="Calibri" panose="020F0502020204030204"/>
                <a:cs typeface="Calibri" panose="020F0502020204030204"/>
              </a:rPr>
              <a:t> </a:t>
            </a:r>
            <a:r>
              <a:rPr sz="2800" b="1" spc="-10" dirty="0">
                <a:solidFill>
                  <a:srgbClr val="000099"/>
                </a:solidFill>
                <a:latin typeface="Calibri" panose="020F0502020204030204"/>
                <a:cs typeface="Calibri" panose="020F0502020204030204"/>
              </a:rPr>
              <a:t>reactions.</a:t>
            </a:r>
            <a:endParaRPr sz="2800">
              <a:latin typeface="Calibri" panose="020F0502020204030204"/>
              <a:cs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8817" y="20827"/>
            <a:ext cx="577723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Arial" panose="020B0604020202020204"/>
                <a:cs typeface="Arial" panose="020B0604020202020204"/>
              </a:rPr>
              <a:t>Analysis</a:t>
            </a:r>
            <a:r>
              <a:rPr sz="3200" spc="-35" dirty="0">
                <a:latin typeface="Arial" panose="020B0604020202020204"/>
                <a:cs typeface="Arial" panose="020B0604020202020204"/>
              </a:rPr>
              <a:t> </a:t>
            </a:r>
            <a:r>
              <a:rPr sz="3200" dirty="0">
                <a:latin typeface="Arial" panose="020B0604020202020204"/>
                <a:cs typeface="Arial" panose="020B0604020202020204"/>
              </a:rPr>
              <a:t>&amp;</a:t>
            </a:r>
            <a:r>
              <a:rPr sz="3200" spc="-20" dirty="0">
                <a:latin typeface="Arial" panose="020B0604020202020204"/>
                <a:cs typeface="Arial" panose="020B0604020202020204"/>
              </a:rPr>
              <a:t> </a:t>
            </a:r>
            <a:r>
              <a:rPr sz="3200" dirty="0">
                <a:latin typeface="Arial" panose="020B0604020202020204"/>
                <a:cs typeface="Arial" panose="020B0604020202020204"/>
              </a:rPr>
              <a:t>Nursing</a:t>
            </a:r>
            <a:r>
              <a:rPr sz="3200" spc="-30" dirty="0">
                <a:latin typeface="Arial" panose="020B0604020202020204"/>
                <a:cs typeface="Arial" panose="020B0604020202020204"/>
              </a:rPr>
              <a:t> </a:t>
            </a:r>
            <a:r>
              <a:rPr sz="3200" spc="-10" dirty="0">
                <a:latin typeface="Arial" panose="020B0604020202020204"/>
                <a:cs typeface="Arial" panose="020B0604020202020204"/>
              </a:rPr>
              <a:t>Diagn</a:t>
            </a:r>
            <a:r>
              <a:rPr sz="3100" spc="-10" dirty="0">
                <a:latin typeface="Arial" panose="020B0604020202020204"/>
                <a:cs typeface="Arial" panose="020B0604020202020204"/>
              </a:rPr>
              <a:t>osis</a:t>
            </a:r>
            <a:endParaRPr sz="3100">
              <a:latin typeface="Arial" panose="020B0604020202020204"/>
              <a:cs typeface="Arial" panose="020B0604020202020204"/>
            </a:endParaRPr>
          </a:p>
        </p:txBody>
      </p:sp>
      <p:sp>
        <p:nvSpPr>
          <p:cNvPr id="3" name="object 3"/>
          <p:cNvSpPr txBox="1"/>
          <p:nvPr/>
        </p:nvSpPr>
        <p:spPr>
          <a:xfrm>
            <a:off x="42163" y="481526"/>
            <a:ext cx="9002395" cy="6007100"/>
          </a:xfrm>
          <a:prstGeom prst="rect">
            <a:avLst/>
          </a:prstGeom>
        </p:spPr>
        <p:txBody>
          <a:bodyPr vert="horz" wrap="square" lIns="0" tIns="221615" rIns="0" bIns="0" rtlCol="0">
            <a:spAutoFit/>
          </a:bodyPr>
          <a:lstStyle/>
          <a:p>
            <a:pPr marL="126365" algn="ctr">
              <a:lnSpc>
                <a:spcPct val="100000"/>
              </a:lnSpc>
              <a:spcBef>
                <a:spcPts val="1745"/>
              </a:spcBef>
            </a:pPr>
            <a:r>
              <a:rPr sz="2800" dirty="0">
                <a:latin typeface="Times New Roman" panose="02020603050405020304"/>
                <a:cs typeface="Times New Roman" panose="02020603050405020304"/>
              </a:rPr>
              <a:t>What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 the</a:t>
            </a:r>
            <a:r>
              <a:rPr sz="2800" spc="-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problem???</a:t>
            </a:r>
            <a:endParaRPr sz="2800">
              <a:latin typeface="Times New Roman" panose="02020603050405020304"/>
              <a:cs typeface="Times New Roman" panose="02020603050405020304"/>
            </a:endParaRPr>
          </a:p>
          <a:p>
            <a:pPr marL="355600" marR="5080" indent="-342900">
              <a:lnSpc>
                <a:spcPct val="94000"/>
              </a:lnSpc>
              <a:spcBef>
                <a:spcPts val="1725"/>
              </a:spcBef>
              <a:buFont typeface="Microsoft Sans Serif" panose="020B0604020202020204"/>
              <a:buChar char="•"/>
              <a:tabLst>
                <a:tab pos="355600" algn="l"/>
              </a:tabLst>
            </a:pPr>
            <a:r>
              <a:rPr sz="2600" dirty="0">
                <a:latin typeface="Times New Roman" panose="02020603050405020304"/>
                <a:cs typeface="Times New Roman" panose="02020603050405020304"/>
              </a:rPr>
              <a:t>In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this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step,</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analyzed</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database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collected</a:t>
            </a:r>
            <a:r>
              <a:rPr sz="2600" spc="-10" dirty="0">
                <a:latin typeface="Times New Roman" panose="02020603050405020304"/>
                <a:cs typeface="Times New Roman" panose="02020603050405020304"/>
              </a:rPr>
              <a:t> previously </a:t>
            </a:r>
            <a:r>
              <a:rPr sz="2600" dirty="0">
                <a:latin typeface="Times New Roman" panose="02020603050405020304"/>
                <a:cs typeface="Times New Roman" panose="02020603050405020304"/>
              </a:rPr>
              <a:t>to</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determine</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actual</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potential</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health</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problems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associated</a:t>
            </a:r>
            <a:r>
              <a:rPr sz="2600" spc="-15" dirty="0">
                <a:latin typeface="Times New Roman" panose="02020603050405020304"/>
                <a:cs typeface="Times New Roman" panose="02020603050405020304"/>
              </a:rPr>
              <a:t> </a:t>
            </a:r>
            <a:r>
              <a:rPr sz="2600" spc="-20" dirty="0">
                <a:latin typeface="Times New Roman" panose="02020603050405020304"/>
                <a:cs typeface="Times New Roman" panose="02020603050405020304"/>
              </a:rPr>
              <a:t>with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therapy</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formulates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one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more</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nursing that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nurses</a:t>
            </a:r>
            <a:r>
              <a:rPr sz="2600" spc="-1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are </a:t>
            </a:r>
            <a:r>
              <a:rPr sz="2600" dirty="0">
                <a:latin typeface="Times New Roman" panose="02020603050405020304"/>
                <a:cs typeface="Times New Roman" panose="02020603050405020304"/>
              </a:rPr>
              <a:t>qualified</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licensed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treat.</a:t>
            </a:r>
            <a:endParaRPr sz="2600">
              <a:latin typeface="Times New Roman" panose="02020603050405020304"/>
              <a:cs typeface="Times New Roman" panose="02020603050405020304"/>
            </a:endParaRPr>
          </a:p>
          <a:p>
            <a:pPr marL="355600" marR="108585" indent="-342900">
              <a:lnSpc>
                <a:spcPct val="95000"/>
              </a:lnSpc>
              <a:spcBef>
                <a:spcPts val="1680"/>
              </a:spcBef>
              <a:buFont typeface="Microsoft Sans Serif" panose="020B0604020202020204"/>
              <a:buChar char="•"/>
              <a:tabLst>
                <a:tab pos="355600" algn="l"/>
              </a:tabLst>
            </a:pPr>
            <a:r>
              <a:rPr sz="2600" dirty="0">
                <a:latin typeface="Times New Roman" panose="02020603050405020304"/>
                <a:cs typeface="Times New Roman" panose="02020603050405020304"/>
              </a:rPr>
              <a:t>Nursing</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diagnosis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used</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identify</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patient</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problems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can</a:t>
            </a:r>
            <a:r>
              <a:rPr sz="2600" spc="-5"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be </a:t>
            </a:r>
            <a:r>
              <a:rPr sz="2600" dirty="0">
                <a:latin typeface="Times New Roman" panose="02020603050405020304"/>
                <a:cs typeface="Times New Roman" panose="02020603050405020304"/>
              </a:rPr>
              <a:t>solved</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prevented</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by</a:t>
            </a:r>
            <a:r>
              <a:rPr sz="2600" spc="-5" dirty="0">
                <a:latin typeface="Times New Roman" panose="02020603050405020304"/>
                <a:cs typeface="Times New Roman" panose="02020603050405020304"/>
              </a:rPr>
              <a:t> </a:t>
            </a:r>
            <a:r>
              <a:rPr sz="2600" b="1" dirty="0">
                <a:solidFill>
                  <a:srgbClr val="000099"/>
                </a:solidFill>
                <a:latin typeface="Times New Roman" panose="02020603050405020304"/>
                <a:cs typeface="Times New Roman" panose="02020603050405020304"/>
              </a:rPr>
              <a:t>independent</a:t>
            </a:r>
            <a:r>
              <a:rPr sz="2600" b="1" spc="-30" dirty="0">
                <a:solidFill>
                  <a:srgbClr val="000099"/>
                </a:solidFill>
                <a:latin typeface="Times New Roman" panose="02020603050405020304"/>
                <a:cs typeface="Times New Roman" panose="02020603050405020304"/>
              </a:rPr>
              <a:t> </a:t>
            </a:r>
            <a:r>
              <a:rPr sz="2600" b="1" dirty="0">
                <a:solidFill>
                  <a:srgbClr val="000099"/>
                </a:solidFill>
                <a:latin typeface="Times New Roman" panose="02020603050405020304"/>
                <a:cs typeface="Times New Roman" panose="02020603050405020304"/>
              </a:rPr>
              <a:t>nursing</a:t>
            </a:r>
            <a:r>
              <a:rPr sz="2600" b="1" spc="-10" dirty="0">
                <a:solidFill>
                  <a:srgbClr val="000099"/>
                </a:solidFill>
                <a:latin typeface="Times New Roman" panose="02020603050405020304"/>
                <a:cs typeface="Times New Roman" panose="02020603050405020304"/>
              </a:rPr>
              <a:t> </a:t>
            </a:r>
            <a:r>
              <a:rPr sz="2600" b="1" dirty="0">
                <a:solidFill>
                  <a:srgbClr val="000099"/>
                </a:solidFill>
                <a:latin typeface="Times New Roman" panose="02020603050405020304"/>
                <a:cs typeface="Times New Roman" panose="02020603050405020304"/>
              </a:rPr>
              <a:t>actions</a:t>
            </a:r>
            <a:r>
              <a:rPr sz="2600" b="1" spc="-10" dirty="0">
                <a:solidFill>
                  <a:srgbClr val="000099"/>
                </a:solidFill>
                <a:latin typeface="Times New Roman" panose="02020603050405020304"/>
                <a:cs typeface="Times New Roman" panose="02020603050405020304"/>
              </a:rPr>
              <a:t> </a:t>
            </a:r>
            <a:r>
              <a:rPr sz="2600" dirty="0">
                <a:latin typeface="Times New Roman" panose="02020603050405020304"/>
                <a:cs typeface="Times New Roman" panose="02020603050405020304"/>
              </a:rPr>
              <a:t>–</a:t>
            </a:r>
            <a:r>
              <a:rPr sz="2600" spc="-10" dirty="0">
                <a:latin typeface="Times New Roman" panose="02020603050405020304"/>
                <a:cs typeface="Times New Roman" panose="02020603050405020304"/>
              </a:rPr>
              <a:t> (actions </a:t>
            </a:r>
            <a:r>
              <a:rPr sz="2600" dirty="0">
                <a:latin typeface="Times New Roman" panose="02020603050405020304"/>
                <a:cs typeface="Times New Roman" panose="02020603050405020304"/>
              </a:rPr>
              <a:t>that</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do</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not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require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10" dirty="0">
                <a:latin typeface="Times New Roman" panose="02020603050405020304"/>
                <a:cs typeface="Times New Roman" panose="02020603050405020304"/>
              </a:rPr>
              <a:t> physician’s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order</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may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be</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legally </a:t>
            </a:r>
            <a:r>
              <a:rPr sz="2600" dirty="0">
                <a:latin typeface="Times New Roman" panose="02020603050405020304"/>
                <a:cs typeface="Times New Roman" panose="02020603050405020304"/>
              </a:rPr>
              <a:t>performed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by</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should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be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individualized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according</a:t>
            </a:r>
            <a:r>
              <a:rPr sz="2600" spc="-4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to </a:t>
            </a:r>
            <a:r>
              <a:rPr sz="2600" dirty="0">
                <a:latin typeface="Times New Roman" panose="02020603050405020304"/>
                <a:cs typeface="Times New Roman" panose="02020603050405020304"/>
              </a:rPr>
              <a:t>the</a:t>
            </a:r>
            <a:r>
              <a:rPr sz="2600" spc="-1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patient’s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condition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drugs</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prescribed</a:t>
            </a:r>
            <a:r>
              <a:rPr sz="2600" spc="40" dirty="0">
                <a:latin typeface="Times New Roman" panose="02020603050405020304"/>
                <a:cs typeface="Times New Roman" panose="02020603050405020304"/>
              </a:rPr>
              <a:t> </a:t>
            </a:r>
            <a:r>
              <a:rPr sz="2600" spc="-60" dirty="0">
                <a:latin typeface="Microsoft Sans Serif" panose="020B0604020202020204"/>
                <a:cs typeface="Microsoft Sans Serif" panose="020B0604020202020204"/>
              </a:rPr>
              <a:t>.</a:t>
            </a:r>
            <a:endParaRPr sz="2600">
              <a:latin typeface="Microsoft Sans Serif" panose="020B0604020202020204"/>
              <a:cs typeface="Microsoft Sans Serif" panose="020B0604020202020204"/>
            </a:endParaRPr>
          </a:p>
          <a:p>
            <a:pPr marL="354965" indent="-342265">
              <a:lnSpc>
                <a:spcPct val="100000"/>
              </a:lnSpc>
              <a:spcBef>
                <a:spcPts val="1400"/>
              </a:spcBef>
              <a:buFont typeface="Microsoft Sans Serif" panose="020B0604020202020204"/>
              <a:buChar char="•"/>
              <a:tabLst>
                <a:tab pos="354965" algn="l"/>
              </a:tabLst>
            </a:pPr>
            <a:r>
              <a:rPr sz="2600" dirty="0">
                <a:latin typeface="Times New Roman" panose="02020603050405020304"/>
                <a:cs typeface="Times New Roman" panose="02020603050405020304"/>
              </a:rPr>
              <a:t>Nursing</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diagnosis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may</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apply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 specific</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group</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type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75" dirty="0">
                <a:latin typeface="Times New Roman" panose="02020603050405020304"/>
                <a:cs typeface="Times New Roman" panose="02020603050405020304"/>
              </a:rPr>
              <a:t> </a:t>
            </a:r>
            <a:r>
              <a:rPr sz="2600" spc="-50" dirty="0">
                <a:latin typeface="Microsoft Sans Serif" panose="020B0604020202020204"/>
                <a:cs typeface="Microsoft Sans Serif" panose="020B0604020202020204"/>
              </a:rPr>
              <a:t>.</a:t>
            </a:r>
            <a:endParaRPr sz="2600">
              <a:latin typeface="Microsoft Sans Serif" panose="020B0604020202020204"/>
              <a:cs typeface="Microsoft Sans Serif" panose="020B0604020202020204"/>
            </a:endParaRPr>
          </a:p>
          <a:p>
            <a:pPr marL="355600" marR="931545" indent="-342900">
              <a:lnSpc>
                <a:spcPts val="2900"/>
              </a:lnSpc>
              <a:spcBef>
                <a:spcPts val="1810"/>
              </a:spcBef>
              <a:buFont typeface="Microsoft Sans Serif" panose="020B0604020202020204"/>
              <a:buChar char="•"/>
              <a:tabLst>
                <a:tab pos="355600" algn="l"/>
              </a:tabLst>
            </a:pPr>
            <a:r>
              <a:rPr sz="2600" dirty="0">
                <a:latin typeface="Times New Roman" panose="02020603050405020304"/>
                <a:cs typeface="Times New Roman" panose="02020603050405020304"/>
              </a:rPr>
              <a:t>Nursing</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diagnosis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provide</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framework</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for</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selections</a:t>
            </a:r>
            <a:r>
              <a:rPr sz="2600" spc="-1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of </a:t>
            </a:r>
            <a:r>
              <a:rPr sz="2600" dirty="0">
                <a:latin typeface="Times New Roman" panose="02020603050405020304"/>
                <a:cs typeface="Times New Roman" panose="02020603050405020304"/>
              </a:rPr>
              <a:t>nursing</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interventions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achieve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expected</a:t>
            </a:r>
            <a:r>
              <a:rPr sz="2600" spc="-3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outcomes.</a:t>
            </a:r>
            <a:endParaRPr sz="2600">
              <a:latin typeface="Times New Roman" panose="02020603050405020304"/>
              <a:cs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3268" y="-236068"/>
            <a:ext cx="9271000" cy="6482715"/>
          </a:xfrm>
          <a:prstGeom prst="rect">
            <a:avLst/>
          </a:prstGeom>
        </p:spPr>
        <p:txBody>
          <a:bodyPr vert="horz" wrap="square" lIns="0" tIns="191135" rIns="0" bIns="0" rtlCol="0">
            <a:spAutoFit/>
          </a:bodyPr>
          <a:lstStyle/>
          <a:p>
            <a:pPr marL="418465" indent="-342265">
              <a:lnSpc>
                <a:spcPct val="100000"/>
              </a:lnSpc>
              <a:spcBef>
                <a:spcPts val="1505"/>
              </a:spcBef>
              <a:buFont typeface="Microsoft Sans Serif" panose="020B0604020202020204"/>
              <a:buChar char="•"/>
              <a:tabLst>
                <a:tab pos="418465" algn="l"/>
              </a:tabLst>
            </a:pPr>
            <a:r>
              <a:rPr sz="2800" spc="-30" dirty="0">
                <a:latin typeface="Times New Roman" panose="02020603050405020304"/>
                <a:cs typeface="Times New Roman" panose="02020603050405020304"/>
              </a:rPr>
              <a:t>A</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complete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diagnosis</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consists</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two</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statements:</a:t>
            </a:r>
            <a:endParaRPr sz="2800">
              <a:latin typeface="Times New Roman" panose="02020603050405020304"/>
              <a:cs typeface="Times New Roman" panose="02020603050405020304"/>
            </a:endParaRPr>
          </a:p>
          <a:p>
            <a:pPr marL="419100" marR="44450" indent="-342900" algn="just">
              <a:lnSpc>
                <a:spcPts val="3020"/>
              </a:lnSpc>
              <a:spcBef>
                <a:spcPts val="1790"/>
              </a:spcBef>
            </a:pPr>
            <a:r>
              <a:rPr sz="2800" spc="90" dirty="0">
                <a:latin typeface="Wingdings" panose="05000000000000000000"/>
                <a:cs typeface="Wingdings" panose="05000000000000000000"/>
              </a:rPr>
              <a:t></a:t>
            </a:r>
            <a:r>
              <a:rPr sz="2800" spc="90" dirty="0">
                <a:latin typeface="Times New Roman" panose="02020603050405020304"/>
                <a:cs typeface="Times New Roman" panose="02020603050405020304"/>
              </a:rPr>
              <a:t>a</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statement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patient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actual</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potential</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health</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problems </a:t>
            </a:r>
            <a:r>
              <a:rPr sz="2800" dirty="0">
                <a:latin typeface="Times New Roman" panose="02020603050405020304"/>
                <a:cs typeface="Times New Roman" panose="02020603050405020304"/>
              </a:rPr>
              <a:t>followed</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15" dirty="0">
                <a:latin typeface="Times New Roman" panose="02020603050405020304"/>
                <a:cs typeface="Times New Roman" panose="02020603050405020304"/>
              </a:rPr>
              <a:t> </a:t>
            </a:r>
            <a:r>
              <a:rPr sz="2800" dirty="0">
                <a:latin typeface="Wingdings" panose="05000000000000000000"/>
                <a:cs typeface="Wingdings" panose="05000000000000000000"/>
              </a:rPr>
              <a: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statement</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problem's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probable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cause</a:t>
            </a:r>
            <a:r>
              <a:rPr sz="2800" spc="-4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or </a:t>
            </a:r>
            <a:r>
              <a:rPr sz="2800" dirty="0">
                <a:latin typeface="Times New Roman" panose="02020603050405020304"/>
                <a:cs typeface="Times New Roman" panose="02020603050405020304"/>
              </a:rPr>
              <a:t>risk</a:t>
            </a:r>
            <a:r>
              <a:rPr sz="2800" spc="-5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factors.</a:t>
            </a:r>
            <a:endParaRPr sz="2800">
              <a:latin typeface="Times New Roman" panose="02020603050405020304"/>
              <a:cs typeface="Times New Roman" panose="02020603050405020304"/>
            </a:endParaRPr>
          </a:p>
          <a:p>
            <a:pPr marL="419100" marR="46990" indent="-342900">
              <a:lnSpc>
                <a:spcPct val="90000"/>
              </a:lnSpc>
              <a:spcBef>
                <a:spcPts val="1635"/>
              </a:spcBef>
              <a:buFont typeface="Microsoft Sans Serif" panose="020B0604020202020204"/>
              <a:buChar char="•"/>
              <a:tabLst>
                <a:tab pos="419100" algn="l"/>
              </a:tabLst>
            </a:pPr>
            <a:r>
              <a:rPr sz="2800" dirty="0">
                <a:latin typeface="Times New Roman" panose="02020603050405020304"/>
                <a:cs typeface="Times New Roman" panose="02020603050405020304"/>
              </a:rPr>
              <a:t>The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two</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statements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separated</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phrase</a:t>
            </a:r>
            <a:r>
              <a:rPr sz="2800" spc="-3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related</a:t>
            </a:r>
            <a:r>
              <a:rPr sz="2800" b="1" spc="-3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to</a:t>
            </a:r>
            <a:r>
              <a:rPr sz="2800" b="1" spc="-15"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example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drug-</a:t>
            </a:r>
            <a:r>
              <a:rPr sz="2800" dirty="0">
                <a:latin typeface="Times New Roman" panose="02020603050405020304"/>
                <a:cs typeface="Times New Roman" panose="02020603050405020304"/>
              </a:rPr>
              <a:t>associated</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diagnosis: </a:t>
            </a:r>
            <a:r>
              <a:rPr sz="2800" dirty="0">
                <a:latin typeface="Times New Roman" panose="02020603050405020304"/>
                <a:cs typeface="Times New Roman" panose="02020603050405020304"/>
              </a:rPr>
              <a:t>noncompliance</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with</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prescribed</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regimen</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[problem]</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related </a:t>
            </a:r>
            <a:r>
              <a:rPr sz="2800" dirty="0">
                <a:latin typeface="Times New Roman" panose="02020603050405020304"/>
                <a:cs typeface="Times New Roman" panose="02020603050405020304"/>
              </a:rPr>
              <a:t>to</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inability</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self-administered</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medication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10" dirty="0">
                <a:latin typeface="Times New Roman" panose="02020603050405020304"/>
                <a:cs typeface="Times New Roman" panose="02020603050405020304"/>
              </a:rPr>
              <a:t> cause]</a:t>
            </a:r>
            <a:endParaRPr sz="2800">
              <a:latin typeface="Times New Roman" panose="02020603050405020304"/>
              <a:cs typeface="Times New Roman" panose="02020603050405020304"/>
            </a:endParaRPr>
          </a:p>
          <a:p>
            <a:pPr marL="419100" marR="271780" indent="-342900">
              <a:lnSpc>
                <a:spcPct val="90000"/>
              </a:lnSpc>
              <a:spcBef>
                <a:spcPts val="1670"/>
              </a:spcBef>
              <a:buFont typeface="Microsoft Sans Serif" panose="020B0604020202020204"/>
              <a:buChar char="•"/>
              <a:tabLst>
                <a:tab pos="419100" algn="l"/>
              </a:tabLst>
            </a:pPr>
            <a:r>
              <a:rPr sz="2800" dirty="0">
                <a:latin typeface="Times New Roman" panose="02020603050405020304"/>
                <a:cs typeface="Times New Roman" panose="02020603050405020304"/>
              </a:rPr>
              <a:t>Some</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time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followed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3</a:t>
            </a:r>
            <a:r>
              <a:rPr sz="2775" baseline="26000" dirty="0">
                <a:latin typeface="Times New Roman" panose="02020603050405020304"/>
                <a:cs typeface="Times New Roman" panose="02020603050405020304"/>
              </a:rPr>
              <a:t>rd</a:t>
            </a:r>
            <a:r>
              <a:rPr sz="2775" spc="315" baseline="26000" dirty="0">
                <a:latin typeface="Times New Roman" panose="02020603050405020304"/>
                <a:cs typeface="Times New Roman" panose="02020603050405020304"/>
              </a:rPr>
              <a:t> </a:t>
            </a:r>
            <a:r>
              <a:rPr sz="2800" dirty="0">
                <a:latin typeface="Times New Roman" panose="02020603050405020304"/>
                <a:cs typeface="Times New Roman" panose="02020603050405020304"/>
              </a:rPr>
              <a:t>statement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signs,</a:t>
            </a:r>
            <a:r>
              <a:rPr sz="2800" spc="-5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symptoms, </a:t>
            </a:r>
            <a:r>
              <a:rPr sz="2800" dirty="0">
                <a:latin typeface="Times New Roman" panose="02020603050405020304"/>
                <a:cs typeface="Times New Roman" panose="02020603050405020304"/>
              </a:rPr>
              <a:t>or</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other</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evidence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problem.</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E.g.,</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“noncompliance </a:t>
            </a:r>
            <a:r>
              <a:rPr sz="2800" dirty="0">
                <a:latin typeface="Times New Roman" panose="02020603050405020304"/>
                <a:cs typeface="Times New Roman" panose="02020603050405020304"/>
              </a:rPr>
              <a:t>related</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complex</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medication</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administration</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schedule</a:t>
            </a:r>
            <a:r>
              <a:rPr sz="2800" spc="-5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cause]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evidenced</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missed</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doses</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patient’s </a:t>
            </a:r>
            <a:r>
              <a:rPr sz="2800" dirty="0">
                <a:latin typeface="Times New Roman" panose="02020603050405020304"/>
                <a:cs typeface="Times New Roman" panose="02020603050405020304"/>
              </a:rPr>
              <a:t>statement</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that</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schedule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confusing</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evidence].</a:t>
            </a:r>
            <a:endParaRPr sz="2800">
              <a:latin typeface="Times New Roman" panose="02020603050405020304"/>
              <a:cs typeface="Times New Roman" panose="02020603050405020304"/>
            </a:endParaRPr>
          </a:p>
          <a:p>
            <a:pPr marL="418465" indent="-342265">
              <a:lnSpc>
                <a:spcPct val="100000"/>
              </a:lnSpc>
              <a:spcBef>
                <a:spcPts val="1340"/>
              </a:spcBef>
              <a:buFont typeface="Microsoft Sans Serif" panose="020B0604020202020204"/>
              <a:buChar char="•"/>
              <a:tabLst>
                <a:tab pos="418465" algn="l"/>
              </a:tabLst>
            </a:pPr>
            <a:r>
              <a:rPr sz="2800" dirty="0">
                <a:latin typeface="Times New Roman" panose="02020603050405020304"/>
                <a:cs typeface="Times New Roman" panose="02020603050405020304"/>
              </a:rPr>
              <a:t>With</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respect</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drug</a:t>
            </a:r>
            <a:r>
              <a:rPr sz="2800" spc="-5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therapy,</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analysis</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phase</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7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nursing</a:t>
            </a:r>
            <a:endParaRPr sz="2800">
              <a:latin typeface="Times New Roman" panose="02020603050405020304"/>
              <a:cs typeface="Times New Roman" panose="02020603050405020304"/>
            </a:endParaRPr>
          </a:p>
        </p:txBody>
      </p:sp>
      <p:sp>
        <p:nvSpPr>
          <p:cNvPr id="3" name="object 3"/>
          <p:cNvSpPr txBox="1"/>
          <p:nvPr/>
        </p:nvSpPr>
        <p:spPr>
          <a:xfrm>
            <a:off x="313131" y="6179007"/>
            <a:ext cx="407162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process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has</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three</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objectives.</a:t>
            </a:r>
            <a:endParaRPr sz="2800">
              <a:latin typeface="Times New Roman" panose="02020603050405020304"/>
              <a:cs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40" y="-264795"/>
            <a:ext cx="8946515" cy="3842385"/>
          </a:xfrm>
          <a:prstGeom prst="rect">
            <a:avLst/>
          </a:prstGeom>
        </p:spPr>
        <p:txBody>
          <a:bodyPr vert="horz" wrap="square" lIns="0" tIns="220980" rIns="0" bIns="0" rtlCol="0">
            <a:noAutofit/>
          </a:bodyPr>
          <a:lstStyle/>
          <a:p>
            <a:pPr marL="354965" indent="-342265">
              <a:lnSpc>
                <a:spcPct val="100000"/>
              </a:lnSpc>
              <a:spcBef>
                <a:spcPts val="1740"/>
              </a:spcBef>
              <a:buFont typeface="Microsoft Sans Serif" panose="020B0604020202020204"/>
              <a:buChar char="•"/>
              <a:tabLst>
                <a:tab pos="354965" algn="l"/>
              </a:tabLst>
            </a:pPr>
            <a:r>
              <a:rPr sz="2800" b="1" dirty="0">
                <a:solidFill>
                  <a:srgbClr val="D50092"/>
                </a:solidFill>
                <a:latin typeface="Times New Roman" panose="02020603050405020304"/>
                <a:cs typeface="Times New Roman" panose="02020603050405020304"/>
              </a:rPr>
              <a:t>Objectives</a:t>
            </a:r>
            <a:r>
              <a:rPr sz="2800" b="1" spc="-75" dirty="0">
                <a:solidFill>
                  <a:srgbClr val="D50092"/>
                </a:solidFill>
                <a:latin typeface="Times New Roman" panose="02020603050405020304"/>
                <a:cs typeface="Times New Roman" panose="02020603050405020304"/>
              </a:rPr>
              <a:t> </a:t>
            </a:r>
            <a:r>
              <a:rPr sz="2800" b="1" dirty="0">
                <a:solidFill>
                  <a:srgbClr val="D50092"/>
                </a:solidFill>
                <a:latin typeface="Times New Roman" panose="02020603050405020304"/>
                <a:cs typeface="Times New Roman" panose="02020603050405020304"/>
              </a:rPr>
              <a:t>of</a:t>
            </a:r>
            <a:r>
              <a:rPr sz="2800" b="1" spc="-70" dirty="0">
                <a:solidFill>
                  <a:srgbClr val="D50092"/>
                </a:solidFill>
                <a:latin typeface="Times New Roman" panose="02020603050405020304"/>
                <a:cs typeface="Times New Roman" panose="02020603050405020304"/>
              </a:rPr>
              <a:t> </a:t>
            </a:r>
            <a:r>
              <a:rPr sz="2800" b="1" dirty="0">
                <a:solidFill>
                  <a:srgbClr val="D50092"/>
                </a:solidFill>
                <a:latin typeface="Times New Roman" panose="02020603050405020304"/>
                <a:cs typeface="Times New Roman" panose="02020603050405020304"/>
              </a:rPr>
              <a:t>nursing</a:t>
            </a:r>
            <a:r>
              <a:rPr sz="2800" b="1" spc="-55" dirty="0">
                <a:solidFill>
                  <a:srgbClr val="D50092"/>
                </a:solidFill>
                <a:latin typeface="Times New Roman" panose="02020603050405020304"/>
                <a:cs typeface="Times New Roman" panose="02020603050405020304"/>
              </a:rPr>
              <a:t> </a:t>
            </a:r>
            <a:r>
              <a:rPr sz="3200" b="1" spc="-10" dirty="0">
                <a:solidFill>
                  <a:srgbClr val="D50092"/>
                </a:solidFill>
                <a:latin typeface="Times New Roman" panose="02020603050405020304"/>
                <a:cs typeface="Times New Roman" panose="02020603050405020304"/>
              </a:rPr>
              <a:t>analysis</a:t>
            </a:r>
            <a:r>
              <a:rPr sz="2800" spc="-1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527685" indent="-514985">
              <a:lnSpc>
                <a:spcPct val="100000"/>
              </a:lnSpc>
              <a:spcBef>
                <a:spcPts val="1330"/>
              </a:spcBef>
              <a:buAutoNum type="arabicPeriod"/>
              <a:tabLst>
                <a:tab pos="527685" algn="l"/>
              </a:tabLst>
            </a:pPr>
            <a:r>
              <a:rPr sz="2600" dirty="0">
                <a:latin typeface="Times New Roman" panose="02020603050405020304"/>
                <a:cs typeface="Times New Roman" panose="02020603050405020304"/>
              </a:rPr>
              <a:t>Judgment</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appropriateness</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prescribed</a:t>
            </a:r>
            <a:r>
              <a:rPr sz="2600" spc="-2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regimen.</a:t>
            </a:r>
            <a:endParaRPr sz="2600">
              <a:latin typeface="Times New Roman" panose="02020603050405020304"/>
              <a:cs typeface="Times New Roman" panose="02020603050405020304"/>
            </a:endParaRPr>
          </a:p>
          <a:p>
            <a:pPr marL="527685" indent="-514985">
              <a:lnSpc>
                <a:spcPct val="100000"/>
              </a:lnSpc>
              <a:spcBef>
                <a:spcPts val="315"/>
              </a:spcBef>
              <a:buAutoNum type="arabicPeriod"/>
              <a:tabLst>
                <a:tab pos="527685" algn="l"/>
              </a:tabLst>
            </a:pPr>
            <a:r>
              <a:rPr sz="2600" dirty="0">
                <a:latin typeface="Times New Roman" panose="02020603050405020304"/>
                <a:cs typeface="Times New Roman" panose="02020603050405020304"/>
              </a:rPr>
              <a:t>Identifying</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potential</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health</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problems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might</a:t>
            </a:r>
            <a:r>
              <a:rPr sz="2600" spc="-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cause.</a:t>
            </a:r>
            <a:endParaRPr sz="2600">
              <a:latin typeface="Times New Roman" panose="02020603050405020304"/>
              <a:cs typeface="Times New Roman" panose="02020603050405020304"/>
            </a:endParaRPr>
          </a:p>
          <a:p>
            <a:pPr marL="527685" indent="-514985">
              <a:lnSpc>
                <a:spcPct val="100000"/>
              </a:lnSpc>
              <a:spcBef>
                <a:spcPts val="310"/>
              </a:spcBef>
              <a:buAutoNum type="arabicPeriod"/>
              <a:tabLst>
                <a:tab pos="527685" algn="l"/>
                <a:tab pos="2360930" algn="l"/>
              </a:tabLst>
            </a:pPr>
            <a:r>
              <a:rPr sz="2600" spc="-10" dirty="0">
                <a:latin typeface="Times New Roman" panose="02020603050405020304"/>
                <a:cs typeface="Times New Roman" panose="02020603050405020304"/>
              </a:rPr>
              <a:t>Determining</a:t>
            </a:r>
            <a:r>
              <a:rPr sz="2600" dirty="0">
                <a:latin typeface="Times New Roman" panose="02020603050405020304"/>
                <a:cs typeface="Times New Roman" panose="02020603050405020304"/>
              </a:rPr>
              <a:t>	the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patient's</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capacity</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for</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self-care.</a:t>
            </a:r>
            <a:endParaRPr sz="2600">
              <a:latin typeface="Times New Roman" panose="02020603050405020304"/>
              <a:cs typeface="Times New Roman" panose="02020603050405020304"/>
            </a:endParaRPr>
          </a:p>
          <a:p>
            <a:pPr marL="355600" marR="29845" indent="-342900">
              <a:lnSpc>
                <a:spcPts val="3020"/>
              </a:lnSpc>
              <a:spcBef>
                <a:spcPts val="2635"/>
              </a:spcBef>
              <a:tabLst>
                <a:tab pos="354965" algn="l"/>
              </a:tabLst>
            </a:pPr>
            <a:r>
              <a:rPr sz="2800" spc="-50" dirty="0">
                <a:latin typeface="Times New Roman" panose="02020603050405020304"/>
                <a:cs typeface="Times New Roman" panose="02020603050405020304"/>
              </a:rPr>
              <a:t>⁎</a:t>
            </a:r>
            <a:r>
              <a:rPr sz="2800" dirty="0">
                <a:latin typeface="Times New Roman" panose="02020603050405020304"/>
                <a:cs typeface="Times New Roman" panose="02020603050405020304"/>
              </a:rPr>
              <a:t>Nurses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must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analyze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collected</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during</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assessment</a:t>
            </a:r>
            <a:r>
              <a:rPr sz="2800" spc="-4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to </a:t>
            </a:r>
            <a:r>
              <a:rPr sz="2800" dirty="0">
                <a:latin typeface="Times New Roman" panose="02020603050405020304"/>
                <a:cs typeface="Times New Roman" panose="02020603050405020304"/>
              </a:rPr>
              <a:t>determine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proposed</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treatment</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effective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safe</a:t>
            </a:r>
            <a:r>
              <a:rPr sz="2800" spc="-3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or </a:t>
            </a:r>
            <a:r>
              <a:rPr sz="2800" spc="-20" dirty="0">
                <a:latin typeface="Times New Roman" panose="02020603050405020304"/>
                <a:cs typeface="Times New Roman" panose="02020603050405020304"/>
              </a:rPr>
              <a:t>not.</a:t>
            </a:r>
            <a:endParaRPr sz="2800">
              <a:latin typeface="Times New Roman" panose="02020603050405020304"/>
              <a:cs typeface="Times New Roman" panose="02020603050405020304"/>
            </a:endParaRPr>
          </a:p>
          <a:p>
            <a:pPr marL="355600" marR="346710" indent="-342900">
              <a:lnSpc>
                <a:spcPts val="2960"/>
              </a:lnSpc>
              <a:spcBef>
                <a:spcPts val="1730"/>
              </a:spcBef>
              <a:tabLst>
                <a:tab pos="354965" algn="l"/>
                <a:tab pos="8354695" algn="l"/>
              </a:tabLst>
            </a:pPr>
            <a:r>
              <a:rPr sz="2800" spc="-50" dirty="0">
                <a:solidFill>
                  <a:srgbClr val="000099"/>
                </a:solidFill>
                <a:latin typeface="Times New Roman" panose="02020603050405020304"/>
                <a:cs typeface="Times New Roman" panose="02020603050405020304"/>
              </a:rPr>
              <a:t>⁎</a:t>
            </a:r>
            <a:r>
              <a:rPr sz="2800" b="1" dirty="0">
                <a:solidFill>
                  <a:srgbClr val="000099"/>
                </a:solidFill>
                <a:latin typeface="Times New Roman" panose="02020603050405020304"/>
                <a:cs typeface="Times New Roman" panose="02020603050405020304"/>
              </a:rPr>
              <a:t>Judging</a:t>
            </a:r>
            <a:r>
              <a:rPr sz="2800" b="1" spc="-65" dirty="0">
                <a:solidFill>
                  <a:srgbClr val="000099"/>
                </a:solidFill>
                <a:latin typeface="Times New Roman" panose="02020603050405020304"/>
                <a:cs typeface="Times New Roman" panose="02020603050405020304"/>
              </a:rPr>
              <a:t> </a:t>
            </a:r>
            <a:r>
              <a:rPr sz="2800" b="1" spc="-10" dirty="0">
                <a:solidFill>
                  <a:srgbClr val="000099"/>
                </a:solidFill>
                <a:latin typeface="Times New Roman" panose="02020603050405020304"/>
                <a:cs typeface="Times New Roman" panose="02020603050405020304"/>
              </a:rPr>
              <a:t>appropriateness</a:t>
            </a:r>
            <a:r>
              <a:rPr sz="2800" b="1" spc="-80" dirty="0">
                <a:solidFill>
                  <a:srgbClr val="000099"/>
                </a:solidFill>
                <a:latin typeface="Times New Roman" panose="02020603050405020304"/>
                <a:cs typeface="Times New Roman" panose="02020603050405020304"/>
              </a:rPr>
              <a:t> </a:t>
            </a:r>
            <a:r>
              <a:rPr sz="2800" b="1" dirty="0">
                <a:solidFill>
                  <a:srgbClr val="000099"/>
                </a:solidFill>
                <a:latin typeface="Times New Roman" panose="02020603050405020304"/>
                <a:cs typeface="Times New Roman" panose="02020603050405020304"/>
              </a:rPr>
              <a:t>of</a:t>
            </a:r>
            <a:r>
              <a:rPr sz="2800" b="1" spc="-75" dirty="0">
                <a:solidFill>
                  <a:srgbClr val="000099"/>
                </a:solidFill>
                <a:latin typeface="Times New Roman" panose="02020603050405020304"/>
                <a:cs typeface="Times New Roman" panose="02020603050405020304"/>
              </a:rPr>
              <a:t> </a:t>
            </a:r>
            <a:r>
              <a:rPr sz="2800" b="1" dirty="0">
                <a:solidFill>
                  <a:srgbClr val="000099"/>
                </a:solidFill>
                <a:latin typeface="Times New Roman" panose="02020603050405020304"/>
                <a:cs typeface="Times New Roman" panose="02020603050405020304"/>
              </a:rPr>
              <a:t>the</a:t>
            </a:r>
            <a:r>
              <a:rPr sz="2800" b="1" spc="-70" dirty="0">
                <a:solidFill>
                  <a:srgbClr val="000099"/>
                </a:solidFill>
                <a:latin typeface="Times New Roman" panose="02020603050405020304"/>
                <a:cs typeface="Times New Roman" panose="02020603050405020304"/>
              </a:rPr>
              <a:t> </a:t>
            </a:r>
            <a:r>
              <a:rPr sz="2800" b="1" dirty="0">
                <a:solidFill>
                  <a:srgbClr val="000099"/>
                </a:solidFill>
                <a:latin typeface="Times New Roman" panose="02020603050405020304"/>
                <a:cs typeface="Times New Roman" panose="02020603050405020304"/>
              </a:rPr>
              <a:t>prescribed</a:t>
            </a:r>
            <a:r>
              <a:rPr sz="2800" b="1" spc="-75" dirty="0">
                <a:solidFill>
                  <a:srgbClr val="000099"/>
                </a:solidFill>
                <a:latin typeface="Times New Roman" panose="02020603050405020304"/>
                <a:cs typeface="Times New Roman" panose="02020603050405020304"/>
              </a:rPr>
              <a:t> </a:t>
            </a:r>
            <a:r>
              <a:rPr sz="2800" b="1" spc="-10" dirty="0">
                <a:solidFill>
                  <a:srgbClr val="000099"/>
                </a:solidFill>
                <a:latin typeface="Times New Roman" panose="02020603050405020304"/>
                <a:cs typeface="Times New Roman" panose="02020603050405020304"/>
              </a:rPr>
              <a:t>regimen,</a:t>
            </a:r>
            <a:r>
              <a:rPr sz="2800" b="1" dirty="0">
                <a:solidFill>
                  <a:srgbClr val="000099"/>
                </a:solidFill>
                <a:latin typeface="Times New Roman" panose="02020603050405020304"/>
                <a:cs typeface="Times New Roman" panose="02020603050405020304"/>
              </a:rPr>
              <a:t>	</a:t>
            </a:r>
            <a:r>
              <a:rPr sz="2800" b="1" spc="-25" dirty="0">
                <a:solidFill>
                  <a:srgbClr val="000099"/>
                </a:solidFill>
                <a:latin typeface="Times New Roman" panose="02020603050405020304"/>
                <a:cs typeface="Times New Roman" panose="02020603050405020304"/>
              </a:rPr>
              <a:t>is </a:t>
            </a:r>
            <a:r>
              <a:rPr sz="2800" b="1" dirty="0">
                <a:solidFill>
                  <a:srgbClr val="000099"/>
                </a:solidFill>
                <a:latin typeface="Times New Roman" panose="02020603050405020304"/>
                <a:cs typeface="Times New Roman" panose="02020603050405020304"/>
              </a:rPr>
              <a:t>made</a:t>
            </a:r>
            <a:r>
              <a:rPr sz="2800" b="1" spc="-55" dirty="0">
                <a:solidFill>
                  <a:srgbClr val="000099"/>
                </a:solidFill>
                <a:latin typeface="Times New Roman" panose="02020603050405020304"/>
                <a:cs typeface="Times New Roman" panose="02020603050405020304"/>
              </a:rPr>
              <a:t> </a:t>
            </a:r>
            <a:r>
              <a:rPr sz="2800" b="1" spc="-25" dirty="0">
                <a:solidFill>
                  <a:srgbClr val="000099"/>
                </a:solidFill>
                <a:latin typeface="Times New Roman" panose="02020603050405020304"/>
                <a:cs typeface="Times New Roman" panose="02020603050405020304"/>
              </a:rPr>
              <a:t>by:</a:t>
            </a:r>
            <a:endParaRPr sz="2800">
              <a:latin typeface="Times New Roman" panose="02020603050405020304"/>
              <a:cs typeface="Times New Roman" panose="02020603050405020304"/>
            </a:endParaRPr>
          </a:p>
        </p:txBody>
      </p:sp>
      <p:sp>
        <p:nvSpPr>
          <p:cNvPr id="3" name="object 3"/>
          <p:cNvSpPr txBox="1"/>
          <p:nvPr/>
        </p:nvSpPr>
        <p:spPr>
          <a:xfrm>
            <a:off x="228600" y="4419600"/>
            <a:ext cx="6969125" cy="1609090"/>
          </a:xfrm>
          <a:prstGeom prst="rect">
            <a:avLst/>
          </a:prstGeom>
        </p:spPr>
        <p:txBody>
          <a:bodyPr vert="horz" wrap="square" lIns="0" tIns="183515" rIns="0" bIns="0" rtlCol="0">
            <a:noAutofit/>
          </a:bodyPr>
          <a:lstStyle/>
          <a:p>
            <a:pPr marL="527685" indent="-514985">
              <a:lnSpc>
                <a:spcPct val="100000"/>
              </a:lnSpc>
              <a:spcBef>
                <a:spcPts val="1445"/>
              </a:spcBef>
              <a:buAutoNum type="arabicPeriod"/>
              <a:tabLst>
                <a:tab pos="527685" algn="l"/>
              </a:tabLst>
            </a:pPr>
            <a:r>
              <a:rPr sz="2800" dirty="0">
                <a:latin typeface="Times New Roman" panose="02020603050405020304"/>
                <a:cs typeface="Times New Roman" panose="02020603050405020304"/>
              </a:rPr>
              <a:t>Considering</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medical</a:t>
            </a:r>
            <a:r>
              <a:rPr sz="2800" spc="-4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diagnosis</a:t>
            </a:r>
            <a:endParaRPr sz="2800">
              <a:latin typeface="Times New Roman" panose="02020603050405020304"/>
              <a:cs typeface="Times New Roman" panose="02020603050405020304"/>
            </a:endParaRPr>
          </a:p>
          <a:p>
            <a:pPr marL="527685" indent="-514985">
              <a:lnSpc>
                <a:spcPct val="100000"/>
              </a:lnSpc>
              <a:spcBef>
                <a:spcPts val="1345"/>
              </a:spcBef>
              <a:buAutoNum type="arabicPeriod"/>
              <a:tabLst>
                <a:tab pos="527685" algn="l"/>
              </a:tabLst>
            </a:pPr>
            <a:r>
              <a:rPr sz="2800" dirty="0">
                <a:latin typeface="Times New Roman" panose="02020603050405020304"/>
                <a:cs typeface="Times New Roman" panose="02020603050405020304"/>
              </a:rPr>
              <a:t>The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known</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actions</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prescribed</a:t>
            </a:r>
            <a:r>
              <a:rPr sz="2800" spc="-5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drug.</a:t>
            </a:r>
            <a:endParaRPr sz="2800">
              <a:latin typeface="Times New Roman" panose="02020603050405020304"/>
              <a:cs typeface="Times New Roman" panose="02020603050405020304"/>
            </a:endParaRPr>
          </a:p>
          <a:p>
            <a:pPr marL="527685" indent="-514985">
              <a:lnSpc>
                <a:spcPct val="100000"/>
              </a:lnSpc>
              <a:spcBef>
                <a:spcPts val="1330"/>
              </a:spcBef>
              <a:buAutoNum type="arabicPeriod"/>
              <a:tabLst>
                <a:tab pos="527685" algn="l"/>
              </a:tabLst>
            </a:pP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patient’s</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prior</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responses</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4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drug</a:t>
            </a:r>
            <a:endParaRPr sz="2800">
              <a:latin typeface="Times New Roman" panose="02020603050405020304"/>
              <a:cs typeface="Times New Roman" panose="02020603050405020304"/>
            </a:endParaRPr>
          </a:p>
          <a:p>
            <a:pPr marL="527685" indent="-514985">
              <a:lnSpc>
                <a:spcPct val="100000"/>
              </a:lnSpc>
              <a:spcBef>
                <a:spcPts val="1410"/>
              </a:spcBef>
              <a:buAutoNum type="arabicPeriod"/>
              <a:tabLst>
                <a:tab pos="527685" algn="l"/>
              </a:tabLst>
            </a:pPr>
            <a:r>
              <a:rPr sz="2800" dirty="0">
                <a:latin typeface="Times New Roman" panose="02020603050405020304"/>
                <a:cs typeface="Times New Roman" panose="02020603050405020304"/>
              </a:rPr>
              <a:t>The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presence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 </a:t>
            </a:r>
            <a:r>
              <a:rPr sz="2800" spc="-10" dirty="0">
                <a:latin typeface="Times New Roman" panose="02020603050405020304"/>
                <a:cs typeface="Times New Roman" panose="02020603050405020304"/>
              </a:rPr>
              <a:t>contraindications</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1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drug</a:t>
            </a:r>
            <a:endParaRPr sz="2800">
              <a:latin typeface="Times New Roman" panose="02020603050405020304"/>
              <a:cs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768" y="-38501"/>
            <a:ext cx="8933815" cy="2559050"/>
          </a:xfrm>
          <a:prstGeom prst="rect">
            <a:avLst/>
          </a:prstGeom>
        </p:spPr>
        <p:txBody>
          <a:bodyPr vert="horz" wrap="square" lIns="0" tIns="67310" rIns="0" bIns="0" rtlCol="0">
            <a:spAutoFit/>
          </a:bodyPr>
          <a:lstStyle/>
          <a:p>
            <a:pPr marL="354965" indent="-342265">
              <a:lnSpc>
                <a:spcPct val="100000"/>
              </a:lnSpc>
              <a:spcBef>
                <a:spcPts val="530"/>
              </a:spcBef>
              <a:buFont typeface="Microsoft Sans Serif" panose="020B0604020202020204"/>
              <a:buChar char="•"/>
              <a:tabLst>
                <a:tab pos="354965" algn="l"/>
              </a:tabLst>
            </a:pPr>
            <a:r>
              <a:rPr sz="2400" b="1" dirty="0">
                <a:solidFill>
                  <a:srgbClr val="000099"/>
                </a:solidFill>
                <a:latin typeface="Times New Roman" panose="02020603050405020304"/>
                <a:cs typeface="Times New Roman" panose="02020603050405020304"/>
              </a:rPr>
              <a:t>Identifying</a:t>
            </a:r>
            <a:r>
              <a:rPr sz="2400" b="1" spc="-55" dirty="0">
                <a:solidFill>
                  <a:srgbClr val="000099"/>
                </a:solidFill>
                <a:latin typeface="Times New Roman" panose="02020603050405020304"/>
                <a:cs typeface="Times New Roman" panose="02020603050405020304"/>
              </a:rPr>
              <a:t> </a:t>
            </a:r>
            <a:r>
              <a:rPr sz="2400" b="1" dirty="0">
                <a:solidFill>
                  <a:srgbClr val="000099"/>
                </a:solidFill>
                <a:latin typeface="Times New Roman" panose="02020603050405020304"/>
                <a:cs typeface="Times New Roman" panose="02020603050405020304"/>
              </a:rPr>
              <a:t>potential</a:t>
            </a:r>
            <a:r>
              <a:rPr sz="2400" b="1" spc="-65" dirty="0">
                <a:solidFill>
                  <a:srgbClr val="000099"/>
                </a:solidFill>
                <a:latin typeface="Times New Roman" panose="02020603050405020304"/>
                <a:cs typeface="Times New Roman" panose="02020603050405020304"/>
              </a:rPr>
              <a:t> </a:t>
            </a:r>
            <a:r>
              <a:rPr sz="2400" b="1" dirty="0">
                <a:solidFill>
                  <a:srgbClr val="000099"/>
                </a:solidFill>
                <a:latin typeface="Times New Roman" panose="02020603050405020304"/>
                <a:cs typeface="Times New Roman" panose="02020603050405020304"/>
              </a:rPr>
              <a:t>health</a:t>
            </a:r>
            <a:r>
              <a:rPr sz="2400" b="1" spc="-60" dirty="0">
                <a:solidFill>
                  <a:srgbClr val="000099"/>
                </a:solidFill>
                <a:latin typeface="Times New Roman" panose="02020603050405020304"/>
                <a:cs typeface="Times New Roman" panose="02020603050405020304"/>
              </a:rPr>
              <a:t> </a:t>
            </a:r>
            <a:r>
              <a:rPr sz="2400" b="1" dirty="0">
                <a:solidFill>
                  <a:srgbClr val="000099"/>
                </a:solidFill>
                <a:latin typeface="Times New Roman" panose="02020603050405020304"/>
                <a:cs typeface="Times New Roman" panose="02020603050405020304"/>
              </a:rPr>
              <a:t>problems</a:t>
            </a:r>
            <a:r>
              <a:rPr sz="2400" b="1" spc="-45" dirty="0">
                <a:solidFill>
                  <a:srgbClr val="000099"/>
                </a:solidFill>
                <a:latin typeface="Times New Roman" panose="02020603050405020304"/>
                <a:cs typeface="Times New Roman" panose="02020603050405020304"/>
              </a:rPr>
              <a:t> </a:t>
            </a:r>
            <a:r>
              <a:rPr sz="2400" b="1" dirty="0">
                <a:solidFill>
                  <a:srgbClr val="000099"/>
                </a:solidFill>
                <a:latin typeface="Times New Roman" panose="02020603050405020304"/>
                <a:cs typeface="Times New Roman" panose="02020603050405020304"/>
              </a:rPr>
              <a:t>that</a:t>
            </a:r>
            <a:r>
              <a:rPr sz="2400" b="1" spc="-45" dirty="0">
                <a:solidFill>
                  <a:srgbClr val="000099"/>
                </a:solidFill>
                <a:latin typeface="Times New Roman" panose="02020603050405020304"/>
                <a:cs typeface="Times New Roman" panose="02020603050405020304"/>
              </a:rPr>
              <a:t> </a:t>
            </a:r>
            <a:r>
              <a:rPr sz="2400" b="1" dirty="0">
                <a:solidFill>
                  <a:srgbClr val="000099"/>
                </a:solidFill>
                <a:latin typeface="Times New Roman" panose="02020603050405020304"/>
                <a:cs typeface="Times New Roman" panose="02020603050405020304"/>
              </a:rPr>
              <a:t>the</a:t>
            </a:r>
            <a:r>
              <a:rPr sz="2400" b="1" spc="-55" dirty="0">
                <a:solidFill>
                  <a:srgbClr val="000099"/>
                </a:solidFill>
                <a:latin typeface="Times New Roman" panose="02020603050405020304"/>
                <a:cs typeface="Times New Roman" panose="02020603050405020304"/>
              </a:rPr>
              <a:t> </a:t>
            </a:r>
            <a:r>
              <a:rPr sz="2400" b="1" dirty="0">
                <a:solidFill>
                  <a:srgbClr val="000099"/>
                </a:solidFill>
                <a:latin typeface="Times New Roman" panose="02020603050405020304"/>
                <a:cs typeface="Times New Roman" panose="02020603050405020304"/>
              </a:rPr>
              <a:t>drug</a:t>
            </a:r>
            <a:r>
              <a:rPr sz="2400" b="1" spc="-40" dirty="0">
                <a:solidFill>
                  <a:srgbClr val="000099"/>
                </a:solidFill>
                <a:latin typeface="Times New Roman" panose="02020603050405020304"/>
                <a:cs typeface="Times New Roman" panose="02020603050405020304"/>
              </a:rPr>
              <a:t> </a:t>
            </a:r>
            <a:r>
              <a:rPr sz="2400" b="1" dirty="0">
                <a:solidFill>
                  <a:srgbClr val="000099"/>
                </a:solidFill>
                <a:latin typeface="Times New Roman" panose="02020603050405020304"/>
                <a:cs typeface="Times New Roman" panose="02020603050405020304"/>
              </a:rPr>
              <a:t>might</a:t>
            </a:r>
            <a:r>
              <a:rPr sz="2400" b="1" spc="-35" dirty="0">
                <a:solidFill>
                  <a:srgbClr val="000099"/>
                </a:solidFill>
                <a:latin typeface="Times New Roman" panose="02020603050405020304"/>
                <a:cs typeface="Times New Roman" panose="02020603050405020304"/>
              </a:rPr>
              <a:t> </a:t>
            </a:r>
            <a:r>
              <a:rPr sz="2400" b="1" spc="-10" dirty="0">
                <a:solidFill>
                  <a:srgbClr val="000099"/>
                </a:solidFill>
                <a:latin typeface="Times New Roman" panose="02020603050405020304"/>
                <a:cs typeface="Times New Roman" panose="02020603050405020304"/>
              </a:rPr>
              <a:t>cause</a:t>
            </a:r>
            <a:endParaRPr sz="2400">
              <a:latin typeface="Times New Roman" panose="02020603050405020304"/>
              <a:cs typeface="Times New Roman" panose="02020603050405020304"/>
            </a:endParaRPr>
          </a:p>
          <a:p>
            <a:pPr marL="355600" marR="267970">
              <a:lnSpc>
                <a:spcPct val="115000"/>
              </a:lnSpc>
              <a:tabLst>
                <a:tab pos="7276465" algn="l"/>
              </a:tabLst>
            </a:pPr>
            <a:r>
              <a:rPr sz="2400" dirty="0">
                <a:solidFill>
                  <a:srgbClr val="000099"/>
                </a:solidFill>
                <a:latin typeface="Calibri" panose="020F0502020204030204"/>
                <a:cs typeface="Calibri" panose="020F0502020204030204"/>
              </a:rPr>
              <a:t>→</a:t>
            </a:r>
            <a:r>
              <a:rPr sz="2400" spc="-40" dirty="0">
                <a:solidFill>
                  <a:srgbClr val="000099"/>
                </a:solidFill>
                <a:latin typeface="Calibri" panose="020F0502020204030204"/>
                <a:cs typeface="Calibri" panose="020F0502020204030204"/>
              </a:rPr>
              <a:t> </a:t>
            </a:r>
            <a:r>
              <a:rPr sz="2400" dirty="0">
                <a:solidFill>
                  <a:srgbClr val="000099"/>
                </a:solidFill>
                <a:latin typeface="Calibri" panose="020F0502020204030204"/>
                <a:cs typeface="Calibri" panose="020F0502020204030204"/>
              </a:rPr>
              <a:t>→</a:t>
            </a:r>
            <a:r>
              <a:rPr sz="2400" dirty="0">
                <a:latin typeface="Times New Roman" panose="02020603050405020304"/>
                <a:cs typeface="Times New Roman" panose="02020603050405020304"/>
              </a:rPr>
              <a:t>Identification</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potential</a:t>
            </a:r>
            <a:r>
              <a:rPr sz="2400" spc="-60" dirty="0">
                <a:latin typeface="Times New Roman" panose="02020603050405020304"/>
                <a:cs typeface="Times New Roman" panose="02020603050405020304"/>
              </a:rPr>
              <a:t> </a:t>
            </a:r>
            <a:r>
              <a:rPr sz="2400" dirty="0">
                <a:latin typeface="Times New Roman" panose="02020603050405020304"/>
                <a:cs typeface="Times New Roman" panose="02020603050405020304"/>
              </a:rPr>
              <a:t>adverse</a:t>
            </a:r>
            <a:r>
              <a:rPr sz="2400" spc="-40" dirty="0">
                <a:latin typeface="Times New Roman" panose="02020603050405020304"/>
                <a:cs typeface="Times New Roman" panose="02020603050405020304"/>
              </a:rPr>
              <a:t> </a:t>
            </a:r>
            <a:r>
              <a:rPr sz="2400" dirty="0">
                <a:latin typeface="Times New Roman" panose="02020603050405020304"/>
                <a:cs typeface="Times New Roman" panose="02020603050405020304"/>
              </a:rPr>
              <a:t>effects</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5" dirty="0">
                <a:latin typeface="Times New Roman" panose="02020603050405020304"/>
                <a:cs typeface="Times New Roman" panose="02020603050405020304"/>
              </a:rPr>
              <a:t> </a:t>
            </a:r>
            <a:r>
              <a:rPr sz="2400" spc="-20" dirty="0">
                <a:latin typeface="Times New Roman" panose="02020603050405020304"/>
                <a:cs typeface="Times New Roman" panose="02020603050405020304"/>
              </a:rPr>
              <a:t>drug</a:t>
            </a:r>
            <a:r>
              <a:rPr sz="240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interaction. </a:t>
            </a:r>
            <a:r>
              <a:rPr sz="2400" dirty="0">
                <a:latin typeface="Times New Roman" panose="02020603050405020304"/>
                <a:cs typeface="Times New Roman" panose="02020603050405020304"/>
              </a:rPr>
              <a:t>This</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accomplished</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by</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integrating</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knowledge</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drug</a:t>
            </a:r>
            <a:r>
              <a:rPr sz="2400" spc="-2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under </a:t>
            </a:r>
            <a:r>
              <a:rPr sz="2400" dirty="0">
                <a:latin typeface="Times New Roman" panose="02020603050405020304"/>
                <a:cs typeface="Times New Roman" panose="02020603050405020304"/>
              </a:rPr>
              <a:t>consideration</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data</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collected</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during</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assessment.</a:t>
            </a:r>
            <a:r>
              <a:rPr sz="2400" spc="-5" dirty="0">
                <a:latin typeface="Times New Roman" panose="02020603050405020304"/>
                <a:cs typeface="Times New Roman" panose="02020603050405020304"/>
              </a:rPr>
              <a:t> </a:t>
            </a:r>
            <a:r>
              <a:rPr sz="2400" spc="-20" dirty="0">
                <a:latin typeface="Times New Roman" panose="02020603050405020304"/>
                <a:cs typeface="Times New Roman" panose="02020603050405020304"/>
              </a:rPr>
              <a:t>Once </a:t>
            </a:r>
            <a:r>
              <a:rPr sz="2400" dirty="0">
                <a:latin typeface="Times New Roman" panose="02020603050405020304"/>
                <a:cs typeface="Times New Roman" panose="02020603050405020304"/>
              </a:rPr>
              <a:t>potential</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adverse</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effects</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drug</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interaction</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have</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been</a:t>
            </a:r>
            <a:r>
              <a:rPr sz="2400" spc="1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identified, </a:t>
            </a:r>
            <a:r>
              <a:rPr sz="2400" dirty="0">
                <a:latin typeface="Times New Roman" panose="02020603050405020304"/>
                <a:cs typeface="Times New Roman" panose="02020603050405020304"/>
              </a:rPr>
              <a:t>pertinent</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nursing</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diagnosis</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can</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be</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easily</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formulated</a:t>
            </a:r>
            <a:r>
              <a:rPr sz="2400" spc="20" dirty="0">
                <a:latin typeface="Times New Roman" panose="02020603050405020304"/>
                <a:cs typeface="Times New Roman" panose="02020603050405020304"/>
              </a:rPr>
              <a:t> </a:t>
            </a:r>
            <a:r>
              <a:rPr sz="2400" spc="-50" dirty="0">
                <a:latin typeface="Microsoft Sans Serif" panose="020B0604020202020204"/>
                <a:cs typeface="Microsoft Sans Serif" panose="020B0604020202020204"/>
              </a:rPr>
              <a:t>.</a:t>
            </a:r>
            <a:endParaRPr sz="2400">
              <a:latin typeface="Microsoft Sans Serif" panose="020B0604020202020204"/>
              <a:cs typeface="Microsoft Sans Serif" panose="020B0604020202020204"/>
            </a:endParaRPr>
          </a:p>
        </p:txBody>
      </p:sp>
      <p:grpSp>
        <p:nvGrpSpPr>
          <p:cNvPr id="3" name="object 3"/>
          <p:cNvGrpSpPr/>
          <p:nvPr/>
        </p:nvGrpSpPr>
        <p:grpSpPr>
          <a:xfrm>
            <a:off x="86868" y="2647188"/>
            <a:ext cx="9057640" cy="1323340"/>
            <a:chOff x="86868" y="2647188"/>
            <a:chExt cx="9057640" cy="1323340"/>
          </a:xfrm>
        </p:grpSpPr>
        <p:pic>
          <p:nvPicPr>
            <p:cNvPr id="4" name="object 4"/>
            <p:cNvPicPr/>
            <p:nvPr/>
          </p:nvPicPr>
          <p:blipFill>
            <a:blip r:embed="rId2" cstate="print"/>
            <a:stretch>
              <a:fillRect/>
            </a:stretch>
          </p:blipFill>
          <p:spPr>
            <a:xfrm>
              <a:off x="213361" y="2691372"/>
              <a:ext cx="8930638" cy="1159787"/>
            </a:xfrm>
            <a:prstGeom prst="rect">
              <a:avLst/>
            </a:prstGeom>
          </p:spPr>
        </p:pic>
        <p:pic>
          <p:nvPicPr>
            <p:cNvPr id="5" name="object 5"/>
            <p:cNvPicPr/>
            <p:nvPr/>
          </p:nvPicPr>
          <p:blipFill>
            <a:blip r:embed="rId3" cstate="print"/>
            <a:stretch>
              <a:fillRect/>
            </a:stretch>
          </p:blipFill>
          <p:spPr>
            <a:xfrm>
              <a:off x="86868" y="2647188"/>
              <a:ext cx="9057132" cy="1322832"/>
            </a:xfrm>
            <a:prstGeom prst="rect">
              <a:avLst/>
            </a:prstGeom>
          </p:spPr>
        </p:pic>
        <p:pic>
          <p:nvPicPr>
            <p:cNvPr id="6" name="object 6"/>
            <p:cNvPicPr/>
            <p:nvPr/>
          </p:nvPicPr>
          <p:blipFill>
            <a:blip r:embed="rId4" cstate="print"/>
            <a:stretch>
              <a:fillRect/>
            </a:stretch>
          </p:blipFill>
          <p:spPr>
            <a:xfrm>
              <a:off x="251523" y="2708973"/>
              <a:ext cx="8892540" cy="1083373"/>
            </a:xfrm>
            <a:prstGeom prst="rect">
              <a:avLst/>
            </a:prstGeom>
          </p:spPr>
        </p:pic>
      </p:grpSp>
      <p:sp>
        <p:nvSpPr>
          <p:cNvPr id="7" name="object 7"/>
          <p:cNvSpPr txBox="1"/>
          <p:nvPr/>
        </p:nvSpPr>
        <p:spPr>
          <a:xfrm>
            <a:off x="251523" y="2708973"/>
            <a:ext cx="8892540" cy="1083945"/>
          </a:xfrm>
          <a:prstGeom prst="rect">
            <a:avLst/>
          </a:prstGeom>
          <a:ln w="9525">
            <a:solidFill>
              <a:srgbClr val="BD4A47"/>
            </a:solidFill>
          </a:ln>
        </p:spPr>
        <p:txBody>
          <a:bodyPr vert="horz" wrap="square" lIns="0" tIns="22860" rIns="0" bIns="0" rtlCol="0">
            <a:spAutoFit/>
          </a:bodyPr>
          <a:lstStyle/>
          <a:p>
            <a:pPr marL="90805" marR="80010">
              <a:lnSpc>
                <a:spcPts val="3860"/>
              </a:lnSpc>
              <a:spcBef>
                <a:spcPts val="180"/>
              </a:spcBef>
            </a:pPr>
            <a:r>
              <a:rPr sz="2800" dirty="0">
                <a:latin typeface="Gabriola" panose="04040605051002020D02"/>
                <a:cs typeface="Gabriola" panose="04040605051002020D02"/>
              </a:rPr>
              <a:t>E.g.,</a:t>
            </a:r>
            <a:r>
              <a:rPr sz="2800" spc="-40" dirty="0">
                <a:latin typeface="Gabriola" panose="04040605051002020D02"/>
                <a:cs typeface="Gabriola" panose="04040605051002020D02"/>
              </a:rPr>
              <a:t> </a:t>
            </a:r>
            <a:r>
              <a:rPr sz="2800" dirty="0">
                <a:latin typeface="Gabriola" panose="04040605051002020D02"/>
                <a:cs typeface="Gabriola" panose="04040605051002020D02"/>
              </a:rPr>
              <a:t>if</a:t>
            </a:r>
            <a:r>
              <a:rPr sz="2800" spc="-60" dirty="0">
                <a:latin typeface="Gabriola" panose="04040605051002020D02"/>
                <a:cs typeface="Gabriola" panose="04040605051002020D02"/>
              </a:rPr>
              <a:t> </a:t>
            </a:r>
            <a:r>
              <a:rPr sz="2800" spc="-10" dirty="0">
                <a:latin typeface="Gabriola" panose="04040605051002020D02"/>
                <a:cs typeface="Gabriola" panose="04040605051002020D02"/>
              </a:rPr>
              <a:t>treatment</a:t>
            </a:r>
            <a:r>
              <a:rPr sz="2800" spc="-50" dirty="0">
                <a:latin typeface="Gabriola" panose="04040605051002020D02"/>
                <a:cs typeface="Gabriola" panose="04040605051002020D02"/>
              </a:rPr>
              <a:t> </a:t>
            </a:r>
            <a:r>
              <a:rPr sz="2800" dirty="0">
                <a:latin typeface="Gabriola" panose="04040605051002020D02"/>
                <a:cs typeface="Gabriola" panose="04040605051002020D02"/>
              </a:rPr>
              <a:t>is</a:t>
            </a:r>
            <a:r>
              <a:rPr sz="2800" spc="-40" dirty="0">
                <a:latin typeface="Gabriola" panose="04040605051002020D02"/>
                <a:cs typeface="Gabriola" panose="04040605051002020D02"/>
              </a:rPr>
              <a:t> </a:t>
            </a:r>
            <a:r>
              <a:rPr sz="2800" dirty="0">
                <a:latin typeface="Gabriola" panose="04040605051002020D02"/>
                <a:cs typeface="Gabriola" panose="04040605051002020D02"/>
              </a:rPr>
              <a:t>likely</a:t>
            </a:r>
            <a:r>
              <a:rPr sz="2800" spc="-55" dirty="0">
                <a:latin typeface="Gabriola" panose="04040605051002020D02"/>
                <a:cs typeface="Gabriola" panose="04040605051002020D02"/>
              </a:rPr>
              <a:t> </a:t>
            </a:r>
            <a:r>
              <a:rPr sz="2800" dirty="0">
                <a:latin typeface="Gabriola" panose="04040605051002020D02"/>
                <a:cs typeface="Gabriola" panose="04040605051002020D02"/>
              </a:rPr>
              <a:t>to</a:t>
            </a:r>
            <a:r>
              <a:rPr sz="2800" spc="-70" dirty="0">
                <a:latin typeface="Gabriola" panose="04040605051002020D02"/>
                <a:cs typeface="Gabriola" panose="04040605051002020D02"/>
              </a:rPr>
              <a:t> </a:t>
            </a:r>
            <a:r>
              <a:rPr sz="2800" dirty="0">
                <a:latin typeface="Gabriola" panose="04040605051002020D02"/>
                <a:cs typeface="Gabriola" panose="04040605051002020D02"/>
              </a:rPr>
              <a:t>cause</a:t>
            </a:r>
            <a:r>
              <a:rPr sz="2800" spc="-50" dirty="0">
                <a:latin typeface="Gabriola" panose="04040605051002020D02"/>
                <a:cs typeface="Gabriola" panose="04040605051002020D02"/>
              </a:rPr>
              <a:t> </a:t>
            </a:r>
            <a:r>
              <a:rPr sz="2800" spc="-10" dirty="0">
                <a:latin typeface="Gabriola" panose="04040605051002020D02"/>
                <a:cs typeface="Gabriola" panose="04040605051002020D02"/>
              </a:rPr>
              <a:t>respiratory</a:t>
            </a:r>
            <a:r>
              <a:rPr sz="2800" spc="-40" dirty="0">
                <a:latin typeface="Gabriola" panose="04040605051002020D02"/>
                <a:cs typeface="Gabriola" panose="04040605051002020D02"/>
              </a:rPr>
              <a:t> </a:t>
            </a:r>
            <a:r>
              <a:rPr sz="2800" spc="-10" dirty="0">
                <a:latin typeface="Gabriola" panose="04040605051002020D02"/>
                <a:cs typeface="Gabriola" panose="04040605051002020D02"/>
              </a:rPr>
              <a:t>depression,</a:t>
            </a:r>
            <a:r>
              <a:rPr sz="2800" spc="-25" dirty="0">
                <a:latin typeface="Gabriola" panose="04040605051002020D02"/>
                <a:cs typeface="Gabriola" panose="04040605051002020D02"/>
              </a:rPr>
              <a:t> </a:t>
            </a:r>
            <a:r>
              <a:rPr sz="2800" dirty="0">
                <a:latin typeface="Gabriola" panose="04040605051002020D02"/>
                <a:cs typeface="Gabriola" panose="04040605051002020D02"/>
              </a:rPr>
              <a:t>an</a:t>
            </a:r>
            <a:r>
              <a:rPr sz="2800" spc="-60" dirty="0">
                <a:latin typeface="Gabriola" panose="04040605051002020D02"/>
                <a:cs typeface="Gabriola" panose="04040605051002020D02"/>
              </a:rPr>
              <a:t> </a:t>
            </a:r>
            <a:r>
              <a:rPr sz="2800" spc="-10" dirty="0">
                <a:latin typeface="Gabriola" panose="04040605051002020D02"/>
                <a:cs typeface="Gabriola" panose="04040605051002020D02"/>
              </a:rPr>
              <a:t>appropriate</a:t>
            </a:r>
            <a:r>
              <a:rPr sz="2800" spc="-50" dirty="0">
                <a:latin typeface="Gabriola" panose="04040605051002020D02"/>
                <a:cs typeface="Gabriola" panose="04040605051002020D02"/>
              </a:rPr>
              <a:t> </a:t>
            </a:r>
            <a:r>
              <a:rPr sz="2800" spc="-10" dirty="0">
                <a:latin typeface="Gabriola" panose="04040605051002020D02"/>
                <a:cs typeface="Gabriola" panose="04040605051002020D02"/>
              </a:rPr>
              <a:t>nursing </a:t>
            </a:r>
            <a:r>
              <a:rPr sz="2800" spc="-20" dirty="0">
                <a:latin typeface="Gabriola" panose="04040605051002020D02"/>
                <a:cs typeface="Gabriola" panose="04040605051002020D02"/>
              </a:rPr>
              <a:t>diagnosis</a:t>
            </a:r>
            <a:r>
              <a:rPr sz="2800" spc="-90" dirty="0">
                <a:latin typeface="Gabriola" panose="04040605051002020D02"/>
                <a:cs typeface="Gabriola" panose="04040605051002020D02"/>
              </a:rPr>
              <a:t> </a:t>
            </a:r>
            <a:r>
              <a:rPr sz="2800" spc="-10" dirty="0">
                <a:latin typeface="Gabriola" panose="04040605051002020D02"/>
                <a:cs typeface="Gabriola" panose="04040605051002020D02"/>
              </a:rPr>
              <a:t>would</a:t>
            </a:r>
            <a:r>
              <a:rPr sz="2800" spc="-90" dirty="0">
                <a:latin typeface="Gabriola" panose="04040605051002020D02"/>
                <a:cs typeface="Gabriola" panose="04040605051002020D02"/>
              </a:rPr>
              <a:t> </a:t>
            </a:r>
            <a:r>
              <a:rPr sz="2800" dirty="0">
                <a:latin typeface="Gabriola" panose="04040605051002020D02"/>
                <a:cs typeface="Gabriola" panose="04040605051002020D02"/>
              </a:rPr>
              <a:t>be</a:t>
            </a:r>
            <a:r>
              <a:rPr sz="2800" spc="-55" dirty="0">
                <a:latin typeface="Gabriola" panose="04040605051002020D02"/>
                <a:cs typeface="Gabriola" panose="04040605051002020D02"/>
              </a:rPr>
              <a:t> </a:t>
            </a:r>
            <a:r>
              <a:rPr sz="2800" spc="-20" dirty="0">
                <a:latin typeface="Gabriola" panose="04040605051002020D02"/>
                <a:cs typeface="Gabriola" panose="04040605051002020D02"/>
              </a:rPr>
              <a:t>impaired</a:t>
            </a:r>
            <a:r>
              <a:rPr sz="2800" spc="-105" dirty="0">
                <a:latin typeface="Gabriola" panose="04040605051002020D02"/>
                <a:cs typeface="Gabriola" panose="04040605051002020D02"/>
              </a:rPr>
              <a:t> </a:t>
            </a:r>
            <a:r>
              <a:rPr sz="2800" dirty="0">
                <a:latin typeface="Gabriola" panose="04040605051002020D02"/>
                <a:cs typeface="Gabriola" panose="04040605051002020D02"/>
              </a:rPr>
              <a:t>gas</a:t>
            </a:r>
            <a:r>
              <a:rPr sz="2800" spc="-70" dirty="0">
                <a:latin typeface="Gabriola" panose="04040605051002020D02"/>
                <a:cs typeface="Gabriola" panose="04040605051002020D02"/>
              </a:rPr>
              <a:t> </a:t>
            </a:r>
            <a:r>
              <a:rPr sz="2800" spc="-10" dirty="0">
                <a:latin typeface="Gabriola" panose="04040605051002020D02"/>
                <a:cs typeface="Gabriola" panose="04040605051002020D02"/>
              </a:rPr>
              <a:t>exchange</a:t>
            </a:r>
            <a:r>
              <a:rPr sz="2800" spc="-85" dirty="0">
                <a:latin typeface="Gabriola" panose="04040605051002020D02"/>
                <a:cs typeface="Gabriola" panose="04040605051002020D02"/>
              </a:rPr>
              <a:t> </a:t>
            </a:r>
            <a:r>
              <a:rPr sz="2800" dirty="0">
                <a:latin typeface="Gabriola" panose="04040605051002020D02"/>
                <a:cs typeface="Gabriola" panose="04040605051002020D02"/>
              </a:rPr>
              <a:t>related</a:t>
            </a:r>
            <a:r>
              <a:rPr sz="2800" spc="-90" dirty="0">
                <a:latin typeface="Gabriola" panose="04040605051002020D02"/>
                <a:cs typeface="Gabriola" panose="04040605051002020D02"/>
              </a:rPr>
              <a:t> </a:t>
            </a:r>
            <a:r>
              <a:rPr sz="2800" dirty="0">
                <a:latin typeface="Gabriola" panose="04040605051002020D02"/>
                <a:cs typeface="Gabriola" panose="04040605051002020D02"/>
              </a:rPr>
              <a:t>to</a:t>
            </a:r>
            <a:r>
              <a:rPr sz="2800" spc="-75" dirty="0">
                <a:latin typeface="Gabriola" panose="04040605051002020D02"/>
                <a:cs typeface="Gabriola" panose="04040605051002020D02"/>
              </a:rPr>
              <a:t> </a:t>
            </a:r>
            <a:r>
              <a:rPr sz="2800" spc="-10" dirty="0">
                <a:latin typeface="Gabriola" panose="04040605051002020D02"/>
                <a:cs typeface="Gabriola" panose="04040605051002020D02"/>
              </a:rPr>
              <a:t>drug</a:t>
            </a:r>
            <a:r>
              <a:rPr sz="2800" spc="-85" dirty="0">
                <a:latin typeface="Gabriola" panose="04040605051002020D02"/>
                <a:cs typeface="Gabriola" panose="04040605051002020D02"/>
              </a:rPr>
              <a:t> </a:t>
            </a:r>
            <a:r>
              <a:rPr sz="2800" spc="-10" dirty="0">
                <a:latin typeface="Gabriola" panose="04040605051002020D02"/>
                <a:cs typeface="Gabriola" panose="04040605051002020D02"/>
              </a:rPr>
              <a:t>therapy.</a:t>
            </a:r>
            <a:endParaRPr sz="2800">
              <a:latin typeface="Gabriola" panose="04040605051002020D02"/>
              <a:cs typeface="Gabriola" panose="04040605051002020D02"/>
            </a:endParaRPr>
          </a:p>
        </p:txBody>
      </p:sp>
      <p:grpSp>
        <p:nvGrpSpPr>
          <p:cNvPr id="8" name="object 8"/>
          <p:cNvGrpSpPr/>
          <p:nvPr/>
        </p:nvGrpSpPr>
        <p:grpSpPr>
          <a:xfrm>
            <a:off x="0" y="5145022"/>
            <a:ext cx="9149080" cy="1718310"/>
            <a:chOff x="0" y="5145022"/>
            <a:chExt cx="9149080" cy="1718310"/>
          </a:xfrm>
        </p:grpSpPr>
        <p:pic>
          <p:nvPicPr>
            <p:cNvPr id="9" name="object 9"/>
            <p:cNvPicPr/>
            <p:nvPr/>
          </p:nvPicPr>
          <p:blipFill>
            <a:blip r:embed="rId5" cstate="print"/>
            <a:stretch>
              <a:fillRect/>
            </a:stretch>
          </p:blipFill>
          <p:spPr>
            <a:xfrm>
              <a:off x="0" y="5210562"/>
              <a:ext cx="9144000" cy="1647435"/>
            </a:xfrm>
            <a:prstGeom prst="rect">
              <a:avLst/>
            </a:prstGeom>
          </p:spPr>
        </p:pic>
        <p:pic>
          <p:nvPicPr>
            <p:cNvPr id="10" name="object 10"/>
            <p:cNvPicPr/>
            <p:nvPr/>
          </p:nvPicPr>
          <p:blipFill>
            <a:blip r:embed="rId6" cstate="print"/>
            <a:stretch>
              <a:fillRect/>
            </a:stretch>
          </p:blipFill>
          <p:spPr>
            <a:xfrm>
              <a:off x="0" y="5145022"/>
              <a:ext cx="9144000" cy="1712976"/>
            </a:xfrm>
            <a:prstGeom prst="rect">
              <a:avLst/>
            </a:prstGeom>
          </p:spPr>
        </p:pic>
        <p:pic>
          <p:nvPicPr>
            <p:cNvPr id="11" name="object 11"/>
            <p:cNvPicPr/>
            <p:nvPr/>
          </p:nvPicPr>
          <p:blipFill>
            <a:blip r:embed="rId7" cstate="print"/>
            <a:stretch>
              <a:fillRect/>
            </a:stretch>
          </p:blipFill>
          <p:spPr>
            <a:xfrm>
              <a:off x="35496" y="5229237"/>
              <a:ext cx="9108503" cy="1628762"/>
            </a:xfrm>
            <a:prstGeom prst="rect">
              <a:avLst/>
            </a:prstGeom>
          </p:spPr>
        </p:pic>
        <p:sp>
          <p:nvSpPr>
            <p:cNvPr id="12" name="object 12"/>
            <p:cNvSpPr/>
            <p:nvPr/>
          </p:nvSpPr>
          <p:spPr>
            <a:xfrm>
              <a:off x="35496" y="5229237"/>
              <a:ext cx="9109075" cy="1628775"/>
            </a:xfrm>
            <a:custGeom>
              <a:avLst/>
              <a:gdLst/>
              <a:ahLst/>
              <a:cxnLst/>
              <a:rect l="l" t="t" r="r" b="b"/>
              <a:pathLst>
                <a:path w="9109075" h="1628775">
                  <a:moveTo>
                    <a:pt x="9108503" y="0"/>
                  </a:moveTo>
                  <a:lnTo>
                    <a:pt x="0" y="0"/>
                  </a:lnTo>
                  <a:lnTo>
                    <a:pt x="0" y="1628762"/>
                  </a:lnTo>
                </a:path>
              </a:pathLst>
            </a:custGeom>
            <a:ln w="9525">
              <a:solidFill>
                <a:srgbClr val="BD4A47"/>
              </a:solidFill>
            </a:ln>
          </p:spPr>
          <p:txBody>
            <a:bodyPr wrap="square" lIns="0" tIns="0" rIns="0" bIns="0" rtlCol="0"/>
            <a:lstStyle/>
            <a:p>
              <a:endParaRPr/>
            </a:p>
          </p:txBody>
        </p:sp>
      </p:grpSp>
      <p:sp>
        <p:nvSpPr>
          <p:cNvPr id="13" name="object 13"/>
          <p:cNvSpPr txBox="1"/>
          <p:nvPr/>
        </p:nvSpPr>
        <p:spPr>
          <a:xfrm>
            <a:off x="-29768" y="3794531"/>
            <a:ext cx="9222740" cy="2779395"/>
          </a:xfrm>
          <a:prstGeom prst="rect">
            <a:avLst/>
          </a:prstGeom>
        </p:spPr>
        <p:txBody>
          <a:bodyPr vert="horz" wrap="square" lIns="0" tIns="12065" rIns="0" bIns="0" rtlCol="0">
            <a:spAutoFit/>
          </a:bodyPr>
          <a:lstStyle/>
          <a:p>
            <a:pPr marL="355600" marR="516255" indent="-342900">
              <a:lnSpc>
                <a:spcPct val="120000"/>
              </a:lnSpc>
              <a:spcBef>
                <a:spcPts val="95"/>
              </a:spcBef>
              <a:buFont typeface="Microsoft Sans Serif" panose="020B0604020202020204"/>
              <a:buChar char="•"/>
              <a:tabLst>
                <a:tab pos="355600" algn="l"/>
                <a:tab pos="7269480" algn="l"/>
              </a:tabLst>
            </a:pPr>
            <a:r>
              <a:rPr sz="2500" b="1" dirty="0">
                <a:solidFill>
                  <a:srgbClr val="000099"/>
                </a:solidFill>
                <a:latin typeface="Times New Roman" panose="02020603050405020304"/>
                <a:cs typeface="Times New Roman" panose="02020603050405020304"/>
              </a:rPr>
              <a:t>Determining</a:t>
            </a:r>
            <a:r>
              <a:rPr sz="2500" b="1" spc="-40" dirty="0">
                <a:solidFill>
                  <a:srgbClr val="000099"/>
                </a:solidFill>
                <a:latin typeface="Times New Roman" panose="02020603050405020304"/>
                <a:cs typeface="Times New Roman" panose="02020603050405020304"/>
              </a:rPr>
              <a:t> </a:t>
            </a:r>
            <a:r>
              <a:rPr sz="2500" b="1" dirty="0">
                <a:solidFill>
                  <a:srgbClr val="000099"/>
                </a:solidFill>
                <a:latin typeface="Times New Roman" panose="02020603050405020304"/>
                <a:cs typeface="Times New Roman" panose="02020603050405020304"/>
              </a:rPr>
              <a:t>the</a:t>
            </a:r>
            <a:r>
              <a:rPr sz="2500" b="1" spc="-65" dirty="0">
                <a:solidFill>
                  <a:srgbClr val="000099"/>
                </a:solidFill>
                <a:latin typeface="Times New Roman" panose="02020603050405020304"/>
                <a:cs typeface="Times New Roman" panose="02020603050405020304"/>
              </a:rPr>
              <a:t> </a:t>
            </a:r>
            <a:r>
              <a:rPr sz="2500" b="1" dirty="0">
                <a:solidFill>
                  <a:srgbClr val="000099"/>
                </a:solidFill>
                <a:latin typeface="Times New Roman" panose="02020603050405020304"/>
                <a:cs typeface="Times New Roman" panose="02020603050405020304"/>
              </a:rPr>
              <a:t>patient's</a:t>
            </a:r>
            <a:r>
              <a:rPr sz="2500" b="1" spc="-65" dirty="0">
                <a:solidFill>
                  <a:srgbClr val="000099"/>
                </a:solidFill>
                <a:latin typeface="Times New Roman" panose="02020603050405020304"/>
                <a:cs typeface="Times New Roman" panose="02020603050405020304"/>
              </a:rPr>
              <a:t> </a:t>
            </a:r>
            <a:r>
              <a:rPr sz="2500" b="1" dirty="0">
                <a:solidFill>
                  <a:srgbClr val="000099"/>
                </a:solidFill>
                <a:latin typeface="Times New Roman" panose="02020603050405020304"/>
                <a:cs typeface="Times New Roman" panose="02020603050405020304"/>
              </a:rPr>
              <a:t>capacity</a:t>
            </a:r>
            <a:r>
              <a:rPr sz="2500" b="1" spc="-55" dirty="0">
                <a:solidFill>
                  <a:srgbClr val="000099"/>
                </a:solidFill>
                <a:latin typeface="Times New Roman" panose="02020603050405020304"/>
                <a:cs typeface="Times New Roman" panose="02020603050405020304"/>
              </a:rPr>
              <a:t> </a:t>
            </a:r>
            <a:r>
              <a:rPr sz="2500" b="1" dirty="0">
                <a:solidFill>
                  <a:srgbClr val="000099"/>
                </a:solidFill>
                <a:latin typeface="Times New Roman" panose="02020603050405020304"/>
                <a:cs typeface="Times New Roman" panose="02020603050405020304"/>
              </a:rPr>
              <a:t>for</a:t>
            </a:r>
            <a:r>
              <a:rPr sz="2500" b="1" spc="-114" dirty="0">
                <a:solidFill>
                  <a:srgbClr val="000099"/>
                </a:solidFill>
                <a:latin typeface="Times New Roman" panose="02020603050405020304"/>
                <a:cs typeface="Times New Roman" panose="02020603050405020304"/>
              </a:rPr>
              <a:t> </a:t>
            </a:r>
            <a:r>
              <a:rPr sz="2500" b="1" spc="-10" dirty="0">
                <a:solidFill>
                  <a:srgbClr val="000099"/>
                </a:solidFill>
                <a:latin typeface="Times New Roman" panose="02020603050405020304"/>
                <a:cs typeface="Times New Roman" panose="02020603050405020304"/>
              </a:rPr>
              <a:t>self-care</a:t>
            </a:r>
            <a:r>
              <a:rPr sz="2500" spc="-10" dirty="0">
                <a:solidFill>
                  <a:srgbClr val="000099"/>
                </a:solidFill>
                <a:latin typeface="Times New Roman" panose="02020603050405020304"/>
                <a:cs typeface="Times New Roman" panose="02020603050405020304"/>
              </a:rPr>
              <a:t>.</a:t>
            </a:r>
            <a:r>
              <a:rPr sz="2500" dirty="0">
                <a:solidFill>
                  <a:srgbClr val="000099"/>
                </a:solidFill>
                <a:latin typeface="Times New Roman" panose="02020603050405020304"/>
                <a:cs typeface="Times New Roman" panose="02020603050405020304"/>
              </a:rPr>
              <a:t>	</a:t>
            </a:r>
            <a:r>
              <a:rPr sz="2500" spc="-10" dirty="0">
                <a:latin typeface="Times New Roman" panose="02020603050405020304"/>
                <a:cs typeface="Times New Roman" panose="02020603050405020304"/>
              </a:rPr>
              <a:t>Analysis </a:t>
            </a:r>
            <a:r>
              <a:rPr sz="2500" dirty="0">
                <a:latin typeface="Times New Roman" panose="02020603050405020304"/>
                <a:cs typeface="Times New Roman" panose="02020603050405020304"/>
              </a:rPr>
              <a:t>must</a:t>
            </a:r>
            <a:r>
              <a:rPr sz="2500" spc="-30" dirty="0">
                <a:latin typeface="Times New Roman" panose="02020603050405020304"/>
                <a:cs typeface="Times New Roman" panose="02020603050405020304"/>
              </a:rPr>
              <a:t> </a:t>
            </a:r>
            <a:r>
              <a:rPr sz="2500" dirty="0">
                <a:latin typeface="Times New Roman" panose="02020603050405020304"/>
                <a:cs typeface="Times New Roman" panose="02020603050405020304"/>
              </a:rPr>
              <a:t>characterize</a:t>
            </a:r>
            <a:r>
              <a:rPr sz="2500" spc="-15" dirty="0">
                <a:latin typeface="Times New Roman" panose="02020603050405020304"/>
                <a:cs typeface="Times New Roman" panose="02020603050405020304"/>
              </a:rPr>
              <a:t> </a:t>
            </a:r>
            <a:r>
              <a:rPr sz="2500" dirty="0">
                <a:latin typeface="Times New Roman" panose="02020603050405020304"/>
                <a:cs typeface="Times New Roman" panose="02020603050405020304"/>
              </a:rPr>
              <a:t>the</a:t>
            </a:r>
            <a:r>
              <a:rPr sz="2500" spc="-55" dirty="0">
                <a:latin typeface="Times New Roman" panose="02020603050405020304"/>
                <a:cs typeface="Times New Roman" panose="02020603050405020304"/>
              </a:rPr>
              <a:t> </a:t>
            </a:r>
            <a:r>
              <a:rPr sz="2500" dirty="0">
                <a:latin typeface="Times New Roman" panose="02020603050405020304"/>
                <a:cs typeface="Times New Roman" panose="02020603050405020304"/>
              </a:rPr>
              <a:t>patient's</a:t>
            </a:r>
            <a:r>
              <a:rPr sz="2500" spc="-25" dirty="0">
                <a:latin typeface="Times New Roman" panose="02020603050405020304"/>
                <a:cs typeface="Times New Roman" panose="02020603050405020304"/>
              </a:rPr>
              <a:t> </a:t>
            </a:r>
            <a:r>
              <a:rPr sz="2500" dirty="0">
                <a:latin typeface="Times New Roman" panose="02020603050405020304"/>
                <a:cs typeface="Times New Roman" panose="02020603050405020304"/>
              </a:rPr>
              <a:t>capacity</a:t>
            </a:r>
            <a:r>
              <a:rPr sz="2500" spc="-20" dirty="0">
                <a:latin typeface="Times New Roman" panose="02020603050405020304"/>
                <a:cs typeface="Times New Roman" panose="02020603050405020304"/>
              </a:rPr>
              <a:t> </a:t>
            </a:r>
            <a:r>
              <a:rPr sz="2500" dirty="0">
                <a:latin typeface="Times New Roman" panose="02020603050405020304"/>
                <a:cs typeface="Times New Roman" panose="02020603050405020304"/>
              </a:rPr>
              <a:t>for</a:t>
            </a:r>
            <a:r>
              <a:rPr sz="2500" spc="-65" dirty="0">
                <a:latin typeface="Times New Roman" panose="02020603050405020304"/>
                <a:cs typeface="Times New Roman" panose="02020603050405020304"/>
              </a:rPr>
              <a:t> </a:t>
            </a:r>
            <a:r>
              <a:rPr sz="2500" spc="-10" dirty="0">
                <a:latin typeface="Times New Roman" panose="02020603050405020304"/>
                <a:cs typeface="Times New Roman" panose="02020603050405020304"/>
              </a:rPr>
              <a:t>self-</a:t>
            </a:r>
            <a:r>
              <a:rPr sz="2500" dirty="0">
                <a:latin typeface="Times New Roman" panose="02020603050405020304"/>
                <a:cs typeface="Times New Roman" panose="02020603050405020304"/>
              </a:rPr>
              <a:t>care</a:t>
            </a:r>
            <a:r>
              <a:rPr sz="2500" spc="-10" dirty="0">
                <a:latin typeface="Times New Roman" panose="02020603050405020304"/>
                <a:cs typeface="Times New Roman" panose="02020603050405020304"/>
              </a:rPr>
              <a:t> </a:t>
            </a:r>
            <a:r>
              <a:rPr sz="2500" dirty="0">
                <a:latin typeface="Times New Roman" panose="02020603050405020304"/>
                <a:cs typeface="Times New Roman" panose="02020603050405020304"/>
              </a:rPr>
              <a:t>and</a:t>
            </a:r>
            <a:r>
              <a:rPr sz="2500" spc="-60" dirty="0">
                <a:latin typeface="Times New Roman" panose="02020603050405020304"/>
                <a:cs typeface="Times New Roman" panose="02020603050405020304"/>
              </a:rPr>
              <a:t> </a:t>
            </a:r>
            <a:r>
              <a:rPr sz="2500" spc="-10" dirty="0">
                <a:latin typeface="Times New Roman" panose="02020603050405020304"/>
                <a:cs typeface="Times New Roman" panose="02020603050405020304"/>
              </a:rPr>
              <a:t>indicates </a:t>
            </a:r>
            <a:r>
              <a:rPr sz="2500" dirty="0">
                <a:latin typeface="Times New Roman" panose="02020603050405020304"/>
                <a:cs typeface="Times New Roman" panose="02020603050405020304"/>
              </a:rPr>
              <a:t>potential</a:t>
            </a:r>
            <a:r>
              <a:rPr sz="2500" spc="-70" dirty="0">
                <a:latin typeface="Times New Roman" panose="02020603050405020304"/>
                <a:cs typeface="Times New Roman" panose="02020603050405020304"/>
              </a:rPr>
              <a:t> </a:t>
            </a:r>
            <a:r>
              <a:rPr sz="2500" spc="-10" dirty="0">
                <a:latin typeface="Times New Roman" panose="02020603050405020304"/>
                <a:cs typeface="Times New Roman" panose="02020603050405020304"/>
              </a:rPr>
              <a:t>obstacles</a:t>
            </a:r>
            <a:endParaRPr sz="2500">
              <a:latin typeface="Times New Roman" panose="02020603050405020304"/>
              <a:cs typeface="Times New Roman" panose="02020603050405020304"/>
            </a:endParaRPr>
          </a:p>
          <a:p>
            <a:pPr marL="156845" marR="5080">
              <a:lnSpc>
                <a:spcPct val="100000"/>
              </a:lnSpc>
              <a:spcBef>
                <a:spcPts val="700"/>
              </a:spcBef>
            </a:pPr>
            <a:r>
              <a:rPr sz="2800" spc="-10" dirty="0">
                <a:latin typeface="Gabriola" panose="04040605051002020D02"/>
                <a:cs typeface="Gabriola" panose="04040605051002020D02"/>
              </a:rPr>
              <a:t>E.g.,</a:t>
            </a:r>
            <a:r>
              <a:rPr sz="2800" spc="-75" dirty="0">
                <a:latin typeface="Gabriola" panose="04040605051002020D02"/>
                <a:cs typeface="Gabriola" panose="04040605051002020D02"/>
              </a:rPr>
              <a:t> </a:t>
            </a:r>
            <a:r>
              <a:rPr sz="2800" spc="-10" dirty="0">
                <a:latin typeface="Gabriola" panose="04040605051002020D02"/>
                <a:cs typeface="Gabriola" panose="04040605051002020D02"/>
              </a:rPr>
              <a:t>visual</a:t>
            </a:r>
            <a:r>
              <a:rPr sz="2800" spc="-65" dirty="0">
                <a:latin typeface="Gabriola" panose="04040605051002020D02"/>
                <a:cs typeface="Gabriola" panose="04040605051002020D02"/>
              </a:rPr>
              <a:t> </a:t>
            </a:r>
            <a:r>
              <a:rPr sz="2800" spc="-25" dirty="0">
                <a:latin typeface="Gabriola" panose="04040605051002020D02"/>
                <a:cs typeface="Gabriola" panose="04040605051002020D02"/>
              </a:rPr>
              <a:t>impairment,</a:t>
            </a:r>
            <a:r>
              <a:rPr sz="2800" spc="-65" dirty="0">
                <a:latin typeface="Gabriola" panose="04040605051002020D02"/>
                <a:cs typeface="Gabriola" panose="04040605051002020D02"/>
              </a:rPr>
              <a:t> </a:t>
            </a:r>
            <a:r>
              <a:rPr sz="2800" spc="-20" dirty="0">
                <a:latin typeface="Gabriola" panose="04040605051002020D02"/>
                <a:cs typeface="Gabriola" panose="04040605051002020D02"/>
              </a:rPr>
              <a:t>reduced</a:t>
            </a:r>
            <a:r>
              <a:rPr sz="2800" spc="-80" dirty="0">
                <a:latin typeface="Gabriola" panose="04040605051002020D02"/>
                <a:cs typeface="Gabriola" panose="04040605051002020D02"/>
              </a:rPr>
              <a:t> </a:t>
            </a:r>
            <a:r>
              <a:rPr sz="2800" spc="-10" dirty="0">
                <a:latin typeface="Gabriola" panose="04040605051002020D02"/>
                <a:cs typeface="Gabriola" panose="04040605051002020D02"/>
              </a:rPr>
              <a:t>manual</a:t>
            </a:r>
            <a:r>
              <a:rPr sz="2800" spc="-55" dirty="0">
                <a:latin typeface="Gabriola" panose="04040605051002020D02"/>
                <a:cs typeface="Gabriola" panose="04040605051002020D02"/>
              </a:rPr>
              <a:t> </a:t>
            </a:r>
            <a:r>
              <a:rPr sz="2800" spc="-20" dirty="0">
                <a:latin typeface="Gabriola" panose="04040605051002020D02"/>
                <a:cs typeface="Gabriola" panose="04040605051002020D02"/>
              </a:rPr>
              <a:t>dexterity</a:t>
            </a:r>
            <a:r>
              <a:rPr sz="2800" spc="-65" dirty="0">
                <a:latin typeface="Gabriola" panose="04040605051002020D02"/>
                <a:cs typeface="Gabriola" panose="04040605051002020D02"/>
              </a:rPr>
              <a:t> </a:t>
            </a:r>
            <a:r>
              <a:rPr sz="2800" spc="-10" dirty="0">
                <a:latin typeface="Gabriola" panose="04040605051002020D02"/>
                <a:cs typeface="Gabriola" panose="04040605051002020D02"/>
              </a:rPr>
              <a:t>(skill),</a:t>
            </a:r>
            <a:r>
              <a:rPr sz="2800" spc="-65" dirty="0">
                <a:latin typeface="Gabriola" panose="04040605051002020D02"/>
                <a:cs typeface="Gabriola" panose="04040605051002020D02"/>
              </a:rPr>
              <a:t> </a:t>
            </a:r>
            <a:r>
              <a:rPr sz="2800" spc="-10" dirty="0">
                <a:latin typeface="Gabriola" panose="04040605051002020D02"/>
                <a:cs typeface="Gabriola" panose="04040605051002020D02"/>
              </a:rPr>
              <a:t>impair</a:t>
            </a:r>
            <a:r>
              <a:rPr sz="2800" spc="-60" dirty="0">
                <a:latin typeface="Gabriola" panose="04040605051002020D02"/>
                <a:cs typeface="Gabriola" panose="04040605051002020D02"/>
              </a:rPr>
              <a:t> </a:t>
            </a:r>
            <a:r>
              <a:rPr sz="2800" spc="-20" dirty="0">
                <a:latin typeface="Gabriola" panose="04040605051002020D02"/>
                <a:cs typeface="Gabriola" panose="04040605051002020D02"/>
              </a:rPr>
              <a:t>cognitive</a:t>
            </a:r>
            <a:r>
              <a:rPr sz="2800" spc="-75" dirty="0">
                <a:latin typeface="Gabriola" panose="04040605051002020D02"/>
                <a:cs typeface="Gabriola" panose="04040605051002020D02"/>
              </a:rPr>
              <a:t> </a:t>
            </a:r>
            <a:r>
              <a:rPr sz="2800" spc="-10" dirty="0">
                <a:latin typeface="Gabriola" panose="04040605051002020D02"/>
                <a:cs typeface="Gabriola" panose="04040605051002020D02"/>
              </a:rPr>
              <a:t>function, </a:t>
            </a:r>
            <a:r>
              <a:rPr sz="2800" spc="-20" dirty="0">
                <a:latin typeface="Gabriola" panose="04040605051002020D02"/>
                <a:cs typeface="Gabriola" panose="04040605051002020D02"/>
              </a:rPr>
              <a:t>insufficient</a:t>
            </a:r>
            <a:r>
              <a:rPr sz="2800" spc="-75" dirty="0">
                <a:latin typeface="Gabriola" panose="04040605051002020D02"/>
                <a:cs typeface="Gabriola" panose="04040605051002020D02"/>
              </a:rPr>
              <a:t> </a:t>
            </a:r>
            <a:r>
              <a:rPr sz="2800" spc="-25" dirty="0">
                <a:latin typeface="Gabriola" panose="04040605051002020D02"/>
                <a:cs typeface="Gabriola" panose="04040605051002020D02"/>
              </a:rPr>
              <a:t>understanding</a:t>
            </a:r>
            <a:r>
              <a:rPr sz="2800" spc="-70" dirty="0">
                <a:latin typeface="Gabriola" panose="04040605051002020D02"/>
                <a:cs typeface="Gabriola" panose="04040605051002020D02"/>
              </a:rPr>
              <a:t> </a:t>
            </a:r>
            <a:r>
              <a:rPr sz="2800" dirty="0">
                <a:latin typeface="Gabriola" panose="04040605051002020D02"/>
                <a:cs typeface="Gabriola" panose="04040605051002020D02"/>
              </a:rPr>
              <a:t>of</a:t>
            </a:r>
            <a:r>
              <a:rPr sz="2800" spc="-45" dirty="0">
                <a:latin typeface="Gabriola" panose="04040605051002020D02"/>
                <a:cs typeface="Gabriola" panose="04040605051002020D02"/>
              </a:rPr>
              <a:t> </a:t>
            </a:r>
            <a:r>
              <a:rPr sz="2800" dirty="0">
                <a:latin typeface="Gabriola" panose="04040605051002020D02"/>
                <a:cs typeface="Gabriola" panose="04040605051002020D02"/>
              </a:rPr>
              <a:t>the</a:t>
            </a:r>
            <a:r>
              <a:rPr sz="2800" spc="-80" dirty="0">
                <a:latin typeface="Gabriola" panose="04040605051002020D02"/>
                <a:cs typeface="Gabriola" panose="04040605051002020D02"/>
              </a:rPr>
              <a:t> </a:t>
            </a:r>
            <a:r>
              <a:rPr sz="2800" spc="-20" dirty="0">
                <a:latin typeface="Gabriola" panose="04040605051002020D02"/>
                <a:cs typeface="Gabriola" panose="04040605051002020D02"/>
              </a:rPr>
              <a:t>prescribed</a:t>
            </a:r>
            <a:r>
              <a:rPr sz="2800" spc="-70" dirty="0">
                <a:latin typeface="Gabriola" panose="04040605051002020D02"/>
                <a:cs typeface="Gabriola" panose="04040605051002020D02"/>
              </a:rPr>
              <a:t> </a:t>
            </a:r>
            <a:r>
              <a:rPr sz="2800" spc="-20" dirty="0">
                <a:latin typeface="Gabriola" panose="04040605051002020D02"/>
                <a:cs typeface="Gabriola" panose="04040605051002020D02"/>
              </a:rPr>
              <a:t>regimen,</a:t>
            </a:r>
            <a:r>
              <a:rPr sz="2800" spc="-70" dirty="0">
                <a:latin typeface="Gabriola" panose="04040605051002020D02"/>
                <a:cs typeface="Gabriola" panose="04040605051002020D02"/>
              </a:rPr>
              <a:t> </a:t>
            </a:r>
            <a:r>
              <a:rPr sz="2800" spc="-10" dirty="0">
                <a:latin typeface="Gabriola" panose="04040605051002020D02"/>
                <a:cs typeface="Gabriola" panose="04040605051002020D02"/>
              </a:rPr>
              <a:t>nearly</a:t>
            </a:r>
            <a:r>
              <a:rPr sz="2800" spc="-65" dirty="0">
                <a:latin typeface="Gabriola" panose="04040605051002020D02"/>
                <a:cs typeface="Gabriola" panose="04040605051002020D02"/>
              </a:rPr>
              <a:t> </a:t>
            </a:r>
            <a:r>
              <a:rPr sz="2800" dirty="0">
                <a:latin typeface="Gabriola" panose="04040605051002020D02"/>
                <a:cs typeface="Gabriola" panose="04040605051002020D02"/>
              </a:rPr>
              <a:t>all</a:t>
            </a:r>
            <a:r>
              <a:rPr sz="2800" spc="-55" dirty="0">
                <a:latin typeface="Gabriola" panose="04040605051002020D02"/>
                <a:cs typeface="Gabriola" panose="04040605051002020D02"/>
              </a:rPr>
              <a:t> </a:t>
            </a:r>
            <a:r>
              <a:rPr sz="2800" spc="-10" dirty="0">
                <a:latin typeface="Gabriola" panose="04040605051002020D02"/>
                <a:cs typeface="Gabriola" panose="04040605051002020D02"/>
              </a:rPr>
              <a:t>these</a:t>
            </a:r>
            <a:r>
              <a:rPr sz="2800" spc="-80" dirty="0">
                <a:latin typeface="Gabriola" panose="04040605051002020D02"/>
                <a:cs typeface="Gabriola" panose="04040605051002020D02"/>
              </a:rPr>
              <a:t> </a:t>
            </a:r>
            <a:r>
              <a:rPr sz="2800" spc="-20" dirty="0">
                <a:latin typeface="Gabriola" panose="04040605051002020D02"/>
                <a:cs typeface="Gabriola" panose="04040605051002020D02"/>
              </a:rPr>
              <a:t>patients</a:t>
            </a:r>
            <a:r>
              <a:rPr sz="2800" spc="-65" dirty="0">
                <a:latin typeface="Gabriola" panose="04040605051002020D02"/>
                <a:cs typeface="Gabriola" panose="04040605051002020D02"/>
              </a:rPr>
              <a:t> </a:t>
            </a:r>
            <a:r>
              <a:rPr sz="2800" dirty="0">
                <a:latin typeface="Gabriola" panose="04040605051002020D02"/>
                <a:cs typeface="Gabriola" panose="04040605051002020D02"/>
              </a:rPr>
              <a:t>will</a:t>
            </a:r>
            <a:r>
              <a:rPr sz="2800" spc="-55" dirty="0">
                <a:latin typeface="Gabriola" panose="04040605051002020D02"/>
                <a:cs typeface="Gabriola" panose="04040605051002020D02"/>
              </a:rPr>
              <a:t> </a:t>
            </a:r>
            <a:r>
              <a:rPr sz="2800" spc="-25" dirty="0">
                <a:latin typeface="Gabriola" panose="04040605051002020D02"/>
                <a:cs typeface="Gabriola" panose="04040605051002020D02"/>
              </a:rPr>
              <a:t>be </a:t>
            </a:r>
            <a:r>
              <a:rPr sz="2800" spc="-20" dirty="0">
                <a:latin typeface="Gabriola" panose="04040605051002020D02"/>
                <a:cs typeface="Gabriola" panose="04040605051002020D02"/>
              </a:rPr>
              <a:t>unfamiliar</a:t>
            </a:r>
            <a:r>
              <a:rPr sz="2800" spc="-55" dirty="0">
                <a:latin typeface="Gabriola" panose="04040605051002020D02"/>
                <a:cs typeface="Gabriola" panose="04040605051002020D02"/>
              </a:rPr>
              <a:t> </a:t>
            </a:r>
            <a:r>
              <a:rPr sz="2800" dirty="0">
                <a:latin typeface="Gabriola" panose="04040605051002020D02"/>
                <a:cs typeface="Gabriola" panose="04040605051002020D02"/>
              </a:rPr>
              <a:t>with</a:t>
            </a:r>
            <a:r>
              <a:rPr sz="2800" spc="-70" dirty="0">
                <a:latin typeface="Gabriola" panose="04040605051002020D02"/>
                <a:cs typeface="Gabriola" panose="04040605051002020D02"/>
              </a:rPr>
              <a:t> </a:t>
            </a:r>
            <a:r>
              <a:rPr sz="2800" spc="-25" dirty="0">
                <a:latin typeface="Gabriola" panose="04040605051002020D02"/>
                <a:cs typeface="Gabriola" panose="04040605051002020D02"/>
              </a:rPr>
              <a:t>self-administration</a:t>
            </a:r>
            <a:r>
              <a:rPr sz="2800" spc="-70" dirty="0">
                <a:latin typeface="Gabriola" panose="04040605051002020D02"/>
                <a:cs typeface="Gabriola" panose="04040605051002020D02"/>
              </a:rPr>
              <a:t> </a:t>
            </a:r>
            <a:r>
              <a:rPr sz="2800" dirty="0">
                <a:latin typeface="Gabriola" panose="04040605051002020D02"/>
                <a:cs typeface="Gabriola" panose="04040605051002020D02"/>
              </a:rPr>
              <a:t>of</a:t>
            </a:r>
            <a:r>
              <a:rPr sz="2800" spc="-35" dirty="0">
                <a:latin typeface="Gabriola" panose="04040605051002020D02"/>
                <a:cs typeface="Gabriola" panose="04040605051002020D02"/>
              </a:rPr>
              <a:t> </a:t>
            </a:r>
            <a:r>
              <a:rPr sz="2800" spc="-10" dirty="0">
                <a:latin typeface="Gabriola" panose="04040605051002020D02"/>
                <a:cs typeface="Gabriola" panose="04040605051002020D02"/>
              </a:rPr>
              <a:t>drugs.</a:t>
            </a:r>
            <a:r>
              <a:rPr sz="2800" spc="-50" dirty="0">
                <a:latin typeface="Gabriola" panose="04040605051002020D02"/>
                <a:cs typeface="Gabriola" panose="04040605051002020D02"/>
              </a:rPr>
              <a:t> </a:t>
            </a:r>
            <a:r>
              <a:rPr sz="2800" dirty="0">
                <a:latin typeface="Gabriola" panose="04040605051002020D02"/>
                <a:cs typeface="Gabriola" panose="04040605051002020D02"/>
              </a:rPr>
              <a:t>a</a:t>
            </a:r>
            <a:r>
              <a:rPr sz="2800" spc="-40" dirty="0">
                <a:latin typeface="Gabriola" panose="04040605051002020D02"/>
                <a:cs typeface="Gabriola" panose="04040605051002020D02"/>
              </a:rPr>
              <a:t> </a:t>
            </a:r>
            <a:r>
              <a:rPr sz="2800" spc="-10" dirty="0">
                <a:latin typeface="Gabriola" panose="04040605051002020D02"/>
                <a:cs typeface="Gabriola" panose="04040605051002020D02"/>
              </a:rPr>
              <a:t>nursing</a:t>
            </a:r>
            <a:r>
              <a:rPr sz="2800" spc="-65" dirty="0">
                <a:latin typeface="Gabriola" panose="04040605051002020D02"/>
                <a:cs typeface="Gabriola" panose="04040605051002020D02"/>
              </a:rPr>
              <a:t> </a:t>
            </a:r>
            <a:r>
              <a:rPr sz="2800" spc="-20" dirty="0">
                <a:latin typeface="Gabriola" panose="04040605051002020D02"/>
                <a:cs typeface="Gabriola" panose="04040605051002020D02"/>
              </a:rPr>
              <a:t>diagnosis</a:t>
            </a:r>
            <a:r>
              <a:rPr sz="2800" spc="-65" dirty="0">
                <a:latin typeface="Gabriola" panose="04040605051002020D02"/>
                <a:cs typeface="Gabriola" panose="04040605051002020D02"/>
              </a:rPr>
              <a:t> </a:t>
            </a:r>
            <a:r>
              <a:rPr sz="2800" spc="-20" dirty="0">
                <a:latin typeface="Gabriola" panose="04040605051002020D02"/>
                <a:cs typeface="Gabriola" panose="04040605051002020D02"/>
              </a:rPr>
              <a:t>applicable</a:t>
            </a:r>
            <a:r>
              <a:rPr sz="2800" spc="-55" dirty="0">
                <a:latin typeface="Gabriola" panose="04040605051002020D02"/>
                <a:cs typeface="Gabriola" panose="04040605051002020D02"/>
              </a:rPr>
              <a:t> </a:t>
            </a:r>
            <a:r>
              <a:rPr sz="2800" dirty="0">
                <a:latin typeface="Gabriola" panose="04040605051002020D02"/>
                <a:cs typeface="Gabriola" panose="04040605051002020D02"/>
              </a:rPr>
              <a:t>to</a:t>
            </a:r>
            <a:r>
              <a:rPr sz="2800" spc="-50" dirty="0">
                <a:latin typeface="Gabriola" panose="04040605051002020D02"/>
                <a:cs typeface="Gabriola" panose="04040605051002020D02"/>
              </a:rPr>
              <a:t> </a:t>
            </a:r>
            <a:r>
              <a:rPr sz="2800" spc="-20" dirty="0">
                <a:latin typeface="Gabriola" panose="04040605051002020D02"/>
                <a:cs typeface="Gabriola" panose="04040605051002020D02"/>
              </a:rPr>
              <a:t>almo</a:t>
            </a:r>
            <a:endParaRPr sz="2800">
              <a:latin typeface="Gabriola" panose="04040605051002020D02"/>
              <a:cs typeface="Gabriola" panose="04040605051002020D02"/>
            </a:endParaRPr>
          </a:p>
        </p:txBody>
      </p:sp>
      <p:sp>
        <p:nvSpPr>
          <p:cNvPr id="14" name="object 14"/>
          <p:cNvSpPr txBox="1"/>
          <p:nvPr/>
        </p:nvSpPr>
        <p:spPr>
          <a:xfrm>
            <a:off x="114401" y="6536232"/>
            <a:ext cx="6801484"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Gabriola" panose="04040605051002020D02"/>
                <a:cs typeface="Gabriola" panose="04040605051002020D02"/>
              </a:rPr>
              <a:t>every</a:t>
            </a:r>
            <a:r>
              <a:rPr sz="2800" spc="-75" dirty="0">
                <a:latin typeface="Gabriola" panose="04040605051002020D02"/>
                <a:cs typeface="Gabriola" panose="04040605051002020D02"/>
              </a:rPr>
              <a:t> </a:t>
            </a:r>
            <a:r>
              <a:rPr sz="2800" spc="-20" dirty="0">
                <a:latin typeface="Gabriola" panose="04040605051002020D02"/>
                <a:cs typeface="Gabriola" panose="04040605051002020D02"/>
              </a:rPr>
              <a:t>patient</a:t>
            </a:r>
            <a:r>
              <a:rPr sz="2800" spc="-75" dirty="0">
                <a:latin typeface="Gabriola" panose="04040605051002020D02"/>
                <a:cs typeface="Gabriola" panose="04040605051002020D02"/>
              </a:rPr>
              <a:t> </a:t>
            </a:r>
            <a:r>
              <a:rPr sz="2800" dirty="0">
                <a:latin typeface="Gabriola" panose="04040605051002020D02"/>
                <a:cs typeface="Gabriola" panose="04040605051002020D02"/>
              </a:rPr>
              <a:t>is</a:t>
            </a:r>
            <a:r>
              <a:rPr sz="2800" spc="-50" dirty="0">
                <a:latin typeface="Gabriola" panose="04040605051002020D02"/>
                <a:cs typeface="Gabriola" panose="04040605051002020D02"/>
              </a:rPr>
              <a:t> </a:t>
            </a:r>
            <a:r>
              <a:rPr sz="2800" spc="-25" dirty="0">
                <a:latin typeface="Gabriola" panose="04040605051002020D02"/>
                <a:cs typeface="Gabriola" panose="04040605051002020D02"/>
              </a:rPr>
              <a:t>“knowledge</a:t>
            </a:r>
            <a:r>
              <a:rPr sz="2800" spc="-65" dirty="0">
                <a:latin typeface="Gabriola" panose="04040605051002020D02"/>
                <a:cs typeface="Gabriola" panose="04040605051002020D02"/>
              </a:rPr>
              <a:t> </a:t>
            </a:r>
            <a:r>
              <a:rPr sz="2800" spc="-10" dirty="0">
                <a:latin typeface="Gabriola" panose="04040605051002020D02"/>
                <a:cs typeface="Gabriola" panose="04040605051002020D02"/>
              </a:rPr>
              <a:t>deficit</a:t>
            </a:r>
            <a:r>
              <a:rPr sz="2800" spc="-75" dirty="0">
                <a:latin typeface="Gabriola" panose="04040605051002020D02"/>
                <a:cs typeface="Gabriola" panose="04040605051002020D02"/>
              </a:rPr>
              <a:t> </a:t>
            </a:r>
            <a:r>
              <a:rPr sz="2800" spc="-10" dirty="0">
                <a:latin typeface="Gabriola" panose="04040605051002020D02"/>
                <a:cs typeface="Gabriola" panose="04040605051002020D02"/>
              </a:rPr>
              <a:t>related</a:t>
            </a:r>
            <a:r>
              <a:rPr sz="2800" spc="-80" dirty="0">
                <a:latin typeface="Gabriola" panose="04040605051002020D02"/>
                <a:cs typeface="Gabriola" panose="04040605051002020D02"/>
              </a:rPr>
              <a:t> </a:t>
            </a:r>
            <a:r>
              <a:rPr sz="2800" dirty="0">
                <a:latin typeface="Gabriola" panose="04040605051002020D02"/>
                <a:cs typeface="Gabriola" panose="04040605051002020D02"/>
              </a:rPr>
              <a:t>to</a:t>
            </a:r>
            <a:r>
              <a:rPr sz="2800" spc="-60" dirty="0">
                <a:latin typeface="Gabriola" panose="04040605051002020D02"/>
                <a:cs typeface="Gabriola" panose="04040605051002020D02"/>
              </a:rPr>
              <a:t> </a:t>
            </a:r>
            <a:r>
              <a:rPr sz="2800" dirty="0">
                <a:latin typeface="Gabriola" panose="04040605051002020D02"/>
                <a:cs typeface="Gabriola" panose="04040605051002020D02"/>
              </a:rPr>
              <a:t>the</a:t>
            </a:r>
            <a:r>
              <a:rPr sz="2800" spc="-85" dirty="0">
                <a:latin typeface="Gabriola" panose="04040605051002020D02"/>
                <a:cs typeface="Gabriola" panose="04040605051002020D02"/>
              </a:rPr>
              <a:t> </a:t>
            </a:r>
            <a:r>
              <a:rPr sz="2800" spc="-10" dirty="0">
                <a:latin typeface="Gabriola" panose="04040605051002020D02"/>
                <a:cs typeface="Gabriola" panose="04040605051002020D02"/>
              </a:rPr>
              <a:t>drug</a:t>
            </a:r>
            <a:r>
              <a:rPr sz="2800" spc="-75" dirty="0">
                <a:latin typeface="Gabriola" panose="04040605051002020D02"/>
                <a:cs typeface="Gabriola" panose="04040605051002020D02"/>
              </a:rPr>
              <a:t> </a:t>
            </a:r>
            <a:r>
              <a:rPr sz="2800" spc="-10" dirty="0">
                <a:latin typeface="Gabriola" panose="04040605051002020D02"/>
                <a:cs typeface="Gabriola" panose="04040605051002020D02"/>
              </a:rPr>
              <a:t>regimen.”</a:t>
            </a:r>
            <a:endParaRPr sz="2800">
              <a:latin typeface="Gabriola" panose="04040605051002020D02"/>
              <a:cs typeface="Gabriola" panose="04040605051002020D0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6603"/>
            <a:ext cx="8833485" cy="6120765"/>
          </a:xfrm>
          <a:prstGeom prst="rect">
            <a:avLst/>
          </a:prstGeom>
        </p:spPr>
        <p:txBody>
          <a:bodyPr vert="horz" wrap="square" lIns="0" tIns="12065" rIns="0" bIns="0" rtlCol="0">
            <a:spAutoFit/>
          </a:bodyPr>
          <a:lstStyle/>
          <a:p>
            <a:pPr marL="12700" marR="340360">
              <a:lnSpc>
                <a:spcPct val="100000"/>
              </a:lnSpc>
              <a:spcBef>
                <a:spcPts val="95"/>
              </a:spcBef>
            </a:pPr>
            <a:r>
              <a:rPr sz="2800" spc="-20" dirty="0">
                <a:latin typeface="Times New Roman" panose="02020603050405020304"/>
                <a:cs typeface="Times New Roman" panose="02020603050405020304"/>
              </a:rPr>
              <a:t>North</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American</a:t>
            </a:r>
            <a:r>
              <a:rPr sz="2800" spc="-90"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Diagnosis</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Association</a:t>
            </a:r>
            <a:r>
              <a:rPr sz="2800" spc="-6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(NANDA</a:t>
            </a:r>
            <a:r>
              <a:rPr sz="2800" spc="-12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has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approved</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list</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diagnostic</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categories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be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used</a:t>
            </a:r>
            <a:r>
              <a:rPr sz="2800" spc="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in </a:t>
            </a:r>
            <a:r>
              <a:rPr sz="2800" dirty="0">
                <a:latin typeface="Times New Roman" panose="02020603050405020304"/>
                <a:cs typeface="Times New Roman" panose="02020603050405020304"/>
              </a:rPr>
              <a:t>formulating</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7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diagnosis.</a:t>
            </a:r>
            <a:endParaRPr sz="2800">
              <a:latin typeface="Times New Roman" panose="02020603050405020304"/>
              <a:cs typeface="Times New Roman" panose="02020603050405020304"/>
            </a:endParaRPr>
          </a:p>
          <a:p>
            <a:pPr marL="12700" marR="5080">
              <a:lnSpc>
                <a:spcPct val="120000"/>
              </a:lnSpc>
              <a:spcBef>
                <a:spcPts val="1320"/>
              </a:spcBef>
            </a:pPr>
            <a:r>
              <a:rPr sz="2800" dirty="0">
                <a:solidFill>
                  <a:srgbClr val="D50092"/>
                </a:solidFill>
                <a:latin typeface="Times New Roman" panose="02020603050405020304"/>
                <a:cs typeface="Times New Roman" panose="02020603050405020304"/>
              </a:rPr>
              <a:t>The</a:t>
            </a:r>
            <a:r>
              <a:rPr sz="2800" spc="-40"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most</a:t>
            </a:r>
            <a:r>
              <a:rPr sz="2800" spc="-50"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frequently</a:t>
            </a:r>
            <a:r>
              <a:rPr sz="2800" spc="-65"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used</a:t>
            </a:r>
            <a:r>
              <a:rPr sz="2800" spc="-45" dirty="0">
                <a:solidFill>
                  <a:srgbClr val="D50092"/>
                </a:solidFill>
                <a:latin typeface="Times New Roman" panose="02020603050405020304"/>
                <a:cs typeface="Times New Roman" panose="02020603050405020304"/>
              </a:rPr>
              <a:t> </a:t>
            </a:r>
            <a:r>
              <a:rPr sz="2800" b="1" dirty="0">
                <a:solidFill>
                  <a:srgbClr val="D50092"/>
                </a:solidFill>
                <a:latin typeface="Arial" panose="020B0604020202020204"/>
                <a:cs typeface="Arial" panose="020B0604020202020204"/>
              </a:rPr>
              <a:t>Nursing</a:t>
            </a:r>
            <a:r>
              <a:rPr sz="2800" b="1" spc="-35" dirty="0">
                <a:solidFill>
                  <a:srgbClr val="D50092"/>
                </a:solidFill>
                <a:latin typeface="Arial" panose="020B0604020202020204"/>
                <a:cs typeface="Arial" panose="020B0604020202020204"/>
              </a:rPr>
              <a:t> </a:t>
            </a:r>
            <a:r>
              <a:rPr sz="2800" b="1" dirty="0">
                <a:solidFill>
                  <a:srgbClr val="D50092"/>
                </a:solidFill>
                <a:latin typeface="Arial" panose="020B0604020202020204"/>
                <a:cs typeface="Arial" panose="020B0604020202020204"/>
              </a:rPr>
              <a:t>Diagnosis </a:t>
            </a:r>
            <a:r>
              <a:rPr sz="2800" dirty="0">
                <a:solidFill>
                  <a:srgbClr val="D50092"/>
                </a:solidFill>
                <a:latin typeface="Times New Roman" panose="02020603050405020304"/>
                <a:cs typeface="Times New Roman" panose="02020603050405020304"/>
              </a:rPr>
              <a:t>related</a:t>
            </a:r>
            <a:r>
              <a:rPr sz="2800" spc="-60"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to</a:t>
            </a:r>
            <a:r>
              <a:rPr sz="2800" spc="-45" dirty="0">
                <a:solidFill>
                  <a:srgbClr val="D50092"/>
                </a:solidFill>
                <a:latin typeface="Times New Roman" panose="02020603050405020304"/>
                <a:cs typeface="Times New Roman" panose="02020603050405020304"/>
              </a:rPr>
              <a:t> </a:t>
            </a:r>
            <a:r>
              <a:rPr sz="2800" spc="-25" dirty="0">
                <a:solidFill>
                  <a:srgbClr val="D50092"/>
                </a:solidFill>
                <a:latin typeface="Times New Roman" panose="02020603050405020304"/>
                <a:cs typeface="Times New Roman" panose="02020603050405020304"/>
              </a:rPr>
              <a:t>the </a:t>
            </a:r>
            <a:r>
              <a:rPr sz="2800" dirty="0">
                <a:solidFill>
                  <a:srgbClr val="D50092"/>
                </a:solidFill>
                <a:latin typeface="Times New Roman" panose="02020603050405020304"/>
                <a:cs typeface="Times New Roman" panose="02020603050405020304"/>
              </a:rPr>
              <a:t>administration</a:t>
            </a:r>
            <a:r>
              <a:rPr sz="2800" spc="-80"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of</a:t>
            </a:r>
            <a:r>
              <a:rPr sz="2800" spc="-35"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drugs</a:t>
            </a:r>
            <a:r>
              <a:rPr sz="2800" spc="-70"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developed</a:t>
            </a:r>
            <a:r>
              <a:rPr sz="2800" spc="-65"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by</a:t>
            </a:r>
            <a:r>
              <a:rPr sz="2800" spc="-50" dirty="0">
                <a:solidFill>
                  <a:srgbClr val="D50092"/>
                </a:solidFill>
                <a:latin typeface="Times New Roman" panose="02020603050405020304"/>
                <a:cs typeface="Times New Roman" panose="02020603050405020304"/>
              </a:rPr>
              <a:t> </a:t>
            </a:r>
            <a:r>
              <a:rPr sz="2800" dirty="0">
                <a:solidFill>
                  <a:srgbClr val="D50092"/>
                </a:solidFill>
                <a:latin typeface="Times New Roman" panose="02020603050405020304"/>
                <a:cs typeface="Times New Roman" panose="02020603050405020304"/>
              </a:rPr>
              <a:t>NANDA,</a:t>
            </a:r>
            <a:r>
              <a:rPr sz="2800" spc="-20" dirty="0">
                <a:solidFill>
                  <a:srgbClr val="D50092"/>
                </a:solidFill>
                <a:latin typeface="Times New Roman" panose="02020603050405020304"/>
                <a:cs typeface="Times New Roman" panose="02020603050405020304"/>
              </a:rPr>
              <a:t> </a:t>
            </a:r>
            <a:r>
              <a:rPr sz="2800" spc="-10" dirty="0">
                <a:solidFill>
                  <a:srgbClr val="D50092"/>
                </a:solidFill>
                <a:latin typeface="Times New Roman" panose="02020603050405020304"/>
                <a:cs typeface="Times New Roman" panose="02020603050405020304"/>
              </a:rPr>
              <a:t>include:</a:t>
            </a:r>
            <a:endParaRPr sz="2800">
              <a:latin typeface="Times New Roman" panose="02020603050405020304"/>
              <a:cs typeface="Times New Roman" panose="02020603050405020304"/>
            </a:endParaRPr>
          </a:p>
          <a:p>
            <a:pPr marL="354965" indent="-342265">
              <a:lnSpc>
                <a:spcPct val="100000"/>
              </a:lnSpc>
              <a:spcBef>
                <a:spcPts val="2350"/>
              </a:spcBef>
              <a:buFont typeface="Microsoft Sans Serif" panose="020B0604020202020204"/>
              <a:buChar char="•"/>
              <a:tabLst>
                <a:tab pos="354965" algn="l"/>
              </a:tabLst>
            </a:pPr>
            <a:r>
              <a:rPr sz="2800" dirty="0">
                <a:solidFill>
                  <a:srgbClr val="000099"/>
                </a:solidFill>
                <a:latin typeface="Times New Roman" panose="02020603050405020304"/>
                <a:cs typeface="Times New Roman" panose="02020603050405020304"/>
              </a:rPr>
              <a:t>Effective</a:t>
            </a:r>
            <a:r>
              <a:rPr sz="2800" spc="-10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Therapeutic</a:t>
            </a:r>
            <a:r>
              <a:rPr sz="2800" spc="-5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Regimen</a:t>
            </a:r>
            <a:r>
              <a:rPr sz="2800" spc="-35" dirty="0">
                <a:solidFill>
                  <a:srgbClr val="000099"/>
                </a:solidFill>
                <a:latin typeface="Times New Roman" panose="02020603050405020304"/>
                <a:cs typeface="Times New Roman" panose="02020603050405020304"/>
              </a:rPr>
              <a:t> </a:t>
            </a:r>
            <a:r>
              <a:rPr sz="2800" spc="-10" dirty="0">
                <a:solidFill>
                  <a:srgbClr val="000099"/>
                </a:solidFill>
                <a:latin typeface="Times New Roman" panose="02020603050405020304"/>
                <a:cs typeface="Times New Roman" panose="02020603050405020304"/>
              </a:rPr>
              <a:t>Management</a:t>
            </a:r>
            <a:endParaRPr sz="2800">
              <a:latin typeface="Times New Roman" panose="02020603050405020304"/>
              <a:cs typeface="Times New Roman" panose="02020603050405020304"/>
            </a:endParaRPr>
          </a:p>
          <a:p>
            <a:pPr marL="354965" indent="-342265">
              <a:lnSpc>
                <a:spcPct val="100000"/>
              </a:lnSpc>
              <a:spcBef>
                <a:spcPts val="2340"/>
              </a:spcBef>
              <a:buFont typeface="Microsoft Sans Serif" panose="020B0604020202020204"/>
              <a:buChar char="•"/>
              <a:tabLst>
                <a:tab pos="354965" algn="l"/>
              </a:tabLst>
            </a:pPr>
            <a:r>
              <a:rPr sz="2800" dirty="0">
                <a:solidFill>
                  <a:srgbClr val="000099"/>
                </a:solidFill>
                <a:latin typeface="Times New Roman" panose="02020603050405020304"/>
                <a:cs typeface="Times New Roman" panose="02020603050405020304"/>
              </a:rPr>
              <a:t>Ineffective</a:t>
            </a:r>
            <a:r>
              <a:rPr sz="2800" spc="-11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Therapeutic</a:t>
            </a:r>
            <a:r>
              <a:rPr sz="2800" spc="-6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Regimen</a:t>
            </a:r>
            <a:r>
              <a:rPr sz="2800" spc="-55" dirty="0">
                <a:solidFill>
                  <a:srgbClr val="000099"/>
                </a:solidFill>
                <a:latin typeface="Times New Roman" panose="02020603050405020304"/>
                <a:cs typeface="Times New Roman" panose="02020603050405020304"/>
              </a:rPr>
              <a:t> </a:t>
            </a:r>
            <a:r>
              <a:rPr sz="2800" spc="-10" dirty="0">
                <a:solidFill>
                  <a:srgbClr val="000099"/>
                </a:solidFill>
                <a:latin typeface="Times New Roman" panose="02020603050405020304"/>
                <a:cs typeface="Times New Roman" panose="02020603050405020304"/>
              </a:rPr>
              <a:t>Management</a:t>
            </a:r>
            <a:endParaRPr sz="2800">
              <a:latin typeface="Times New Roman" panose="02020603050405020304"/>
              <a:cs typeface="Times New Roman" panose="02020603050405020304"/>
            </a:endParaRPr>
          </a:p>
          <a:p>
            <a:pPr marL="354965" indent="-342265">
              <a:lnSpc>
                <a:spcPct val="100000"/>
              </a:lnSpc>
              <a:spcBef>
                <a:spcPts val="2340"/>
              </a:spcBef>
              <a:buFont typeface="Microsoft Sans Serif" panose="020B0604020202020204"/>
              <a:buChar char="•"/>
              <a:tabLst>
                <a:tab pos="354965" algn="l"/>
              </a:tabLst>
            </a:pPr>
            <a:r>
              <a:rPr sz="2800" dirty="0">
                <a:solidFill>
                  <a:srgbClr val="000099"/>
                </a:solidFill>
                <a:latin typeface="Times New Roman" panose="02020603050405020304"/>
                <a:cs typeface="Times New Roman" panose="02020603050405020304"/>
              </a:rPr>
              <a:t>Deficient</a:t>
            </a:r>
            <a:r>
              <a:rPr sz="2800" spc="-40" dirty="0">
                <a:solidFill>
                  <a:srgbClr val="000099"/>
                </a:solidFill>
                <a:latin typeface="Times New Roman" panose="02020603050405020304"/>
                <a:cs typeface="Times New Roman" panose="02020603050405020304"/>
              </a:rPr>
              <a:t> </a:t>
            </a:r>
            <a:r>
              <a:rPr sz="2800" spc="-10" dirty="0">
                <a:solidFill>
                  <a:srgbClr val="000099"/>
                </a:solidFill>
                <a:latin typeface="Times New Roman" panose="02020603050405020304"/>
                <a:cs typeface="Times New Roman" panose="02020603050405020304"/>
              </a:rPr>
              <a:t>Knowledge</a:t>
            </a:r>
            <a:endParaRPr sz="2800">
              <a:latin typeface="Times New Roman" panose="02020603050405020304"/>
              <a:cs typeface="Times New Roman" panose="02020603050405020304"/>
            </a:endParaRPr>
          </a:p>
          <a:p>
            <a:pPr marL="354965" indent="-342265">
              <a:lnSpc>
                <a:spcPct val="100000"/>
              </a:lnSpc>
              <a:spcBef>
                <a:spcPts val="2355"/>
              </a:spcBef>
              <a:buFont typeface="Microsoft Sans Serif" panose="020B0604020202020204"/>
              <a:buChar char="•"/>
              <a:tabLst>
                <a:tab pos="354965" algn="l"/>
              </a:tabLst>
            </a:pPr>
            <a:r>
              <a:rPr sz="2800" spc="-10" dirty="0">
                <a:solidFill>
                  <a:srgbClr val="000099"/>
                </a:solidFill>
                <a:latin typeface="Times New Roman" panose="02020603050405020304"/>
                <a:cs typeface="Times New Roman" panose="02020603050405020304"/>
              </a:rPr>
              <a:t>Noncompliance</a:t>
            </a:r>
            <a:endParaRPr sz="2800">
              <a:latin typeface="Times New Roman" panose="02020603050405020304"/>
              <a:cs typeface="Times New Roman" panose="02020603050405020304"/>
            </a:endParaRPr>
          </a:p>
          <a:p>
            <a:pPr marL="354965" indent="-342265">
              <a:lnSpc>
                <a:spcPct val="100000"/>
              </a:lnSpc>
              <a:spcBef>
                <a:spcPts val="2340"/>
              </a:spcBef>
              <a:buFont typeface="Microsoft Sans Serif" panose="020B0604020202020204"/>
              <a:buChar char="•"/>
              <a:tabLst>
                <a:tab pos="354965" algn="l"/>
              </a:tabLst>
            </a:pPr>
            <a:r>
              <a:rPr sz="2800" spc="-10" dirty="0">
                <a:solidFill>
                  <a:srgbClr val="000099"/>
                </a:solidFill>
                <a:latin typeface="Times New Roman" panose="02020603050405020304"/>
                <a:cs typeface="Times New Roman" panose="02020603050405020304"/>
              </a:rPr>
              <a:t>Anxiety</a:t>
            </a:r>
            <a:endParaRPr sz="2800">
              <a:latin typeface="Times New Roman" panose="02020603050405020304"/>
              <a:cs typeface="Times New Roman" panose="02020603050405020304"/>
            </a:endParaRPr>
          </a:p>
        </p:txBody>
      </p:sp>
      <p:grpSp>
        <p:nvGrpSpPr>
          <p:cNvPr id="3" name="object 3"/>
          <p:cNvGrpSpPr/>
          <p:nvPr/>
        </p:nvGrpSpPr>
        <p:grpSpPr>
          <a:xfrm>
            <a:off x="2778251" y="3939540"/>
            <a:ext cx="6370955" cy="2689860"/>
            <a:chOff x="2778251" y="3939540"/>
            <a:chExt cx="6370955" cy="2689860"/>
          </a:xfrm>
        </p:grpSpPr>
        <p:pic>
          <p:nvPicPr>
            <p:cNvPr id="4" name="object 4"/>
            <p:cNvPicPr/>
            <p:nvPr/>
          </p:nvPicPr>
          <p:blipFill>
            <a:blip r:embed="rId2" cstate="print"/>
            <a:stretch>
              <a:fillRect/>
            </a:stretch>
          </p:blipFill>
          <p:spPr>
            <a:xfrm>
              <a:off x="2901695" y="3968496"/>
              <a:ext cx="6242304" cy="2485644"/>
            </a:xfrm>
            <a:prstGeom prst="rect">
              <a:avLst/>
            </a:prstGeom>
          </p:spPr>
        </p:pic>
        <p:pic>
          <p:nvPicPr>
            <p:cNvPr id="5" name="object 5"/>
            <p:cNvPicPr/>
            <p:nvPr/>
          </p:nvPicPr>
          <p:blipFill>
            <a:blip r:embed="rId3" cstate="print"/>
            <a:stretch>
              <a:fillRect/>
            </a:stretch>
          </p:blipFill>
          <p:spPr>
            <a:xfrm>
              <a:off x="2778251" y="3939540"/>
              <a:ext cx="6365748" cy="2689860"/>
            </a:xfrm>
            <a:prstGeom prst="rect">
              <a:avLst/>
            </a:prstGeom>
          </p:spPr>
        </p:pic>
        <p:pic>
          <p:nvPicPr>
            <p:cNvPr id="6" name="object 6"/>
            <p:cNvPicPr/>
            <p:nvPr/>
          </p:nvPicPr>
          <p:blipFill>
            <a:blip r:embed="rId4" cstate="print"/>
            <a:stretch>
              <a:fillRect/>
            </a:stretch>
          </p:blipFill>
          <p:spPr>
            <a:xfrm>
              <a:off x="2949320" y="3996309"/>
              <a:ext cx="6194679" cy="2389835"/>
            </a:xfrm>
            <a:prstGeom prst="rect">
              <a:avLst/>
            </a:prstGeom>
          </p:spPr>
        </p:pic>
        <p:sp>
          <p:nvSpPr>
            <p:cNvPr id="7" name="object 7"/>
            <p:cNvSpPr/>
            <p:nvPr/>
          </p:nvSpPr>
          <p:spPr>
            <a:xfrm>
              <a:off x="2949320" y="3996309"/>
              <a:ext cx="6195060" cy="2390140"/>
            </a:xfrm>
            <a:custGeom>
              <a:avLst/>
              <a:gdLst/>
              <a:ahLst/>
              <a:cxnLst/>
              <a:rect l="l" t="t" r="r" b="b"/>
              <a:pathLst>
                <a:path w="6195059" h="2390140">
                  <a:moveTo>
                    <a:pt x="6194679" y="1054969"/>
                  </a:moveTo>
                  <a:lnTo>
                    <a:pt x="226949" y="2389835"/>
                  </a:lnTo>
                  <a:lnTo>
                    <a:pt x="0" y="1375156"/>
                  </a:lnTo>
                  <a:lnTo>
                    <a:pt x="6148197" y="0"/>
                  </a:lnTo>
                  <a:lnTo>
                    <a:pt x="6194679" y="207803"/>
                  </a:lnTo>
                </a:path>
              </a:pathLst>
            </a:custGeom>
            <a:ln w="9525">
              <a:solidFill>
                <a:srgbClr val="97B853"/>
              </a:solidFill>
            </a:ln>
          </p:spPr>
          <p:txBody>
            <a:bodyPr wrap="square" lIns="0" tIns="0" rIns="0" bIns="0" rtlCol="0"/>
            <a:lstStyle/>
            <a:p>
              <a:endParaRPr/>
            </a:p>
          </p:txBody>
        </p:sp>
        <p:pic>
          <p:nvPicPr>
            <p:cNvPr id="8" name="object 8"/>
            <p:cNvPicPr/>
            <p:nvPr/>
          </p:nvPicPr>
          <p:blipFill>
            <a:blip r:embed="rId5" cstate="print"/>
            <a:stretch>
              <a:fillRect/>
            </a:stretch>
          </p:blipFill>
          <p:spPr>
            <a:xfrm>
              <a:off x="7013219" y="4501642"/>
              <a:ext cx="987399" cy="386460"/>
            </a:xfrm>
            <a:prstGeom prst="rect">
              <a:avLst/>
            </a:prstGeom>
          </p:spPr>
        </p:pic>
        <p:pic>
          <p:nvPicPr>
            <p:cNvPr id="9" name="object 9"/>
            <p:cNvPicPr/>
            <p:nvPr/>
          </p:nvPicPr>
          <p:blipFill>
            <a:blip r:embed="rId6" cstate="print"/>
            <a:stretch>
              <a:fillRect/>
            </a:stretch>
          </p:blipFill>
          <p:spPr>
            <a:xfrm>
              <a:off x="8047989" y="4237355"/>
              <a:ext cx="859916" cy="411099"/>
            </a:xfrm>
            <a:prstGeom prst="rect">
              <a:avLst/>
            </a:prstGeom>
          </p:spPr>
        </p:pic>
        <p:pic>
          <p:nvPicPr>
            <p:cNvPr id="10" name="object 10"/>
            <p:cNvPicPr/>
            <p:nvPr/>
          </p:nvPicPr>
          <p:blipFill>
            <a:blip r:embed="rId7" cstate="print"/>
            <a:stretch>
              <a:fillRect/>
            </a:stretch>
          </p:blipFill>
          <p:spPr>
            <a:xfrm>
              <a:off x="3090888" y="4765421"/>
              <a:ext cx="3874680" cy="146345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custDataLst>
              <p:tags r:id="rId1"/>
            </p:custDataLst>
          </p:nvPr>
        </p:nvGraphicFramePr>
        <p:xfrm>
          <a:off x="0" y="464185"/>
          <a:ext cx="9144000" cy="6162040"/>
        </p:xfrm>
        <a:graphic>
          <a:graphicData uri="http://schemas.openxmlformats.org/drawingml/2006/table">
            <a:tbl>
              <a:tblPr firstRow="1" bandRow="1">
                <a:tableStyleId>{2D5ABB26-0587-4C30-8999-92F81FD0307C}</a:tableStyleId>
              </a:tblPr>
              <a:tblGrid>
                <a:gridCol w="1857375"/>
                <a:gridCol w="2066290"/>
                <a:gridCol w="5220335"/>
              </a:tblGrid>
              <a:tr h="912495">
                <a:tc gridSpan="3">
                  <a:txBody>
                    <a:bodyPr/>
                    <a:lstStyle/>
                    <a:p>
                      <a:pPr marL="147320">
                        <a:lnSpc>
                          <a:spcPct val="100000"/>
                        </a:lnSpc>
                        <a:spcBef>
                          <a:spcPts val="280"/>
                        </a:spcBef>
                      </a:pPr>
                      <a:r>
                        <a:rPr sz="2000" b="1" dirty="0">
                          <a:solidFill>
                            <a:srgbClr val="FFFFFF"/>
                          </a:solidFill>
                          <a:latin typeface="Calibri" panose="020F0502020204030204"/>
                          <a:cs typeface="Calibri" panose="020F0502020204030204"/>
                        </a:rPr>
                        <a:t>Examples:</a:t>
                      </a:r>
                      <a:r>
                        <a:rPr sz="2000" b="1" spc="-45"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Nursing</a:t>
                      </a:r>
                      <a:r>
                        <a:rPr sz="2000" b="1" spc="-60"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Diagnoses</a:t>
                      </a:r>
                      <a:r>
                        <a:rPr sz="2000" b="1" spc="-35"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That</a:t>
                      </a:r>
                      <a:r>
                        <a:rPr sz="2000" b="1" spc="-55"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Can</a:t>
                      </a:r>
                      <a:r>
                        <a:rPr sz="2000" b="1" spc="-30"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Be</a:t>
                      </a:r>
                      <a:r>
                        <a:rPr sz="2000" b="1" spc="-40"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Derived</a:t>
                      </a:r>
                      <a:r>
                        <a:rPr sz="2000" b="1" spc="-20"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from</a:t>
                      </a:r>
                      <a:r>
                        <a:rPr sz="2000" b="1" spc="-40" dirty="0">
                          <a:solidFill>
                            <a:srgbClr val="FFFFFF"/>
                          </a:solidFill>
                          <a:latin typeface="Calibri" panose="020F0502020204030204"/>
                          <a:cs typeface="Calibri" panose="020F0502020204030204"/>
                        </a:rPr>
                        <a:t> </a:t>
                      </a:r>
                      <a:r>
                        <a:rPr sz="2000" b="1" spc="-10" dirty="0">
                          <a:solidFill>
                            <a:srgbClr val="FFFFFF"/>
                          </a:solidFill>
                          <a:latin typeface="Calibri" panose="020F0502020204030204"/>
                          <a:cs typeface="Calibri" panose="020F0502020204030204"/>
                        </a:rPr>
                        <a:t>Knowledge</a:t>
                      </a:r>
                      <a:r>
                        <a:rPr sz="2000" b="1" spc="-50" dirty="0">
                          <a:solidFill>
                            <a:srgbClr val="FFFFFF"/>
                          </a:solidFill>
                          <a:latin typeface="Calibri" panose="020F0502020204030204"/>
                          <a:cs typeface="Calibri" panose="020F0502020204030204"/>
                        </a:rPr>
                        <a:t> </a:t>
                      </a:r>
                      <a:r>
                        <a:rPr sz="2000" b="1" dirty="0">
                          <a:solidFill>
                            <a:srgbClr val="FFFFFF"/>
                          </a:solidFill>
                          <a:latin typeface="Calibri" panose="020F0502020204030204"/>
                          <a:cs typeface="Calibri" panose="020F0502020204030204"/>
                        </a:rPr>
                        <a:t>of</a:t>
                      </a:r>
                      <a:r>
                        <a:rPr sz="2000" b="1" spc="-40" dirty="0">
                          <a:solidFill>
                            <a:srgbClr val="FFFFFF"/>
                          </a:solidFill>
                          <a:latin typeface="Calibri" panose="020F0502020204030204"/>
                          <a:cs typeface="Calibri" panose="020F0502020204030204"/>
                        </a:rPr>
                        <a:t> </a:t>
                      </a:r>
                      <a:r>
                        <a:rPr sz="2000" b="1" spc="-10" dirty="0">
                          <a:solidFill>
                            <a:srgbClr val="FFFFFF"/>
                          </a:solidFill>
                          <a:latin typeface="Calibri" panose="020F0502020204030204"/>
                          <a:cs typeface="Calibri" panose="020F0502020204030204"/>
                        </a:rPr>
                        <a:t>Adverse</a:t>
                      </a:r>
                      <a:r>
                        <a:rPr sz="2000" b="1" spc="-20" dirty="0">
                          <a:solidFill>
                            <a:srgbClr val="FFFFFF"/>
                          </a:solidFill>
                          <a:latin typeface="Calibri" panose="020F0502020204030204"/>
                          <a:cs typeface="Calibri" panose="020F0502020204030204"/>
                        </a:rPr>
                        <a:t> Drug</a:t>
                      </a:r>
                      <a:endParaRPr sz="2000">
                        <a:latin typeface="Calibri" panose="020F0502020204030204"/>
                        <a:cs typeface="Calibri" panose="020F0502020204030204"/>
                      </a:endParaRPr>
                    </a:p>
                    <a:p>
                      <a:pPr marL="91440">
                        <a:lnSpc>
                          <a:spcPct val="100000"/>
                        </a:lnSpc>
                        <a:spcBef>
                          <a:spcPts val="15"/>
                        </a:spcBef>
                      </a:pPr>
                      <a:r>
                        <a:rPr sz="2000" b="1" spc="-10" dirty="0">
                          <a:solidFill>
                            <a:srgbClr val="FFFFFF"/>
                          </a:solidFill>
                          <a:latin typeface="Calibri" panose="020F0502020204030204"/>
                          <a:cs typeface="Calibri" panose="020F0502020204030204"/>
                        </a:rPr>
                        <a:t>Effects</a:t>
                      </a:r>
                      <a:endParaRPr sz="2000">
                        <a:latin typeface="Calibri" panose="020F0502020204030204"/>
                        <a:cs typeface="Calibri" panose="020F0502020204030204"/>
                      </a:endParaRPr>
                    </a:p>
                  </a:txBody>
                  <a:tcPr marL="0" marR="0" marT="35560" marB="0">
                    <a:lnL w="12700">
                      <a:solidFill>
                        <a:srgbClr val="C0504D"/>
                      </a:solidFill>
                      <a:prstDash val="solid"/>
                    </a:lnL>
                    <a:lnR w="12700">
                      <a:solidFill>
                        <a:srgbClr val="C0504D"/>
                      </a:solidFill>
                      <a:prstDash val="solid"/>
                    </a:lnR>
                    <a:solidFill>
                      <a:srgbClr val="C0504D"/>
                    </a:solidFill>
                  </a:tcPr>
                </a:tc>
                <a:tc hMerge="1">
                  <a:txBody>
                    <a:bodyPr/>
                    <a:lstStyle/>
                    <a:p>
                      <a:endParaRPr lang="en-US"/>
                    </a:p>
                  </a:txBody>
                  <a:tcPr marL="0" marR="0" marT="0" marB="0"/>
                </a:tc>
                <a:tc hMerge="1">
                  <a:txBody>
                    <a:bodyPr/>
                    <a:lstStyle/>
                    <a:p>
                      <a:endParaRPr lang="en-US"/>
                    </a:p>
                  </a:txBody>
                  <a:tcPr marL="0" marR="0" marT="0" marB="0"/>
                </a:tc>
              </a:tr>
              <a:tr h="502285">
                <a:tc>
                  <a:txBody>
                    <a:bodyPr/>
                    <a:lstStyle/>
                    <a:p>
                      <a:pPr marL="91440">
                        <a:lnSpc>
                          <a:spcPct val="100000"/>
                        </a:lnSpc>
                        <a:spcBef>
                          <a:spcPts val="245"/>
                        </a:spcBef>
                      </a:pPr>
                      <a:r>
                        <a:rPr sz="2000" spc="-20" dirty="0">
                          <a:latin typeface="Times New Roman" panose="02020603050405020304"/>
                          <a:cs typeface="Times New Roman" panose="02020603050405020304"/>
                        </a:rPr>
                        <a:t>Drug</a:t>
                      </a:r>
                      <a:endParaRPr sz="2000">
                        <a:latin typeface="Times New Roman" panose="02020603050405020304"/>
                        <a:cs typeface="Times New Roman" panose="02020603050405020304"/>
                      </a:endParaRPr>
                    </a:p>
                  </a:txBody>
                  <a:tcPr marL="0" marR="0" marT="31114" marB="0">
                    <a:lnL w="12700">
                      <a:solidFill>
                        <a:srgbClr val="C0504D"/>
                      </a:solidFill>
                      <a:prstDash val="solid"/>
                    </a:lnL>
                    <a:lnB w="12700">
                      <a:solidFill>
                        <a:srgbClr val="C0504D"/>
                      </a:solidFill>
                      <a:prstDash val="solid"/>
                    </a:lnB>
                    <a:solidFill>
                      <a:srgbClr val="F4E9E9"/>
                    </a:solidFill>
                  </a:tcPr>
                </a:tc>
                <a:tc>
                  <a:txBody>
                    <a:bodyPr/>
                    <a:lstStyle/>
                    <a:p>
                      <a:pPr marL="141605">
                        <a:lnSpc>
                          <a:spcPct val="100000"/>
                        </a:lnSpc>
                        <a:spcBef>
                          <a:spcPts val="245"/>
                        </a:spcBef>
                      </a:pPr>
                      <a:r>
                        <a:rPr sz="2000" dirty="0">
                          <a:latin typeface="Times New Roman" panose="02020603050405020304"/>
                          <a:cs typeface="Times New Roman" panose="02020603050405020304"/>
                        </a:rPr>
                        <a:t>Adverse</a:t>
                      </a:r>
                      <a:r>
                        <a:rPr sz="2000" spc="-4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Effect</a:t>
                      </a:r>
                      <a:endParaRPr sz="2000">
                        <a:latin typeface="Times New Roman" panose="02020603050405020304"/>
                        <a:cs typeface="Times New Roman" panose="02020603050405020304"/>
                      </a:endParaRPr>
                    </a:p>
                  </a:txBody>
                  <a:tcPr marL="0" marR="0" marT="31114" marB="0">
                    <a:lnB w="12700">
                      <a:solidFill>
                        <a:srgbClr val="C0504D"/>
                      </a:solidFill>
                      <a:prstDash val="solid"/>
                    </a:lnB>
                    <a:solidFill>
                      <a:srgbClr val="F4E9E9"/>
                    </a:solidFill>
                  </a:tcPr>
                </a:tc>
                <a:tc>
                  <a:txBody>
                    <a:bodyPr/>
                    <a:lstStyle/>
                    <a:p>
                      <a:pPr marL="168275">
                        <a:lnSpc>
                          <a:spcPct val="100000"/>
                        </a:lnSpc>
                        <a:spcBef>
                          <a:spcPts val="245"/>
                        </a:spcBef>
                      </a:pPr>
                      <a:r>
                        <a:rPr sz="2000" dirty="0">
                          <a:latin typeface="Times New Roman" panose="02020603050405020304"/>
                          <a:cs typeface="Times New Roman" panose="02020603050405020304"/>
                        </a:rPr>
                        <a:t>Related</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Nursing</a:t>
                      </a:r>
                      <a:r>
                        <a:rPr sz="2000" spc="-5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Diagnosis</a:t>
                      </a:r>
                      <a:endParaRPr sz="2000">
                        <a:latin typeface="Times New Roman" panose="02020603050405020304"/>
                        <a:cs typeface="Times New Roman" panose="02020603050405020304"/>
                      </a:endParaRPr>
                    </a:p>
                  </a:txBody>
                  <a:tcPr marL="0" marR="0" marT="31114" marB="0">
                    <a:lnR w="12700">
                      <a:solidFill>
                        <a:srgbClr val="C0504D"/>
                      </a:solidFill>
                      <a:prstDash val="solid"/>
                    </a:lnR>
                    <a:lnB w="12700">
                      <a:solidFill>
                        <a:srgbClr val="C0504D"/>
                      </a:solidFill>
                      <a:prstDash val="solid"/>
                    </a:lnB>
                    <a:solidFill>
                      <a:srgbClr val="F4E9E9"/>
                    </a:solidFill>
                  </a:tcPr>
                </a:tc>
              </a:tr>
              <a:tr h="509270">
                <a:tc>
                  <a:txBody>
                    <a:bodyPr/>
                    <a:lstStyle/>
                    <a:p>
                      <a:pPr marL="92710">
                        <a:lnSpc>
                          <a:spcPct val="100000"/>
                        </a:lnSpc>
                        <a:spcBef>
                          <a:spcPts val="245"/>
                        </a:spcBef>
                      </a:pPr>
                      <a:r>
                        <a:rPr sz="2000" spc="-10" dirty="0">
                          <a:latin typeface="Times New Roman" panose="02020603050405020304"/>
                          <a:cs typeface="Times New Roman" panose="02020603050405020304"/>
                        </a:rPr>
                        <a:t>Aspirin</a:t>
                      </a:r>
                      <a:endParaRPr sz="2000">
                        <a:latin typeface="Times New Roman" panose="02020603050405020304"/>
                        <a:cs typeface="Times New Roman" panose="02020603050405020304"/>
                      </a:endParaRPr>
                    </a:p>
                  </a:txBody>
                  <a:tcPr marL="0" marR="0" marT="31115" marB="0">
                    <a:lnL w="12700">
                      <a:solidFill>
                        <a:srgbClr val="C0504D"/>
                      </a:solidFill>
                      <a:prstDash val="solid"/>
                    </a:lnL>
                    <a:lnT w="12700">
                      <a:solidFill>
                        <a:srgbClr val="C0504D"/>
                      </a:solidFill>
                      <a:prstDash val="solid"/>
                    </a:lnT>
                    <a:lnB w="12700">
                      <a:solidFill>
                        <a:srgbClr val="C0504D"/>
                      </a:solidFill>
                      <a:prstDash val="solid"/>
                    </a:lnB>
                  </a:tcPr>
                </a:tc>
                <a:tc>
                  <a:txBody>
                    <a:bodyPr/>
                    <a:lstStyle/>
                    <a:p>
                      <a:pPr marL="141605">
                        <a:lnSpc>
                          <a:spcPct val="100000"/>
                        </a:lnSpc>
                        <a:spcBef>
                          <a:spcPts val="295"/>
                        </a:spcBef>
                      </a:pPr>
                      <a:r>
                        <a:rPr sz="2000" dirty="0">
                          <a:latin typeface="Times New Roman" panose="02020603050405020304"/>
                          <a:cs typeface="Times New Roman" panose="02020603050405020304"/>
                        </a:rPr>
                        <a:t>Gastric</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erosion</a:t>
                      </a:r>
                      <a:endParaRPr sz="2000">
                        <a:latin typeface="Times New Roman" panose="02020603050405020304"/>
                        <a:cs typeface="Times New Roman" panose="02020603050405020304"/>
                      </a:endParaRPr>
                    </a:p>
                  </a:txBody>
                  <a:tcPr marL="0" marR="0" marT="37465" marB="0">
                    <a:lnT w="12700">
                      <a:solidFill>
                        <a:srgbClr val="C0504D"/>
                      </a:solidFill>
                      <a:prstDash val="solid"/>
                    </a:lnT>
                    <a:lnB w="12700">
                      <a:solidFill>
                        <a:srgbClr val="C0504D"/>
                      </a:solidFill>
                      <a:prstDash val="solid"/>
                    </a:lnB>
                  </a:tcPr>
                </a:tc>
                <a:tc>
                  <a:txBody>
                    <a:bodyPr/>
                    <a:lstStyle/>
                    <a:p>
                      <a:pPr marL="168275">
                        <a:lnSpc>
                          <a:spcPct val="100000"/>
                        </a:lnSpc>
                        <a:spcBef>
                          <a:spcPts val="295"/>
                        </a:spcBef>
                      </a:pPr>
                      <a:r>
                        <a:rPr sz="2000" dirty="0">
                          <a:latin typeface="Times New Roman" panose="02020603050405020304"/>
                          <a:cs typeface="Times New Roman" panose="02020603050405020304"/>
                        </a:rPr>
                        <a:t>Pain</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related</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aspirin-induced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gastric</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erosion</a:t>
                      </a:r>
                      <a:endParaRPr sz="2000">
                        <a:latin typeface="Times New Roman" panose="02020603050405020304"/>
                        <a:cs typeface="Times New Roman" panose="02020603050405020304"/>
                      </a:endParaRPr>
                    </a:p>
                  </a:txBody>
                  <a:tcPr marL="0" marR="0" marT="37465" marB="0">
                    <a:lnR w="12700">
                      <a:solidFill>
                        <a:srgbClr val="C0504D"/>
                      </a:solidFill>
                      <a:prstDash val="solid"/>
                    </a:lnR>
                    <a:lnT w="12700">
                      <a:solidFill>
                        <a:srgbClr val="C0504D"/>
                      </a:solidFill>
                      <a:prstDash val="solid"/>
                    </a:lnT>
                    <a:lnB w="12700">
                      <a:solidFill>
                        <a:srgbClr val="C0504D"/>
                      </a:solidFill>
                      <a:prstDash val="solid"/>
                    </a:lnB>
                  </a:tcPr>
                </a:tc>
              </a:tr>
              <a:tr h="507365">
                <a:tc>
                  <a:txBody>
                    <a:bodyPr/>
                    <a:lstStyle/>
                    <a:p>
                      <a:pPr marL="91440">
                        <a:lnSpc>
                          <a:spcPct val="100000"/>
                        </a:lnSpc>
                        <a:spcBef>
                          <a:spcPts val="295"/>
                        </a:spcBef>
                      </a:pPr>
                      <a:r>
                        <a:rPr sz="2000" spc="-10" dirty="0">
                          <a:latin typeface="Times New Roman" panose="02020603050405020304"/>
                          <a:cs typeface="Times New Roman" panose="02020603050405020304"/>
                        </a:rPr>
                        <a:t>Atropine</a:t>
                      </a:r>
                      <a:endParaRPr sz="2000">
                        <a:latin typeface="Times New Roman" panose="02020603050405020304"/>
                        <a:cs typeface="Times New Roman" panose="02020603050405020304"/>
                      </a:endParaRPr>
                    </a:p>
                  </a:txBody>
                  <a:tcPr marL="0" marR="0" marT="37465" marB="0">
                    <a:lnL w="12700">
                      <a:solidFill>
                        <a:srgbClr val="C0504D"/>
                      </a:solidFill>
                      <a:prstDash val="solid"/>
                    </a:lnL>
                    <a:lnT w="12700">
                      <a:solidFill>
                        <a:srgbClr val="C0504D"/>
                      </a:solidFill>
                      <a:prstDash val="solid"/>
                    </a:lnT>
                    <a:lnB w="12700">
                      <a:solidFill>
                        <a:srgbClr val="C0504D"/>
                      </a:solidFill>
                      <a:prstDash val="solid"/>
                    </a:lnB>
                    <a:solidFill>
                      <a:srgbClr val="F4E9E9"/>
                    </a:solidFill>
                  </a:tcPr>
                </a:tc>
                <a:tc>
                  <a:txBody>
                    <a:bodyPr/>
                    <a:lstStyle/>
                    <a:p>
                      <a:pPr marL="141605">
                        <a:lnSpc>
                          <a:spcPct val="100000"/>
                        </a:lnSpc>
                        <a:spcBef>
                          <a:spcPts val="295"/>
                        </a:spcBef>
                      </a:pPr>
                      <a:r>
                        <a:rPr sz="2000" dirty="0">
                          <a:latin typeface="Times New Roman" panose="02020603050405020304"/>
                          <a:cs typeface="Times New Roman" panose="02020603050405020304"/>
                        </a:rPr>
                        <a:t>Urinary</a:t>
                      </a:r>
                      <a:r>
                        <a:rPr sz="2000" spc="-4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retention</a:t>
                      </a:r>
                      <a:endParaRPr sz="2000">
                        <a:latin typeface="Times New Roman" panose="02020603050405020304"/>
                        <a:cs typeface="Times New Roman" panose="02020603050405020304"/>
                      </a:endParaRPr>
                    </a:p>
                  </a:txBody>
                  <a:tcPr marL="0" marR="0" marT="37465" marB="0">
                    <a:lnT w="12700">
                      <a:solidFill>
                        <a:srgbClr val="C0504D"/>
                      </a:solidFill>
                      <a:prstDash val="solid"/>
                    </a:lnT>
                    <a:lnB w="12700">
                      <a:solidFill>
                        <a:srgbClr val="C0504D"/>
                      </a:solidFill>
                      <a:prstDash val="solid"/>
                    </a:lnB>
                    <a:solidFill>
                      <a:srgbClr val="F4E9E9"/>
                    </a:solidFill>
                  </a:tcPr>
                </a:tc>
                <a:tc>
                  <a:txBody>
                    <a:bodyPr/>
                    <a:lstStyle/>
                    <a:p>
                      <a:pPr marL="168275">
                        <a:lnSpc>
                          <a:spcPct val="100000"/>
                        </a:lnSpc>
                        <a:spcBef>
                          <a:spcPts val="295"/>
                        </a:spcBef>
                      </a:pPr>
                      <a:r>
                        <a:rPr sz="2000" dirty="0">
                          <a:latin typeface="Times New Roman" panose="02020603050405020304"/>
                          <a:cs typeface="Times New Roman" panose="02020603050405020304"/>
                        </a:rPr>
                        <a:t>Urinary</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retention</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related</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drug</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therapy</a:t>
                      </a:r>
                      <a:endParaRPr sz="2000">
                        <a:latin typeface="Times New Roman" panose="02020603050405020304"/>
                        <a:cs typeface="Times New Roman" panose="02020603050405020304"/>
                      </a:endParaRPr>
                    </a:p>
                  </a:txBody>
                  <a:tcPr marL="0" marR="0" marT="37465" marB="0">
                    <a:lnR w="12700">
                      <a:solidFill>
                        <a:srgbClr val="C0504D"/>
                      </a:solidFill>
                      <a:prstDash val="solid"/>
                    </a:lnR>
                    <a:lnT w="12700">
                      <a:solidFill>
                        <a:srgbClr val="C0504D"/>
                      </a:solidFill>
                      <a:prstDash val="solid"/>
                    </a:lnT>
                    <a:lnB w="12700">
                      <a:solidFill>
                        <a:srgbClr val="C0504D"/>
                      </a:solidFill>
                      <a:prstDash val="solid"/>
                    </a:lnB>
                    <a:solidFill>
                      <a:srgbClr val="F4E9E9"/>
                    </a:solidFill>
                  </a:tcPr>
                </a:tc>
              </a:tr>
              <a:tr h="899160">
                <a:tc>
                  <a:txBody>
                    <a:bodyPr/>
                    <a:lstStyle/>
                    <a:p>
                      <a:pPr marL="91440">
                        <a:lnSpc>
                          <a:spcPct val="100000"/>
                        </a:lnSpc>
                        <a:spcBef>
                          <a:spcPts val="295"/>
                        </a:spcBef>
                      </a:pPr>
                      <a:r>
                        <a:rPr sz="2000" spc="-10" dirty="0">
                          <a:latin typeface="Times New Roman" panose="02020603050405020304"/>
                          <a:cs typeface="Times New Roman" panose="02020603050405020304"/>
                        </a:rPr>
                        <a:t>Digoxin</a:t>
                      </a:r>
                      <a:endParaRPr sz="2000">
                        <a:latin typeface="Times New Roman" panose="02020603050405020304"/>
                        <a:cs typeface="Times New Roman" panose="02020603050405020304"/>
                      </a:endParaRPr>
                    </a:p>
                  </a:txBody>
                  <a:tcPr marL="0" marR="0" marT="37465" marB="0">
                    <a:lnL w="12700">
                      <a:solidFill>
                        <a:srgbClr val="C0504D"/>
                      </a:solidFill>
                      <a:prstDash val="solid"/>
                    </a:lnL>
                    <a:lnT w="12700">
                      <a:solidFill>
                        <a:srgbClr val="C0504D"/>
                      </a:solidFill>
                      <a:prstDash val="solid"/>
                    </a:lnT>
                    <a:lnB w="12700">
                      <a:solidFill>
                        <a:srgbClr val="C0504D"/>
                      </a:solidFill>
                      <a:prstDash val="solid"/>
                    </a:lnB>
                  </a:tcPr>
                </a:tc>
                <a:tc>
                  <a:txBody>
                    <a:bodyPr/>
                    <a:lstStyle/>
                    <a:p>
                      <a:pPr marL="141605">
                        <a:lnSpc>
                          <a:spcPct val="100000"/>
                        </a:lnSpc>
                        <a:spcBef>
                          <a:spcPts val="250"/>
                        </a:spcBef>
                      </a:pPr>
                      <a:r>
                        <a:rPr sz="2000" spc="-10" dirty="0">
                          <a:latin typeface="Times New Roman" panose="02020603050405020304"/>
                          <a:cs typeface="Times New Roman" panose="02020603050405020304"/>
                        </a:rPr>
                        <a:t>Dysrhythmias</a:t>
                      </a:r>
                      <a:endParaRPr sz="2000">
                        <a:latin typeface="Times New Roman" panose="02020603050405020304"/>
                        <a:cs typeface="Times New Roman" panose="02020603050405020304"/>
                      </a:endParaRPr>
                    </a:p>
                  </a:txBody>
                  <a:tcPr marL="0" marR="0" marT="31750" marB="0">
                    <a:lnT w="12700">
                      <a:solidFill>
                        <a:srgbClr val="C0504D"/>
                      </a:solidFill>
                      <a:prstDash val="solid"/>
                    </a:lnT>
                    <a:lnB w="12700">
                      <a:solidFill>
                        <a:srgbClr val="C0504D"/>
                      </a:solidFill>
                      <a:prstDash val="solid"/>
                    </a:lnB>
                  </a:tcPr>
                </a:tc>
                <a:tc>
                  <a:txBody>
                    <a:bodyPr/>
                    <a:lstStyle/>
                    <a:p>
                      <a:pPr marL="168275">
                        <a:lnSpc>
                          <a:spcPct val="100000"/>
                        </a:lnSpc>
                        <a:spcBef>
                          <a:spcPts val="295"/>
                        </a:spcBef>
                      </a:pPr>
                      <a:r>
                        <a:rPr sz="2000" dirty="0">
                          <a:latin typeface="Times New Roman" panose="02020603050405020304"/>
                          <a:cs typeface="Times New Roman" panose="02020603050405020304"/>
                        </a:rPr>
                        <a:t>Ineffective</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tissue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perfusion</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related</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drug-</a:t>
                      </a:r>
                      <a:endParaRPr sz="2000">
                        <a:latin typeface="Times New Roman" panose="02020603050405020304"/>
                        <a:cs typeface="Times New Roman" panose="02020603050405020304"/>
                      </a:endParaRPr>
                    </a:p>
                    <a:p>
                      <a:pPr marL="168275">
                        <a:lnSpc>
                          <a:spcPct val="100000"/>
                        </a:lnSpc>
                        <a:spcBef>
                          <a:spcPts val="5"/>
                        </a:spcBef>
                      </a:pPr>
                      <a:r>
                        <a:rPr sz="2000" dirty="0">
                          <a:latin typeface="Times New Roman" panose="02020603050405020304"/>
                          <a:cs typeface="Times New Roman" panose="02020603050405020304"/>
                        </a:rPr>
                        <a:t>induced</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cardiac</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dysrhythmias</a:t>
                      </a:r>
                      <a:endParaRPr sz="2000">
                        <a:latin typeface="Times New Roman" panose="02020603050405020304"/>
                        <a:cs typeface="Times New Roman" panose="02020603050405020304"/>
                      </a:endParaRPr>
                    </a:p>
                  </a:txBody>
                  <a:tcPr marL="0" marR="0" marT="37465" marB="0">
                    <a:lnR w="12700">
                      <a:solidFill>
                        <a:srgbClr val="C0504D"/>
                      </a:solidFill>
                      <a:prstDash val="solid"/>
                    </a:lnR>
                    <a:lnT w="12700">
                      <a:solidFill>
                        <a:srgbClr val="C0504D"/>
                      </a:solidFill>
                      <a:prstDash val="solid"/>
                    </a:lnT>
                    <a:lnB w="12700">
                      <a:solidFill>
                        <a:srgbClr val="C0504D"/>
                      </a:solidFill>
                      <a:prstDash val="solid"/>
                    </a:lnB>
                  </a:tcPr>
                </a:tc>
              </a:tr>
              <a:tr h="900430">
                <a:tc>
                  <a:txBody>
                    <a:bodyPr/>
                    <a:lstStyle/>
                    <a:p>
                      <a:pPr marL="91440">
                        <a:lnSpc>
                          <a:spcPct val="100000"/>
                        </a:lnSpc>
                        <a:spcBef>
                          <a:spcPts val="295"/>
                        </a:spcBef>
                      </a:pPr>
                      <a:r>
                        <a:rPr sz="2000" spc="-10" dirty="0">
                          <a:latin typeface="Times New Roman" panose="02020603050405020304"/>
                          <a:cs typeface="Times New Roman" panose="02020603050405020304"/>
                        </a:rPr>
                        <a:t>Furosemide</a:t>
                      </a:r>
                      <a:endParaRPr sz="2000">
                        <a:latin typeface="Times New Roman" panose="02020603050405020304"/>
                        <a:cs typeface="Times New Roman" panose="02020603050405020304"/>
                      </a:endParaRPr>
                    </a:p>
                  </a:txBody>
                  <a:tcPr marL="0" marR="0" marT="37465" marB="0">
                    <a:lnL w="12700">
                      <a:solidFill>
                        <a:srgbClr val="C0504D"/>
                      </a:solidFill>
                      <a:prstDash val="solid"/>
                    </a:lnL>
                    <a:lnT w="12700">
                      <a:solidFill>
                        <a:srgbClr val="C0504D"/>
                      </a:solidFill>
                      <a:prstDash val="solid"/>
                    </a:lnT>
                    <a:lnB w="12700">
                      <a:solidFill>
                        <a:srgbClr val="C0504D"/>
                      </a:solidFill>
                      <a:prstDash val="solid"/>
                    </a:lnB>
                    <a:solidFill>
                      <a:srgbClr val="F4E9E9"/>
                    </a:solidFill>
                  </a:tcPr>
                </a:tc>
                <a:tc>
                  <a:txBody>
                    <a:bodyPr/>
                    <a:lstStyle/>
                    <a:p>
                      <a:pPr marL="141605" marR="314960">
                        <a:lnSpc>
                          <a:spcPct val="100000"/>
                        </a:lnSpc>
                        <a:spcBef>
                          <a:spcPts val="295"/>
                        </a:spcBef>
                      </a:pPr>
                      <a:r>
                        <a:rPr sz="2000" dirty="0">
                          <a:latin typeface="Times New Roman" panose="02020603050405020304"/>
                          <a:cs typeface="Times New Roman" panose="02020603050405020304"/>
                        </a:rPr>
                        <a:t>Excessive</a:t>
                      </a:r>
                      <a:r>
                        <a:rPr sz="2000" spc="-3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urine </a:t>
                      </a:r>
                      <a:r>
                        <a:rPr sz="2000" spc="-10" dirty="0">
                          <a:latin typeface="Times New Roman" panose="02020603050405020304"/>
                          <a:cs typeface="Times New Roman" panose="02020603050405020304"/>
                        </a:rPr>
                        <a:t>production</a:t>
                      </a:r>
                      <a:endParaRPr sz="2000">
                        <a:latin typeface="Times New Roman" panose="02020603050405020304"/>
                        <a:cs typeface="Times New Roman" panose="02020603050405020304"/>
                      </a:endParaRPr>
                    </a:p>
                  </a:txBody>
                  <a:tcPr marL="0" marR="0" marT="37465" marB="0">
                    <a:lnT w="12700">
                      <a:solidFill>
                        <a:srgbClr val="C0504D"/>
                      </a:solidFill>
                      <a:prstDash val="solid"/>
                    </a:lnT>
                    <a:lnB w="12700">
                      <a:solidFill>
                        <a:srgbClr val="C0504D"/>
                      </a:solidFill>
                      <a:prstDash val="solid"/>
                    </a:lnB>
                    <a:solidFill>
                      <a:srgbClr val="F4E9E9"/>
                    </a:solidFill>
                  </a:tcPr>
                </a:tc>
                <a:tc>
                  <a:txBody>
                    <a:bodyPr/>
                    <a:lstStyle/>
                    <a:p>
                      <a:pPr marL="168275" marR="300990">
                        <a:lnSpc>
                          <a:spcPct val="100000"/>
                        </a:lnSpc>
                        <a:spcBef>
                          <a:spcPts val="295"/>
                        </a:spcBef>
                      </a:pPr>
                      <a:r>
                        <a:rPr sz="2000" dirty="0">
                          <a:latin typeface="Times New Roman" panose="02020603050405020304"/>
                          <a:cs typeface="Times New Roman" panose="02020603050405020304"/>
                        </a:rPr>
                        <a:t>Deficient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fluid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volume</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related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drug-</a:t>
                      </a:r>
                      <a:r>
                        <a:rPr sz="2000" spc="-10" dirty="0">
                          <a:latin typeface="Times New Roman" panose="02020603050405020304"/>
                          <a:cs typeface="Times New Roman" panose="02020603050405020304"/>
                        </a:rPr>
                        <a:t>induced diuresis</a:t>
                      </a:r>
                      <a:endParaRPr sz="2000">
                        <a:latin typeface="Times New Roman" panose="02020603050405020304"/>
                        <a:cs typeface="Times New Roman" panose="02020603050405020304"/>
                      </a:endParaRPr>
                    </a:p>
                  </a:txBody>
                  <a:tcPr marL="0" marR="0" marT="37465" marB="0">
                    <a:lnR w="12700">
                      <a:solidFill>
                        <a:srgbClr val="C0504D"/>
                      </a:solidFill>
                      <a:prstDash val="solid"/>
                    </a:lnR>
                    <a:lnT w="12700">
                      <a:solidFill>
                        <a:srgbClr val="C0504D"/>
                      </a:solidFill>
                      <a:prstDash val="solid"/>
                    </a:lnT>
                    <a:lnB w="12700">
                      <a:solidFill>
                        <a:srgbClr val="C0504D"/>
                      </a:solidFill>
                      <a:prstDash val="solid"/>
                    </a:lnB>
                    <a:solidFill>
                      <a:srgbClr val="F4E9E9"/>
                    </a:solidFill>
                  </a:tcPr>
                </a:tc>
              </a:tr>
              <a:tr h="1031875">
                <a:tc>
                  <a:txBody>
                    <a:bodyPr/>
                    <a:lstStyle/>
                    <a:p>
                      <a:pPr marL="91440">
                        <a:lnSpc>
                          <a:spcPct val="100000"/>
                        </a:lnSpc>
                        <a:spcBef>
                          <a:spcPts val="300"/>
                        </a:spcBef>
                      </a:pPr>
                      <a:r>
                        <a:rPr sz="2000" spc="-10" dirty="0">
                          <a:latin typeface="Times New Roman" panose="02020603050405020304"/>
                          <a:cs typeface="Times New Roman" panose="02020603050405020304"/>
                        </a:rPr>
                        <a:t>Gentamicin</a:t>
                      </a:r>
                      <a:endParaRPr sz="2000">
                        <a:latin typeface="Times New Roman" panose="02020603050405020304"/>
                        <a:cs typeface="Times New Roman" panose="02020603050405020304"/>
                      </a:endParaRPr>
                    </a:p>
                  </a:txBody>
                  <a:tcPr marL="0" marR="0" marT="38100" marB="0">
                    <a:lnL w="12700">
                      <a:solidFill>
                        <a:srgbClr val="C0504D"/>
                      </a:solidFill>
                      <a:prstDash val="solid"/>
                    </a:lnL>
                    <a:lnT w="12700">
                      <a:solidFill>
                        <a:srgbClr val="C0504D"/>
                      </a:solidFill>
                      <a:prstDash val="solid"/>
                    </a:lnT>
                    <a:lnB w="12700">
                      <a:solidFill>
                        <a:srgbClr val="C0504D"/>
                      </a:solidFill>
                      <a:prstDash val="solid"/>
                    </a:lnB>
                  </a:tcPr>
                </a:tc>
                <a:tc>
                  <a:txBody>
                    <a:bodyPr/>
                    <a:lstStyle/>
                    <a:p>
                      <a:pPr marL="141605" marR="435610">
                        <a:lnSpc>
                          <a:spcPct val="100000"/>
                        </a:lnSpc>
                        <a:spcBef>
                          <a:spcPts val="300"/>
                        </a:spcBef>
                      </a:pPr>
                      <a:r>
                        <a:rPr sz="2000" dirty="0">
                          <a:latin typeface="Times New Roman" panose="02020603050405020304"/>
                          <a:cs typeface="Times New Roman" panose="02020603050405020304"/>
                        </a:rPr>
                        <a:t>Damage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dirty="0">
                          <a:latin typeface="Times New Roman" panose="02020603050405020304"/>
                          <a:cs typeface="Times New Roman" panose="02020603050405020304"/>
                        </a:rPr>
                        <a:t>eighth</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cranial nerve</a:t>
                      </a:r>
                      <a:endParaRPr sz="2000">
                        <a:latin typeface="Times New Roman" panose="02020603050405020304"/>
                        <a:cs typeface="Times New Roman" panose="02020603050405020304"/>
                      </a:endParaRPr>
                    </a:p>
                  </a:txBody>
                  <a:tcPr marL="0" marR="0" marT="38100" marB="0">
                    <a:lnT w="12700">
                      <a:solidFill>
                        <a:srgbClr val="C0504D"/>
                      </a:solidFill>
                      <a:prstDash val="solid"/>
                    </a:lnT>
                    <a:lnB w="12700">
                      <a:solidFill>
                        <a:srgbClr val="C0504D"/>
                      </a:solidFill>
                      <a:prstDash val="solid"/>
                    </a:lnB>
                  </a:tcPr>
                </a:tc>
                <a:tc>
                  <a:txBody>
                    <a:bodyPr/>
                    <a:lstStyle/>
                    <a:p>
                      <a:pPr marL="168275" marR="1174750">
                        <a:lnSpc>
                          <a:spcPct val="100000"/>
                        </a:lnSpc>
                        <a:spcBef>
                          <a:spcPts val="300"/>
                        </a:spcBef>
                      </a:pPr>
                      <a:r>
                        <a:rPr sz="2000" dirty="0">
                          <a:latin typeface="Times New Roman" panose="02020603050405020304"/>
                          <a:cs typeface="Times New Roman" panose="02020603050405020304"/>
                        </a:rPr>
                        <a:t>Disturbed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sensory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perception:</a:t>
                      </a:r>
                      <a:r>
                        <a:rPr sz="2000" spc="-3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hearing </a:t>
                      </a:r>
                      <a:r>
                        <a:rPr sz="2000" dirty="0">
                          <a:latin typeface="Times New Roman" panose="02020603050405020304"/>
                          <a:cs typeface="Times New Roman" panose="02020603050405020304"/>
                        </a:rPr>
                        <a:t>impairment</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related</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drug</a:t>
                      </a:r>
                      <a:r>
                        <a:rPr sz="2000" spc="-3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therapy</a:t>
                      </a:r>
                      <a:endParaRPr sz="2000">
                        <a:latin typeface="Times New Roman" panose="02020603050405020304"/>
                        <a:cs typeface="Times New Roman" panose="02020603050405020304"/>
                      </a:endParaRPr>
                    </a:p>
                  </a:txBody>
                  <a:tcPr marL="0" marR="0" marT="38100" marB="0">
                    <a:lnR w="12700">
                      <a:solidFill>
                        <a:srgbClr val="C0504D"/>
                      </a:solidFill>
                      <a:prstDash val="solid"/>
                    </a:lnR>
                    <a:lnT w="12700">
                      <a:solidFill>
                        <a:srgbClr val="C0504D"/>
                      </a:solidFill>
                      <a:prstDash val="solid"/>
                    </a:lnT>
                    <a:lnB w="12700">
                      <a:solidFill>
                        <a:srgbClr val="C0504D"/>
                      </a:solidFill>
                      <a:prstDash val="solid"/>
                    </a:lnB>
                  </a:tcPr>
                </a:tc>
              </a:tr>
              <a:tr h="899160">
                <a:tc>
                  <a:txBody>
                    <a:bodyPr/>
                    <a:lstStyle/>
                    <a:p>
                      <a:pPr marL="91440">
                        <a:lnSpc>
                          <a:spcPct val="100000"/>
                        </a:lnSpc>
                        <a:spcBef>
                          <a:spcPts val="300"/>
                        </a:spcBef>
                      </a:pPr>
                      <a:r>
                        <a:rPr sz="2000" spc="-10" dirty="0">
                          <a:latin typeface="Times New Roman" panose="02020603050405020304"/>
                          <a:cs typeface="Times New Roman" panose="02020603050405020304"/>
                        </a:rPr>
                        <a:t>Glucocorticoids</a:t>
                      </a:r>
                      <a:endParaRPr sz="2000">
                        <a:latin typeface="Times New Roman" panose="02020603050405020304"/>
                        <a:cs typeface="Times New Roman" panose="02020603050405020304"/>
                      </a:endParaRPr>
                    </a:p>
                  </a:txBody>
                  <a:tcPr marL="0" marR="0" marT="38100" marB="0">
                    <a:lnL w="12700">
                      <a:solidFill>
                        <a:srgbClr val="C0504D"/>
                      </a:solidFill>
                      <a:prstDash val="solid"/>
                    </a:lnL>
                    <a:lnT w="12700">
                      <a:solidFill>
                        <a:srgbClr val="C0504D"/>
                      </a:solidFill>
                      <a:prstDash val="solid"/>
                    </a:lnT>
                    <a:lnB w="12700">
                      <a:solidFill>
                        <a:srgbClr val="C0504D"/>
                      </a:solidFill>
                      <a:prstDash val="solid"/>
                    </a:lnB>
                    <a:solidFill>
                      <a:srgbClr val="F4E9E9"/>
                    </a:solidFill>
                  </a:tcPr>
                </a:tc>
                <a:tc>
                  <a:txBody>
                    <a:bodyPr/>
                    <a:lstStyle/>
                    <a:p>
                      <a:pPr marL="141605" marR="338455">
                        <a:lnSpc>
                          <a:spcPct val="100000"/>
                        </a:lnSpc>
                        <a:spcBef>
                          <a:spcPts val="300"/>
                        </a:spcBef>
                      </a:pPr>
                      <a:r>
                        <a:rPr sz="2000" dirty="0">
                          <a:latin typeface="Times New Roman" panose="02020603050405020304"/>
                          <a:cs typeface="Times New Roman" panose="02020603050405020304"/>
                        </a:rPr>
                        <a:t>Thinning</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spc="-20" dirty="0">
                          <a:latin typeface="Times New Roman" panose="02020603050405020304"/>
                          <a:cs typeface="Times New Roman" panose="02020603050405020304"/>
                        </a:rPr>
                        <a:t>skin</a:t>
                      </a:r>
                      <a:endParaRPr sz="2000">
                        <a:latin typeface="Times New Roman" panose="02020603050405020304"/>
                        <a:cs typeface="Times New Roman" panose="02020603050405020304"/>
                      </a:endParaRPr>
                    </a:p>
                  </a:txBody>
                  <a:tcPr marL="0" marR="0" marT="38100" marB="0">
                    <a:lnT w="12700">
                      <a:solidFill>
                        <a:srgbClr val="C0504D"/>
                      </a:solidFill>
                      <a:prstDash val="solid"/>
                    </a:lnT>
                    <a:lnB w="12700">
                      <a:solidFill>
                        <a:srgbClr val="C0504D"/>
                      </a:solidFill>
                      <a:prstDash val="solid"/>
                    </a:lnB>
                    <a:solidFill>
                      <a:srgbClr val="F4E9E9"/>
                    </a:solidFill>
                  </a:tcPr>
                </a:tc>
                <a:tc>
                  <a:txBody>
                    <a:bodyPr/>
                    <a:lstStyle/>
                    <a:p>
                      <a:pPr marL="168275">
                        <a:lnSpc>
                          <a:spcPct val="100000"/>
                        </a:lnSpc>
                        <a:spcBef>
                          <a:spcPts val="300"/>
                        </a:spcBef>
                      </a:pPr>
                      <a:r>
                        <a:rPr sz="2000" dirty="0">
                          <a:latin typeface="Times New Roman" panose="02020603050405020304"/>
                          <a:cs typeface="Times New Roman" panose="02020603050405020304"/>
                        </a:rPr>
                        <a:t>Impaired</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skin</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integrity</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related</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drug</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therapy</a:t>
                      </a:r>
                      <a:endParaRPr sz="2000">
                        <a:latin typeface="Times New Roman" panose="02020603050405020304"/>
                        <a:cs typeface="Times New Roman" panose="02020603050405020304"/>
                      </a:endParaRPr>
                    </a:p>
                  </a:txBody>
                  <a:tcPr marL="0" marR="0" marT="38100" marB="0">
                    <a:lnR w="12700">
                      <a:solidFill>
                        <a:srgbClr val="C0504D"/>
                      </a:solidFill>
                      <a:prstDash val="solid"/>
                    </a:lnR>
                    <a:lnT w="12700">
                      <a:solidFill>
                        <a:srgbClr val="C0504D"/>
                      </a:solidFill>
                      <a:prstDash val="solid"/>
                    </a:lnT>
                    <a:lnB w="12700">
                      <a:solidFill>
                        <a:srgbClr val="C0504D"/>
                      </a:solidFill>
                      <a:prstDash val="solid"/>
                    </a:lnB>
                    <a:solidFill>
                      <a:srgbClr val="F4E9E9"/>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94615">
              <a:lnSpc>
                <a:spcPct val="100000"/>
              </a:lnSpc>
              <a:spcBef>
                <a:spcPts val="100"/>
              </a:spcBef>
            </a:pPr>
            <a:r>
              <a:rPr sz="2600" dirty="0"/>
              <a:t>Planning</a:t>
            </a:r>
            <a:r>
              <a:rPr sz="2600" spc="-55" dirty="0"/>
              <a:t> </a:t>
            </a:r>
            <a:r>
              <a:rPr sz="2600" dirty="0"/>
              <a:t>/Goals:</a:t>
            </a:r>
            <a:r>
              <a:rPr sz="2600" spc="-50" dirty="0"/>
              <a:t> </a:t>
            </a:r>
            <a:r>
              <a:rPr sz="2200" b="0" dirty="0">
                <a:solidFill>
                  <a:srgbClr val="000000"/>
                </a:solidFill>
                <a:latin typeface="Times New Roman" panose="02020603050405020304"/>
                <a:cs typeface="Times New Roman" panose="02020603050405020304"/>
              </a:rPr>
              <a:t>(how</a:t>
            </a:r>
            <a:r>
              <a:rPr sz="2200" b="0" spc="-40" dirty="0">
                <a:solidFill>
                  <a:srgbClr val="000000"/>
                </a:solidFill>
                <a:latin typeface="Times New Roman" panose="02020603050405020304"/>
                <a:cs typeface="Times New Roman" panose="02020603050405020304"/>
              </a:rPr>
              <a:t> </a:t>
            </a:r>
            <a:r>
              <a:rPr sz="2200" b="0" dirty="0">
                <a:solidFill>
                  <a:srgbClr val="000000"/>
                </a:solidFill>
                <a:latin typeface="Times New Roman" panose="02020603050405020304"/>
                <a:cs typeface="Times New Roman" panose="02020603050405020304"/>
              </a:rPr>
              <a:t>to</a:t>
            </a:r>
            <a:r>
              <a:rPr sz="2200" b="0" spc="-35" dirty="0">
                <a:solidFill>
                  <a:srgbClr val="000000"/>
                </a:solidFill>
                <a:latin typeface="Times New Roman" panose="02020603050405020304"/>
                <a:cs typeface="Times New Roman" panose="02020603050405020304"/>
              </a:rPr>
              <a:t> </a:t>
            </a:r>
            <a:r>
              <a:rPr sz="2200" b="0" dirty="0">
                <a:solidFill>
                  <a:srgbClr val="000000"/>
                </a:solidFill>
                <a:latin typeface="Times New Roman" panose="02020603050405020304"/>
                <a:cs typeface="Times New Roman" panose="02020603050405020304"/>
              </a:rPr>
              <a:t>manage</a:t>
            </a:r>
            <a:r>
              <a:rPr sz="2200" b="0" spc="-30" dirty="0">
                <a:solidFill>
                  <a:srgbClr val="000000"/>
                </a:solidFill>
                <a:latin typeface="Times New Roman" panose="02020603050405020304"/>
                <a:cs typeface="Times New Roman" panose="02020603050405020304"/>
              </a:rPr>
              <a:t> </a:t>
            </a:r>
            <a:r>
              <a:rPr sz="2200" b="0" dirty="0">
                <a:solidFill>
                  <a:srgbClr val="000000"/>
                </a:solidFill>
                <a:latin typeface="Times New Roman" panose="02020603050405020304"/>
                <a:cs typeface="Times New Roman" panose="02020603050405020304"/>
              </a:rPr>
              <a:t>the</a:t>
            </a:r>
            <a:r>
              <a:rPr sz="2200" b="0" spc="-40" dirty="0">
                <a:solidFill>
                  <a:srgbClr val="000000"/>
                </a:solidFill>
                <a:latin typeface="Times New Roman" panose="02020603050405020304"/>
                <a:cs typeface="Times New Roman" panose="02020603050405020304"/>
              </a:rPr>
              <a:t> </a:t>
            </a:r>
            <a:r>
              <a:rPr sz="2200" b="0" spc="-10" dirty="0">
                <a:solidFill>
                  <a:srgbClr val="000000"/>
                </a:solidFill>
                <a:latin typeface="Times New Roman" panose="02020603050405020304"/>
                <a:cs typeface="Times New Roman" panose="02020603050405020304"/>
              </a:rPr>
              <a:t>problem)</a:t>
            </a:r>
            <a:endParaRPr sz="2200">
              <a:latin typeface="Times New Roman" panose="02020603050405020304"/>
              <a:cs typeface="Times New Roman" panose="02020603050405020304"/>
            </a:endParaRPr>
          </a:p>
        </p:txBody>
      </p:sp>
      <p:sp>
        <p:nvSpPr>
          <p:cNvPr id="3" name="object 3"/>
          <p:cNvSpPr txBox="1"/>
          <p:nvPr/>
        </p:nvSpPr>
        <p:spPr>
          <a:xfrm>
            <a:off x="42163" y="487121"/>
            <a:ext cx="8966835" cy="5860415"/>
          </a:xfrm>
          <a:prstGeom prst="rect">
            <a:avLst/>
          </a:prstGeom>
        </p:spPr>
        <p:txBody>
          <a:bodyPr vert="horz" wrap="square" lIns="0" tIns="12065" rIns="0" bIns="0" rtlCol="0">
            <a:spAutoFit/>
          </a:bodyPr>
          <a:lstStyle/>
          <a:p>
            <a:pPr marL="465455" marR="80010" indent="-343535">
              <a:lnSpc>
                <a:spcPct val="100000"/>
              </a:lnSpc>
              <a:spcBef>
                <a:spcPts val="95"/>
              </a:spcBef>
              <a:buFont typeface="Microsoft Sans Serif" panose="020B0604020202020204"/>
              <a:buChar char="•"/>
              <a:tabLst>
                <a:tab pos="465455" algn="l"/>
              </a:tabLst>
            </a:pPr>
            <a:r>
              <a:rPr sz="2200" dirty="0">
                <a:latin typeface="Times New Roman" panose="02020603050405020304"/>
                <a:cs typeface="Times New Roman" panose="02020603050405020304"/>
              </a:rPr>
              <a:t>Once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data</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have</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been</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analyzed</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nursing</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diagnosis</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are</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formulated,</a:t>
            </a:r>
            <a:r>
              <a:rPr sz="2200" spc="-1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the </a:t>
            </a:r>
            <a:r>
              <a:rPr sz="2200" dirty="0">
                <a:latin typeface="Times New Roman" panose="02020603050405020304"/>
                <a:cs typeface="Times New Roman" panose="02020603050405020304"/>
              </a:rPr>
              <a:t>nurse</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delineated</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specific</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interventions</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directed</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solving</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or</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preventing</a:t>
            </a:r>
            <a:r>
              <a:rPr sz="2200" spc="-65"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the </a:t>
            </a:r>
            <a:r>
              <a:rPr sz="2200" dirty="0">
                <a:latin typeface="Times New Roman" panose="02020603050405020304"/>
                <a:cs typeface="Times New Roman" panose="02020603050405020304"/>
              </a:rPr>
              <a:t>problem</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identified</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in</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analysis.</a:t>
            </a:r>
            <a:r>
              <a:rPr sz="2200" spc="-10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plan</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must</a:t>
            </a:r>
            <a:r>
              <a:rPr sz="2200" spc="-25" dirty="0">
                <a:latin typeface="Times New Roman" panose="02020603050405020304"/>
                <a:cs typeface="Times New Roman" panose="02020603050405020304"/>
              </a:rPr>
              <a:t> </a:t>
            </a:r>
            <a:r>
              <a:rPr sz="2200" dirty="0">
                <a:latin typeface="Times New Roman" panose="02020603050405020304"/>
                <a:cs typeface="Times New Roman" panose="02020603050405020304"/>
              </a:rPr>
              <a:t>be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individualized</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for</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each</a:t>
            </a:r>
            <a:r>
              <a:rPr sz="2200" spc="-45"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pt.</a:t>
            </a:r>
            <a:endParaRPr sz="2200">
              <a:latin typeface="Times New Roman" panose="02020603050405020304"/>
              <a:cs typeface="Times New Roman" panose="02020603050405020304"/>
            </a:endParaRPr>
          </a:p>
          <a:p>
            <a:pPr marL="465455" marR="5080" indent="-343535">
              <a:lnSpc>
                <a:spcPct val="100000"/>
              </a:lnSpc>
              <a:spcBef>
                <a:spcPts val="530"/>
              </a:spcBef>
              <a:buFont typeface="Microsoft Sans Serif" panose="020B0604020202020204"/>
              <a:buChar char="•"/>
              <a:tabLst>
                <a:tab pos="465455" algn="l"/>
              </a:tabLst>
            </a:pPr>
            <a:r>
              <a:rPr sz="2200" dirty="0">
                <a:latin typeface="Times New Roman" panose="02020603050405020304"/>
                <a:cs typeface="Times New Roman" panose="02020603050405020304"/>
              </a:rPr>
              <a:t>Good</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planning</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will</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allow</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you</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promote</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beneficial</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effects.</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E.g.,</a:t>
            </a:r>
            <a:r>
              <a:rPr sz="2200" spc="-55"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good </a:t>
            </a:r>
            <a:r>
              <a:rPr sz="2200" dirty="0">
                <a:latin typeface="Times New Roman" panose="02020603050405020304"/>
                <a:cs typeface="Times New Roman" panose="02020603050405020304"/>
              </a:rPr>
              <a:t>planning</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will</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allow</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you</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anticipate</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adverse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effects</a:t>
            </a:r>
            <a:r>
              <a:rPr sz="2200" spc="-5" dirty="0">
                <a:latin typeface="Times New Roman" panose="02020603050405020304"/>
                <a:cs typeface="Times New Roman" panose="02020603050405020304"/>
              </a:rPr>
              <a:t> </a:t>
            </a:r>
            <a:r>
              <a:rPr sz="2200" dirty="0">
                <a:latin typeface="Times New Roman" panose="02020603050405020304"/>
                <a:cs typeface="Times New Roman" panose="02020603050405020304"/>
              </a:rPr>
              <a:t>–</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rather</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than</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react</a:t>
            </a:r>
            <a:r>
              <a:rPr sz="2200" spc="-35"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to </a:t>
            </a:r>
            <a:r>
              <a:rPr sz="2200" dirty="0">
                <a:latin typeface="Times New Roman" panose="02020603050405020304"/>
                <a:cs typeface="Times New Roman" panose="02020603050405020304"/>
              </a:rPr>
              <a:t>them</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after</a:t>
            </a:r>
            <a:r>
              <a:rPr sz="2200" spc="-1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45"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fact.</a:t>
            </a:r>
            <a:endParaRPr sz="2200">
              <a:latin typeface="Times New Roman" panose="02020603050405020304"/>
              <a:cs typeface="Times New Roman" panose="02020603050405020304"/>
            </a:endParaRPr>
          </a:p>
          <a:p>
            <a:pPr marL="355600" marR="684530" indent="-342900">
              <a:lnSpc>
                <a:spcPct val="100000"/>
              </a:lnSpc>
              <a:spcBef>
                <a:spcPts val="530"/>
              </a:spcBef>
              <a:buFont typeface="Microsoft Sans Serif" panose="020B0604020202020204"/>
              <a:buChar char="•"/>
              <a:tabLst>
                <a:tab pos="355600" algn="l"/>
              </a:tabLst>
            </a:pPr>
            <a:r>
              <a:rPr sz="2200" dirty="0">
                <a:latin typeface="Times New Roman" panose="02020603050405020304"/>
                <a:cs typeface="Times New Roman" panose="02020603050405020304"/>
              </a:rPr>
              <a:t>During</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planning</a:t>
            </a:r>
            <a:r>
              <a:rPr sz="2200" spc="-80" dirty="0">
                <a:latin typeface="Times New Roman" panose="02020603050405020304"/>
                <a:cs typeface="Times New Roman" panose="02020603050405020304"/>
              </a:rPr>
              <a:t> </a:t>
            </a:r>
            <a:r>
              <a:rPr sz="2200" dirty="0">
                <a:latin typeface="Times New Roman" panose="02020603050405020304"/>
                <a:cs typeface="Times New Roman" panose="02020603050405020304"/>
              </a:rPr>
              <a:t>phase,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goals</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outcome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criteria</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are</a:t>
            </a:r>
            <a:r>
              <a:rPr sz="2200" spc="-15" dirty="0">
                <a:latin typeface="Times New Roman" panose="02020603050405020304"/>
                <a:cs typeface="Times New Roman" panose="02020603050405020304"/>
              </a:rPr>
              <a:t> </a:t>
            </a:r>
            <a:r>
              <a:rPr sz="2200" dirty="0">
                <a:latin typeface="Times New Roman" panose="02020603050405020304"/>
                <a:cs typeface="Times New Roman" panose="02020603050405020304"/>
              </a:rPr>
              <a:t>formulated.</a:t>
            </a:r>
            <a:r>
              <a:rPr sz="2200" spc="-75"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The </a:t>
            </a:r>
            <a:r>
              <a:rPr sz="2200" dirty="0">
                <a:latin typeface="Times New Roman" panose="02020603050405020304"/>
                <a:cs typeface="Times New Roman" panose="02020603050405020304"/>
              </a:rPr>
              <a:t>expected</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outcome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describes</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maximum</a:t>
            </a:r>
            <a:r>
              <a:rPr sz="2200" spc="-20" dirty="0">
                <a:latin typeface="Times New Roman" panose="02020603050405020304"/>
                <a:cs typeface="Times New Roman" panose="02020603050405020304"/>
              </a:rPr>
              <a:t> </a:t>
            </a:r>
            <a:r>
              <a:rPr sz="2200" dirty="0">
                <a:latin typeface="Times New Roman" panose="02020603050405020304"/>
                <a:cs typeface="Times New Roman" panose="02020603050405020304"/>
              </a:rPr>
              <a:t>level</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wellness</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that</a:t>
            </a:r>
            <a:r>
              <a:rPr sz="2200" spc="-7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is </a:t>
            </a:r>
            <a:r>
              <a:rPr sz="2200" dirty="0">
                <a:latin typeface="Times New Roman" panose="02020603050405020304"/>
                <a:cs typeface="Times New Roman" panose="02020603050405020304"/>
              </a:rPr>
              <a:t>reasonably</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attainable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for</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6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patient.</a:t>
            </a:r>
            <a:endParaRPr sz="2200">
              <a:latin typeface="Times New Roman" panose="02020603050405020304"/>
              <a:cs typeface="Times New Roman" panose="02020603050405020304"/>
            </a:endParaRPr>
          </a:p>
          <a:p>
            <a:pPr marL="355600" marR="796925" indent="-342900">
              <a:lnSpc>
                <a:spcPct val="100000"/>
              </a:lnSpc>
              <a:spcBef>
                <a:spcPts val="530"/>
              </a:spcBef>
              <a:buFont typeface="Microsoft Sans Serif" panose="020B0604020202020204"/>
              <a:buChar char="•"/>
              <a:tabLst>
                <a:tab pos="355600" algn="l"/>
              </a:tabLst>
            </a:pPr>
            <a:r>
              <a:rPr sz="2200" dirty="0">
                <a:solidFill>
                  <a:srgbClr val="FF0066"/>
                </a:solidFill>
                <a:latin typeface="Times New Roman" panose="02020603050405020304"/>
                <a:cs typeface="Times New Roman" panose="02020603050405020304"/>
              </a:rPr>
              <a:t>Common</a:t>
            </a:r>
            <a:r>
              <a:rPr sz="2200" spc="-50" dirty="0">
                <a:solidFill>
                  <a:srgbClr val="FF0066"/>
                </a:solidFill>
                <a:latin typeface="Times New Roman" panose="02020603050405020304"/>
                <a:cs typeface="Times New Roman" panose="02020603050405020304"/>
              </a:rPr>
              <a:t> </a:t>
            </a:r>
            <a:r>
              <a:rPr sz="2200" dirty="0">
                <a:solidFill>
                  <a:srgbClr val="FF0066"/>
                </a:solidFill>
                <a:latin typeface="Times New Roman" panose="02020603050405020304"/>
                <a:cs typeface="Times New Roman" panose="02020603050405020304"/>
              </a:rPr>
              <a:t>expected</a:t>
            </a:r>
            <a:r>
              <a:rPr sz="2200" spc="-70" dirty="0">
                <a:solidFill>
                  <a:srgbClr val="FF0066"/>
                </a:solidFill>
                <a:latin typeface="Times New Roman" panose="02020603050405020304"/>
                <a:cs typeface="Times New Roman" panose="02020603050405020304"/>
              </a:rPr>
              <a:t> </a:t>
            </a:r>
            <a:r>
              <a:rPr sz="2200" dirty="0">
                <a:solidFill>
                  <a:srgbClr val="FF0066"/>
                </a:solidFill>
                <a:latin typeface="Times New Roman" panose="02020603050405020304"/>
                <a:cs typeface="Times New Roman" panose="02020603050405020304"/>
              </a:rPr>
              <a:t>patient</a:t>
            </a:r>
            <a:r>
              <a:rPr sz="2200" spc="-80" dirty="0">
                <a:solidFill>
                  <a:srgbClr val="FF0066"/>
                </a:solidFill>
                <a:latin typeface="Times New Roman" panose="02020603050405020304"/>
                <a:cs typeface="Times New Roman" panose="02020603050405020304"/>
              </a:rPr>
              <a:t> </a:t>
            </a:r>
            <a:r>
              <a:rPr sz="2200" dirty="0">
                <a:solidFill>
                  <a:srgbClr val="FF0066"/>
                </a:solidFill>
                <a:latin typeface="Times New Roman" panose="02020603050405020304"/>
                <a:cs typeface="Times New Roman" panose="02020603050405020304"/>
              </a:rPr>
              <a:t>outcomes</a:t>
            </a:r>
            <a:r>
              <a:rPr sz="2200" spc="-65" dirty="0">
                <a:solidFill>
                  <a:srgbClr val="FF0066"/>
                </a:solidFill>
                <a:latin typeface="Times New Roman" panose="02020603050405020304"/>
                <a:cs typeface="Times New Roman" panose="02020603050405020304"/>
              </a:rPr>
              <a:t> </a:t>
            </a:r>
            <a:r>
              <a:rPr sz="2200" dirty="0">
                <a:solidFill>
                  <a:srgbClr val="FF0066"/>
                </a:solidFill>
                <a:latin typeface="Times New Roman" panose="02020603050405020304"/>
                <a:cs typeface="Times New Roman" panose="02020603050405020304"/>
              </a:rPr>
              <a:t>related</a:t>
            </a:r>
            <a:r>
              <a:rPr sz="2200" spc="-65" dirty="0">
                <a:solidFill>
                  <a:srgbClr val="FF0066"/>
                </a:solidFill>
                <a:latin typeface="Times New Roman" panose="02020603050405020304"/>
                <a:cs typeface="Times New Roman" panose="02020603050405020304"/>
              </a:rPr>
              <a:t> </a:t>
            </a:r>
            <a:r>
              <a:rPr sz="2200" dirty="0">
                <a:solidFill>
                  <a:srgbClr val="FF0066"/>
                </a:solidFill>
                <a:latin typeface="Times New Roman" panose="02020603050405020304"/>
                <a:cs typeface="Times New Roman" panose="02020603050405020304"/>
              </a:rPr>
              <a:t>to</a:t>
            </a:r>
            <a:r>
              <a:rPr sz="2200" spc="-85" dirty="0">
                <a:solidFill>
                  <a:srgbClr val="FF0066"/>
                </a:solidFill>
                <a:latin typeface="Times New Roman" panose="02020603050405020304"/>
                <a:cs typeface="Times New Roman" panose="02020603050405020304"/>
              </a:rPr>
              <a:t> </a:t>
            </a:r>
            <a:r>
              <a:rPr sz="2200" dirty="0">
                <a:solidFill>
                  <a:srgbClr val="FF0066"/>
                </a:solidFill>
                <a:latin typeface="Times New Roman" panose="02020603050405020304"/>
                <a:cs typeface="Times New Roman" panose="02020603050405020304"/>
              </a:rPr>
              <a:t>drug</a:t>
            </a:r>
            <a:r>
              <a:rPr sz="2200" spc="-80" dirty="0">
                <a:solidFill>
                  <a:srgbClr val="FF0066"/>
                </a:solidFill>
                <a:latin typeface="Times New Roman" panose="02020603050405020304"/>
                <a:cs typeface="Times New Roman" panose="02020603050405020304"/>
              </a:rPr>
              <a:t> </a:t>
            </a:r>
            <a:r>
              <a:rPr sz="2200" dirty="0">
                <a:solidFill>
                  <a:srgbClr val="FF0066"/>
                </a:solidFill>
                <a:latin typeface="Times New Roman" panose="02020603050405020304"/>
                <a:cs typeface="Times New Roman" panose="02020603050405020304"/>
              </a:rPr>
              <a:t>administration,</a:t>
            </a:r>
            <a:r>
              <a:rPr sz="2200" spc="-60" dirty="0">
                <a:solidFill>
                  <a:srgbClr val="FF0066"/>
                </a:solidFill>
                <a:latin typeface="Times New Roman" panose="02020603050405020304"/>
                <a:cs typeface="Times New Roman" panose="02020603050405020304"/>
              </a:rPr>
              <a:t> </a:t>
            </a:r>
            <a:r>
              <a:rPr sz="2200" spc="-25" dirty="0">
                <a:solidFill>
                  <a:srgbClr val="FF0066"/>
                </a:solidFill>
                <a:latin typeface="Times New Roman" panose="02020603050405020304"/>
                <a:cs typeface="Times New Roman" panose="02020603050405020304"/>
              </a:rPr>
              <a:t>in </a:t>
            </a:r>
            <a:r>
              <a:rPr sz="2200" dirty="0">
                <a:solidFill>
                  <a:srgbClr val="FF0066"/>
                </a:solidFill>
                <a:latin typeface="Times New Roman" panose="02020603050405020304"/>
                <a:cs typeface="Times New Roman" panose="02020603050405020304"/>
              </a:rPr>
              <a:t>general,</a:t>
            </a:r>
            <a:r>
              <a:rPr sz="2200" spc="-75" dirty="0">
                <a:solidFill>
                  <a:srgbClr val="FF0066"/>
                </a:solidFill>
                <a:latin typeface="Times New Roman" panose="02020603050405020304"/>
                <a:cs typeface="Times New Roman" panose="02020603050405020304"/>
              </a:rPr>
              <a:t> </a:t>
            </a:r>
            <a:r>
              <a:rPr sz="2200" spc="-10" dirty="0">
                <a:solidFill>
                  <a:srgbClr val="FF0066"/>
                </a:solidFill>
                <a:latin typeface="Times New Roman" panose="02020603050405020304"/>
                <a:cs typeface="Times New Roman" panose="02020603050405020304"/>
              </a:rPr>
              <a:t>include:</a:t>
            </a:r>
            <a:endParaRPr sz="2200">
              <a:latin typeface="Times New Roman" panose="02020603050405020304"/>
              <a:cs typeface="Times New Roman" panose="02020603050405020304"/>
            </a:endParaRPr>
          </a:p>
          <a:p>
            <a:pPr marL="354965" indent="-342265">
              <a:lnSpc>
                <a:spcPct val="100000"/>
              </a:lnSpc>
              <a:spcBef>
                <a:spcPts val="530"/>
              </a:spcBef>
              <a:buFont typeface="Wingdings" panose="05000000000000000000"/>
              <a:buChar char=""/>
              <a:tabLst>
                <a:tab pos="354965" algn="l"/>
              </a:tabLst>
            </a:pPr>
            <a:r>
              <a:rPr sz="2200" dirty="0">
                <a:latin typeface="Times New Roman" panose="02020603050405020304"/>
                <a:cs typeface="Times New Roman" panose="02020603050405020304"/>
              </a:rPr>
              <a:t>greater</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accuracy</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in</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5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administration,</a:t>
            </a:r>
            <a:endParaRPr sz="2200">
              <a:latin typeface="Times New Roman" panose="02020603050405020304"/>
              <a:cs typeface="Times New Roman" panose="02020603050405020304"/>
            </a:endParaRPr>
          </a:p>
          <a:p>
            <a:pPr marL="354965" indent="-342265">
              <a:lnSpc>
                <a:spcPct val="100000"/>
              </a:lnSpc>
              <a:spcBef>
                <a:spcPts val="530"/>
              </a:spcBef>
              <a:buFont typeface="Wingdings" panose="05000000000000000000"/>
              <a:buChar char=""/>
              <a:tabLst>
                <a:tab pos="354965" algn="l"/>
              </a:tabLst>
            </a:pPr>
            <a:r>
              <a:rPr sz="2200" dirty="0">
                <a:latin typeface="Times New Roman" panose="02020603050405020304"/>
                <a:cs typeface="Times New Roman" panose="02020603050405020304"/>
              </a:rPr>
              <a:t>patient</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understanding</a:t>
            </a:r>
            <a:r>
              <a:rPr sz="2200" spc="-75"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regimen,</a:t>
            </a:r>
            <a:r>
              <a:rPr sz="2200" spc="-35"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and</a:t>
            </a:r>
            <a:endParaRPr sz="2200">
              <a:latin typeface="Times New Roman" panose="02020603050405020304"/>
              <a:cs typeface="Times New Roman" panose="02020603050405020304"/>
            </a:endParaRPr>
          </a:p>
          <a:p>
            <a:pPr marL="355600" marR="1066800" indent="-342900">
              <a:lnSpc>
                <a:spcPct val="100000"/>
              </a:lnSpc>
              <a:spcBef>
                <a:spcPts val="530"/>
              </a:spcBef>
              <a:buFont typeface="Wingdings" panose="05000000000000000000"/>
              <a:buChar char=""/>
              <a:tabLst>
                <a:tab pos="355600" algn="l"/>
              </a:tabLst>
            </a:pPr>
            <a:r>
              <a:rPr sz="2200" dirty="0">
                <a:latin typeface="Times New Roman" panose="02020603050405020304"/>
                <a:cs typeface="Times New Roman" panose="02020603050405020304"/>
              </a:rPr>
              <a:t>improved</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patient</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compliance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with</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prescribed</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therapy</a:t>
            </a:r>
            <a:r>
              <a:rPr sz="2200" spc="-6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after </a:t>
            </a:r>
            <a:r>
              <a:rPr sz="2200" dirty="0">
                <a:latin typeface="Times New Roman" panose="02020603050405020304"/>
                <a:cs typeface="Times New Roman" panose="02020603050405020304"/>
              </a:rPr>
              <a:t>discharge</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from</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7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hospital.</a:t>
            </a:r>
            <a:endParaRPr sz="2200">
              <a:latin typeface="Times New Roman" panose="02020603050405020304"/>
              <a:cs typeface="Times New Roman" panose="02020603050405020304"/>
            </a:endParaRPr>
          </a:p>
          <a:p>
            <a:pPr marL="354965" indent="-342265">
              <a:lnSpc>
                <a:spcPct val="100000"/>
              </a:lnSpc>
              <a:spcBef>
                <a:spcPts val="525"/>
              </a:spcBef>
              <a:buFont typeface="Microsoft Sans Serif" panose="020B0604020202020204"/>
              <a:buChar char="•"/>
              <a:tabLst>
                <a:tab pos="354965" algn="l"/>
              </a:tabLst>
            </a:pPr>
            <a:r>
              <a:rPr sz="2200" dirty="0">
                <a:latin typeface="Times New Roman" panose="02020603050405020304"/>
                <a:cs typeface="Times New Roman" panose="02020603050405020304"/>
              </a:rPr>
              <a:t>Planning</a:t>
            </a:r>
            <a:r>
              <a:rPr sz="2200" spc="-25" dirty="0">
                <a:latin typeface="Times New Roman" panose="02020603050405020304"/>
                <a:cs typeface="Times New Roman" panose="02020603050405020304"/>
              </a:rPr>
              <a:t> </a:t>
            </a:r>
            <a:r>
              <a:rPr sz="2200" dirty="0">
                <a:latin typeface="Times New Roman" panose="02020603050405020304"/>
                <a:cs typeface="Times New Roman" panose="02020603050405020304"/>
              </a:rPr>
              <a:t>is</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a</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going</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process</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that</a:t>
            </a:r>
            <a:r>
              <a:rPr sz="2200" spc="-30" dirty="0">
                <a:latin typeface="Times New Roman" panose="02020603050405020304"/>
                <a:cs typeface="Times New Roman" panose="02020603050405020304"/>
              </a:rPr>
              <a:t> </a:t>
            </a:r>
            <a:r>
              <a:rPr sz="2200" dirty="0">
                <a:latin typeface="Times New Roman" panose="02020603050405020304"/>
                <a:cs typeface="Times New Roman" panose="02020603050405020304"/>
              </a:rPr>
              <a:t>must</a:t>
            </a:r>
            <a:r>
              <a:rPr sz="2200" spc="-15" dirty="0">
                <a:latin typeface="Times New Roman" panose="02020603050405020304"/>
                <a:cs typeface="Times New Roman" panose="02020603050405020304"/>
              </a:rPr>
              <a:t> </a:t>
            </a:r>
            <a:r>
              <a:rPr sz="2200" dirty="0">
                <a:latin typeface="Times New Roman" panose="02020603050405020304"/>
                <a:cs typeface="Times New Roman" panose="02020603050405020304"/>
              </a:rPr>
              <a:t>be</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modified</a:t>
            </a:r>
            <a:r>
              <a:rPr sz="2200" spc="-10" dirty="0">
                <a:latin typeface="Times New Roman" panose="02020603050405020304"/>
                <a:cs typeface="Times New Roman" panose="02020603050405020304"/>
              </a:rPr>
              <a:t> </a:t>
            </a:r>
            <a:r>
              <a:rPr sz="2200" dirty="0">
                <a:latin typeface="Times New Roman" panose="02020603050405020304"/>
                <a:cs typeface="Times New Roman" panose="02020603050405020304"/>
              </a:rPr>
              <a:t>as</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new</a:t>
            </a:r>
            <a:r>
              <a:rPr sz="2200" spc="-30" dirty="0">
                <a:latin typeface="Times New Roman" panose="02020603050405020304"/>
                <a:cs typeface="Times New Roman" panose="02020603050405020304"/>
              </a:rPr>
              <a:t> </a:t>
            </a:r>
            <a:r>
              <a:rPr sz="2200" dirty="0">
                <a:latin typeface="Times New Roman" panose="02020603050405020304"/>
                <a:cs typeface="Times New Roman" panose="02020603050405020304"/>
              </a:rPr>
              <a:t>data</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are</a:t>
            </a:r>
            <a:r>
              <a:rPr sz="2200" spc="-3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gathered.</a:t>
            </a:r>
            <a:endParaRPr sz="2200">
              <a:latin typeface="Times New Roman" panose="02020603050405020304"/>
              <a:cs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9526" y="90296"/>
            <a:ext cx="3094355" cy="482600"/>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FF0000"/>
                </a:solidFill>
              </a:rPr>
              <a:t>Planning</a:t>
            </a:r>
            <a:r>
              <a:rPr sz="3000" spc="-10" dirty="0">
                <a:solidFill>
                  <a:srgbClr val="FF0000"/>
                </a:solidFill>
              </a:rPr>
              <a:t> </a:t>
            </a:r>
            <a:r>
              <a:rPr sz="3000" dirty="0">
                <a:solidFill>
                  <a:srgbClr val="FF0000"/>
                </a:solidFill>
              </a:rPr>
              <a:t>consist</a:t>
            </a:r>
            <a:r>
              <a:rPr sz="3000" spc="-5" dirty="0">
                <a:solidFill>
                  <a:srgbClr val="FF0000"/>
                </a:solidFill>
              </a:rPr>
              <a:t> </a:t>
            </a:r>
            <a:r>
              <a:rPr sz="3000" spc="-25" dirty="0">
                <a:solidFill>
                  <a:srgbClr val="FF0000"/>
                </a:solidFill>
              </a:rPr>
              <a:t>of</a:t>
            </a:r>
            <a:endParaRPr sz="3000"/>
          </a:p>
        </p:txBody>
      </p:sp>
      <p:sp>
        <p:nvSpPr>
          <p:cNvPr id="3" name="object 3"/>
          <p:cNvSpPr txBox="1"/>
          <p:nvPr/>
        </p:nvSpPr>
        <p:spPr>
          <a:xfrm>
            <a:off x="8026" y="593216"/>
            <a:ext cx="8941435" cy="5783580"/>
          </a:xfrm>
          <a:prstGeom prst="rect">
            <a:avLst/>
          </a:prstGeom>
        </p:spPr>
        <p:txBody>
          <a:bodyPr vert="horz" wrap="square" lIns="0" tIns="57150" rIns="0" bIns="0" rtlCol="0">
            <a:spAutoFit/>
          </a:bodyPr>
          <a:lstStyle/>
          <a:p>
            <a:pPr marL="469900" marR="243205" indent="-457200">
              <a:lnSpc>
                <a:spcPct val="90000"/>
              </a:lnSpc>
              <a:spcBef>
                <a:spcPts val="450"/>
              </a:spcBef>
              <a:buFont typeface="Microsoft Sans Serif" panose="020B0604020202020204"/>
              <a:buChar char="•"/>
              <a:tabLst>
                <a:tab pos="469900" algn="l"/>
                <a:tab pos="5021580" algn="l"/>
              </a:tabLst>
            </a:pPr>
            <a:r>
              <a:rPr sz="3000" b="1" u="sng" dirty="0">
                <a:solidFill>
                  <a:srgbClr val="000099"/>
                </a:solidFill>
                <a:uFill>
                  <a:solidFill>
                    <a:srgbClr val="000099"/>
                  </a:solidFill>
                </a:uFill>
                <a:latin typeface="Times New Roman" panose="02020603050405020304"/>
                <a:cs typeface="Times New Roman" panose="02020603050405020304"/>
              </a:rPr>
              <a:t>1.</a:t>
            </a:r>
            <a:r>
              <a:rPr sz="3000" b="1" u="sng" spc="-20" dirty="0">
                <a:solidFill>
                  <a:srgbClr val="000099"/>
                </a:solidFill>
                <a:uFill>
                  <a:solidFill>
                    <a:srgbClr val="000099"/>
                  </a:solidFill>
                </a:uFill>
                <a:latin typeface="Times New Roman" panose="02020603050405020304"/>
                <a:cs typeface="Times New Roman" panose="02020603050405020304"/>
              </a:rPr>
              <a:t> </a:t>
            </a:r>
            <a:r>
              <a:rPr sz="3000" b="1" u="sng" dirty="0">
                <a:solidFill>
                  <a:srgbClr val="000099"/>
                </a:solidFill>
                <a:uFill>
                  <a:solidFill>
                    <a:srgbClr val="000099"/>
                  </a:solidFill>
                </a:uFill>
                <a:latin typeface="Times New Roman" panose="02020603050405020304"/>
                <a:cs typeface="Times New Roman" panose="02020603050405020304"/>
              </a:rPr>
              <a:t>Defining</a:t>
            </a:r>
            <a:r>
              <a:rPr sz="3000" b="1" u="sng" spc="-10" dirty="0">
                <a:solidFill>
                  <a:srgbClr val="000099"/>
                </a:solidFill>
                <a:uFill>
                  <a:solidFill>
                    <a:srgbClr val="000099"/>
                  </a:solidFill>
                </a:uFill>
                <a:latin typeface="Times New Roman" panose="02020603050405020304"/>
                <a:cs typeface="Times New Roman" panose="02020603050405020304"/>
              </a:rPr>
              <a:t> </a:t>
            </a:r>
            <a:r>
              <a:rPr sz="3000" b="1" u="sng" dirty="0">
                <a:solidFill>
                  <a:srgbClr val="000099"/>
                </a:solidFill>
                <a:uFill>
                  <a:solidFill>
                    <a:srgbClr val="000099"/>
                  </a:solidFill>
                </a:uFill>
                <a:latin typeface="Times New Roman" panose="02020603050405020304"/>
                <a:cs typeface="Times New Roman" panose="02020603050405020304"/>
              </a:rPr>
              <a:t>goals:</a:t>
            </a:r>
            <a:r>
              <a:rPr sz="3000" b="1" u="sng" spc="-5" dirty="0">
                <a:solidFill>
                  <a:srgbClr val="000099"/>
                </a:solidFill>
                <a:uFill>
                  <a:solidFill>
                    <a:srgbClr val="000099"/>
                  </a:solidFill>
                </a:uFill>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objective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planning</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formulate </a:t>
            </a:r>
            <a:r>
              <a:rPr sz="2600" dirty="0">
                <a:latin typeface="Times New Roman" panose="02020603050405020304"/>
                <a:cs typeface="Times New Roman" panose="02020603050405020304"/>
              </a:rPr>
              <a:t>ways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achieve</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goal</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therapy</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maximum</a:t>
            </a:r>
            <a:r>
              <a:rPr sz="2600" spc="-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benefit </a:t>
            </a:r>
            <a:r>
              <a:rPr sz="2600" dirty="0">
                <a:latin typeface="Times New Roman" panose="02020603050405020304"/>
                <a:cs typeface="Times New Roman" panose="02020603050405020304"/>
              </a:rPr>
              <a:t>(maximize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therapeutic</a:t>
            </a:r>
            <a:r>
              <a:rPr sz="2600" spc="-4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response)</a:t>
            </a:r>
            <a:r>
              <a:rPr sz="2600" dirty="0">
                <a:latin typeface="Times New Roman" panose="02020603050405020304"/>
                <a:cs typeface="Times New Roman" panose="02020603050405020304"/>
              </a:rPr>
              <a:t>	with</a:t>
            </a:r>
            <a:r>
              <a:rPr sz="2600" spc="-60" dirty="0">
                <a:latin typeface="Times New Roman" panose="02020603050405020304"/>
                <a:cs typeface="Times New Roman" panose="02020603050405020304"/>
              </a:rPr>
              <a:t> </a:t>
            </a:r>
            <a:r>
              <a:rPr sz="2600" dirty="0">
                <a:latin typeface="Times New Roman" panose="02020603050405020304"/>
                <a:cs typeface="Times New Roman" panose="02020603050405020304"/>
              </a:rPr>
              <a:t>minimum</a:t>
            </a:r>
            <a:r>
              <a:rPr sz="2600" spc="-35" dirty="0">
                <a:latin typeface="Times New Roman" panose="02020603050405020304"/>
                <a:cs typeface="Times New Roman" panose="02020603050405020304"/>
              </a:rPr>
              <a:t> </a:t>
            </a:r>
            <a:r>
              <a:rPr sz="2600" spc="-20" dirty="0">
                <a:latin typeface="Times New Roman" panose="02020603050405020304"/>
                <a:cs typeface="Times New Roman" panose="02020603050405020304"/>
              </a:rPr>
              <a:t>harm </a:t>
            </a:r>
            <a:r>
              <a:rPr sz="2600" dirty="0">
                <a:latin typeface="Times New Roman" panose="02020603050405020304"/>
                <a:cs typeface="Times New Roman" panose="02020603050405020304"/>
              </a:rPr>
              <a:t>(minimizing</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preventing</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adverse</a:t>
            </a:r>
            <a:r>
              <a:rPr sz="2600" spc="-55" dirty="0">
                <a:latin typeface="Times New Roman" panose="02020603050405020304"/>
                <a:cs typeface="Times New Roman" panose="02020603050405020304"/>
              </a:rPr>
              <a:t> </a:t>
            </a:r>
            <a:r>
              <a:rPr sz="2600" dirty="0">
                <a:latin typeface="Times New Roman" panose="02020603050405020304"/>
                <a:cs typeface="Times New Roman" panose="02020603050405020304"/>
              </a:rPr>
              <a:t>reactions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&amp;</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interactions). </a:t>
            </a:r>
            <a:r>
              <a:rPr sz="2600" dirty="0">
                <a:latin typeface="Times New Roman" panose="02020603050405020304"/>
                <a:cs typeface="Times New Roman" panose="02020603050405020304"/>
              </a:rPr>
              <a:t>The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objective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planning</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formulate</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ways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achieve</a:t>
            </a:r>
            <a:r>
              <a:rPr sz="2600" spc="-20" dirty="0">
                <a:latin typeface="Times New Roman" panose="02020603050405020304"/>
                <a:cs typeface="Times New Roman" panose="02020603050405020304"/>
              </a:rPr>
              <a:t> this </a:t>
            </a:r>
            <a:r>
              <a:rPr sz="2600" spc="-10" dirty="0">
                <a:latin typeface="Times New Roman" panose="02020603050405020304"/>
                <a:cs typeface="Times New Roman" panose="02020603050405020304"/>
              </a:rPr>
              <a:t>goal.</a:t>
            </a:r>
            <a:endParaRPr sz="2600">
              <a:latin typeface="Times New Roman" panose="02020603050405020304"/>
              <a:cs typeface="Times New Roman" panose="02020603050405020304"/>
            </a:endParaRPr>
          </a:p>
          <a:p>
            <a:pPr marL="469900" marR="5080" indent="-457200">
              <a:lnSpc>
                <a:spcPct val="90000"/>
              </a:lnSpc>
              <a:spcBef>
                <a:spcPts val="700"/>
              </a:spcBef>
              <a:buFont typeface="Microsoft Sans Serif" panose="020B0604020202020204"/>
              <a:buChar char="•"/>
              <a:tabLst>
                <a:tab pos="469900" algn="l"/>
              </a:tabLst>
            </a:pPr>
            <a:r>
              <a:rPr sz="3000" b="1" u="sng" dirty="0">
                <a:solidFill>
                  <a:srgbClr val="000099"/>
                </a:solidFill>
                <a:uFill>
                  <a:solidFill>
                    <a:srgbClr val="000099"/>
                  </a:solidFill>
                </a:uFill>
                <a:latin typeface="Times New Roman" panose="02020603050405020304"/>
                <a:cs typeface="Times New Roman" panose="02020603050405020304"/>
              </a:rPr>
              <a:t>2.</a:t>
            </a:r>
            <a:r>
              <a:rPr sz="3000" b="1" u="sng" spc="-55" dirty="0">
                <a:solidFill>
                  <a:srgbClr val="000099"/>
                </a:solidFill>
                <a:uFill>
                  <a:solidFill>
                    <a:srgbClr val="000099"/>
                  </a:solidFill>
                </a:uFill>
                <a:latin typeface="Times New Roman" panose="02020603050405020304"/>
                <a:cs typeface="Times New Roman" panose="02020603050405020304"/>
              </a:rPr>
              <a:t> </a:t>
            </a:r>
            <a:r>
              <a:rPr sz="3000" b="1" u="sng" dirty="0">
                <a:solidFill>
                  <a:srgbClr val="000099"/>
                </a:solidFill>
                <a:uFill>
                  <a:solidFill>
                    <a:srgbClr val="000099"/>
                  </a:solidFill>
                </a:uFill>
                <a:latin typeface="Times New Roman" panose="02020603050405020304"/>
                <a:cs typeface="Times New Roman" panose="02020603050405020304"/>
              </a:rPr>
              <a:t>Setting</a:t>
            </a:r>
            <a:r>
              <a:rPr sz="3000" b="1" u="sng" spc="-35" dirty="0">
                <a:solidFill>
                  <a:srgbClr val="000099"/>
                </a:solidFill>
                <a:uFill>
                  <a:solidFill>
                    <a:srgbClr val="000099"/>
                  </a:solidFill>
                </a:uFill>
                <a:latin typeface="Times New Roman" panose="02020603050405020304"/>
                <a:cs typeface="Times New Roman" panose="02020603050405020304"/>
              </a:rPr>
              <a:t> </a:t>
            </a:r>
            <a:r>
              <a:rPr sz="3000" b="1" u="sng" dirty="0">
                <a:solidFill>
                  <a:srgbClr val="000099"/>
                </a:solidFill>
                <a:uFill>
                  <a:solidFill>
                    <a:srgbClr val="000099"/>
                  </a:solidFill>
                </a:uFill>
                <a:latin typeface="Times New Roman" panose="02020603050405020304"/>
                <a:cs typeface="Times New Roman" panose="02020603050405020304"/>
              </a:rPr>
              <a:t>priorities</a:t>
            </a:r>
            <a:r>
              <a:rPr sz="3000" dirty="0">
                <a:latin typeface="Times New Roman" panose="02020603050405020304"/>
                <a:cs typeface="Times New Roman" panose="02020603050405020304"/>
              </a:rPr>
              <a:t>:</a:t>
            </a:r>
            <a:r>
              <a:rPr sz="30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it</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extremely</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difficult</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&amp;</a:t>
            </a:r>
            <a:r>
              <a:rPr sz="2600" spc="-4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requires </a:t>
            </a:r>
            <a:r>
              <a:rPr sz="2600" dirty="0">
                <a:latin typeface="Times New Roman" panose="02020603050405020304"/>
                <a:cs typeface="Times New Roman" panose="02020603050405020304"/>
              </a:rPr>
              <a:t>information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about</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under</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consideration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&amp;</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patient's </a:t>
            </a:r>
            <a:r>
              <a:rPr sz="2600" dirty="0">
                <a:latin typeface="Times New Roman" panose="02020603050405020304"/>
                <a:cs typeface="Times New Roman" panose="02020603050405020304"/>
              </a:rPr>
              <a:t>unique</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characteristics.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Highest</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priority</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given</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5" dirty="0">
                <a:latin typeface="Times New Roman" panose="02020603050405020304"/>
                <a:cs typeface="Times New Roman" panose="02020603050405020304"/>
              </a:rPr>
              <a:t> </a:t>
            </a:r>
            <a:r>
              <a:rPr sz="2600" spc="-20" dirty="0">
                <a:latin typeface="Times New Roman" panose="02020603050405020304"/>
                <a:cs typeface="Times New Roman" panose="02020603050405020304"/>
              </a:rPr>
              <a:t>life </a:t>
            </a:r>
            <a:r>
              <a:rPr sz="2600" dirty="0">
                <a:latin typeface="Times New Roman" panose="02020603050405020304"/>
                <a:cs typeface="Times New Roman" panose="02020603050405020304"/>
              </a:rPr>
              <a:t>threatening</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conditions.</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(e.g,</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anaphylactic</a:t>
            </a:r>
            <a:r>
              <a:rPr sz="2600" spc="-55" dirty="0">
                <a:latin typeface="Times New Roman" panose="02020603050405020304"/>
                <a:cs typeface="Times New Roman" panose="02020603050405020304"/>
              </a:rPr>
              <a:t> </a:t>
            </a:r>
            <a:r>
              <a:rPr sz="2600" dirty="0">
                <a:latin typeface="Times New Roman" panose="02020603050405020304"/>
                <a:cs typeface="Times New Roman" panose="02020603050405020304"/>
              </a:rPr>
              <a:t>shock,</a:t>
            </a:r>
            <a:r>
              <a:rPr sz="2600" spc="-3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ventricular </a:t>
            </a:r>
            <a:r>
              <a:rPr sz="2600" dirty="0">
                <a:latin typeface="Times New Roman" panose="02020603050405020304"/>
                <a:cs typeface="Times New Roman" panose="02020603050405020304"/>
              </a:rPr>
              <a:t>fibrillation).</a:t>
            </a:r>
            <a:r>
              <a:rPr sz="2600" spc="-7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These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may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be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induced</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result</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disease.</a:t>
            </a:r>
            <a:endParaRPr sz="2600">
              <a:latin typeface="Times New Roman" panose="02020603050405020304"/>
              <a:cs typeface="Times New Roman" panose="02020603050405020304"/>
            </a:endParaRPr>
          </a:p>
          <a:p>
            <a:pPr marL="469900" marR="207645" indent="-457200">
              <a:lnSpc>
                <a:spcPts val="2810"/>
              </a:lnSpc>
              <a:spcBef>
                <a:spcPts val="660"/>
              </a:spcBef>
              <a:buFont typeface="Microsoft Sans Serif" panose="020B0604020202020204"/>
              <a:buChar char="•"/>
              <a:tabLst>
                <a:tab pos="469900" algn="l"/>
              </a:tabLst>
            </a:pPr>
            <a:r>
              <a:rPr sz="2600" dirty="0">
                <a:latin typeface="Times New Roman" panose="02020603050405020304"/>
                <a:cs typeface="Times New Roman" panose="02020603050405020304"/>
              </a:rPr>
              <a:t>High</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priority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also</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given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reactions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cause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severe,</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acute </a:t>
            </a:r>
            <a:r>
              <a:rPr sz="2600" dirty="0">
                <a:latin typeface="Times New Roman" panose="02020603050405020304"/>
                <a:cs typeface="Times New Roman" panose="02020603050405020304"/>
              </a:rPr>
              <a:t>discomfort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reactions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can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result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in</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long-term</a:t>
            </a:r>
            <a:r>
              <a:rPr sz="2600" spc="-3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harm.</a:t>
            </a:r>
            <a:endParaRPr sz="2600">
              <a:latin typeface="Times New Roman" panose="02020603050405020304"/>
              <a:cs typeface="Times New Roman" panose="02020603050405020304"/>
            </a:endParaRPr>
          </a:p>
          <a:p>
            <a:pPr marL="469900" marR="387350" indent="-457200">
              <a:lnSpc>
                <a:spcPts val="2810"/>
              </a:lnSpc>
              <a:spcBef>
                <a:spcPts val="625"/>
              </a:spcBef>
              <a:buFont typeface="Microsoft Sans Serif" panose="020B0604020202020204"/>
              <a:buChar char="•"/>
              <a:tabLst>
                <a:tab pos="469900" algn="l"/>
              </a:tabLst>
            </a:pPr>
            <a:r>
              <a:rPr sz="2600" dirty="0">
                <a:latin typeface="Times New Roman" panose="02020603050405020304"/>
                <a:cs typeface="Times New Roman" panose="02020603050405020304"/>
              </a:rPr>
              <a:t>Since</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we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cannot</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manage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all</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problems</a:t>
            </a:r>
            <a:r>
              <a:rPr sz="2600" spc="-4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simultaneously,</a:t>
            </a:r>
            <a:r>
              <a:rPr sz="2600" spc="-20" dirty="0">
                <a:latin typeface="Times New Roman" panose="02020603050405020304"/>
                <a:cs typeface="Times New Roman" panose="02020603050405020304"/>
              </a:rPr>
              <a:t> less </a:t>
            </a:r>
            <a:r>
              <a:rPr sz="2600" dirty="0">
                <a:latin typeface="Times New Roman" panose="02020603050405020304"/>
                <a:cs typeface="Times New Roman" panose="02020603050405020304"/>
              </a:rPr>
              <a:t>severe</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problems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must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wait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until</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patient</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care</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provider</a:t>
            </a:r>
            <a:endParaRPr sz="2600">
              <a:latin typeface="Times New Roman" panose="02020603050405020304"/>
              <a:cs typeface="Times New Roman" panose="02020603050405020304"/>
            </a:endParaRPr>
          </a:p>
        </p:txBody>
      </p:sp>
      <p:sp>
        <p:nvSpPr>
          <p:cNvPr id="4" name="object 4"/>
          <p:cNvSpPr txBox="1"/>
          <p:nvPr/>
        </p:nvSpPr>
        <p:spPr>
          <a:xfrm>
            <a:off x="465226" y="6310985"/>
            <a:ext cx="5923280" cy="422275"/>
          </a:xfrm>
          <a:prstGeom prst="rect">
            <a:avLst/>
          </a:prstGeom>
        </p:spPr>
        <p:txBody>
          <a:bodyPr vert="horz" wrap="square" lIns="0" tIns="12700" rIns="0" bIns="0" rtlCol="0">
            <a:spAutoFit/>
          </a:bodyPr>
          <a:lstStyle/>
          <a:p>
            <a:pPr marL="12700">
              <a:lnSpc>
                <a:spcPct val="100000"/>
              </a:lnSpc>
              <a:spcBef>
                <a:spcPts val="100"/>
              </a:spcBef>
            </a:pPr>
            <a:r>
              <a:rPr sz="2600" dirty="0">
                <a:latin typeface="Times New Roman" panose="02020603050405020304"/>
                <a:cs typeface="Times New Roman" panose="02020603050405020304"/>
              </a:rPr>
              <a:t>have</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time and</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resources</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address</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them.</a:t>
            </a:r>
            <a:endParaRPr sz="2600">
              <a:latin typeface="Times New Roman" panose="02020603050405020304"/>
              <a:cs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300" y="-25400"/>
            <a:ext cx="8609330" cy="6486525"/>
          </a:xfrm>
          <a:prstGeom prst="rect">
            <a:avLst/>
          </a:prstGeom>
        </p:spPr>
        <p:txBody>
          <a:bodyPr vert="horz" wrap="square" lIns="0" tIns="78740" rIns="0" bIns="0" rtlCol="0">
            <a:noAutofit/>
          </a:bodyPr>
          <a:lstStyle/>
          <a:p>
            <a:pPr marL="222250" marR="416560" indent="-222250">
              <a:lnSpc>
                <a:spcPct val="80000"/>
              </a:lnSpc>
              <a:spcBef>
                <a:spcPts val="620"/>
              </a:spcBef>
              <a:buAutoNum type="arabicPeriod" startAt="3"/>
              <a:tabLst>
                <a:tab pos="355600" algn="l"/>
              </a:tabLst>
            </a:pPr>
            <a:r>
              <a:rPr sz="2200" b="1" u="sng" spc="-60" dirty="0">
                <a:solidFill>
                  <a:srgbClr val="000099"/>
                </a:solidFill>
                <a:uFill>
                  <a:solidFill>
                    <a:srgbClr val="000099"/>
                  </a:solidFill>
                </a:uFill>
                <a:latin typeface="Times New Roman" panose="02020603050405020304"/>
                <a:cs typeface="Times New Roman" panose="02020603050405020304"/>
              </a:rPr>
              <a:t> </a:t>
            </a:r>
            <a:r>
              <a:rPr sz="2200" b="1" u="sng" dirty="0">
                <a:solidFill>
                  <a:srgbClr val="000099"/>
                </a:solidFill>
                <a:uFill>
                  <a:solidFill>
                    <a:srgbClr val="000099"/>
                  </a:solidFill>
                </a:uFill>
                <a:latin typeface="Times New Roman" panose="02020603050405020304"/>
                <a:cs typeface="Times New Roman" panose="02020603050405020304"/>
              </a:rPr>
              <a:t>Identifying</a:t>
            </a:r>
            <a:r>
              <a:rPr sz="2200" b="1" u="sng" spc="-40" dirty="0">
                <a:solidFill>
                  <a:srgbClr val="000099"/>
                </a:solidFill>
                <a:uFill>
                  <a:solidFill>
                    <a:srgbClr val="000099"/>
                  </a:solidFill>
                </a:uFill>
                <a:latin typeface="Times New Roman" panose="02020603050405020304"/>
                <a:cs typeface="Times New Roman" panose="02020603050405020304"/>
              </a:rPr>
              <a:t> </a:t>
            </a:r>
            <a:r>
              <a:rPr sz="2200" b="1" u="sng" dirty="0">
                <a:solidFill>
                  <a:srgbClr val="000099"/>
                </a:solidFill>
                <a:uFill>
                  <a:solidFill>
                    <a:srgbClr val="000099"/>
                  </a:solidFill>
                </a:uFill>
                <a:latin typeface="Times New Roman" panose="02020603050405020304"/>
                <a:cs typeface="Times New Roman" panose="02020603050405020304"/>
              </a:rPr>
              <a:t>interventions:</a:t>
            </a:r>
            <a:r>
              <a:rPr sz="2200" b="1" spc="-30" dirty="0">
                <a:solidFill>
                  <a:srgbClr val="000099"/>
                </a:solidFill>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heart</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planning</a:t>
            </a:r>
            <a:r>
              <a:rPr sz="2200" spc="-75" dirty="0">
                <a:latin typeface="Times New Roman" panose="02020603050405020304"/>
                <a:cs typeface="Times New Roman" panose="02020603050405020304"/>
              </a:rPr>
              <a:t> </a:t>
            </a:r>
            <a:r>
              <a:rPr sz="2200" dirty="0">
                <a:latin typeface="Times New Roman" panose="02020603050405020304"/>
                <a:cs typeface="Times New Roman" panose="02020603050405020304"/>
              </a:rPr>
              <a:t>is</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identification</a:t>
            </a:r>
            <a:r>
              <a:rPr sz="2200" spc="-5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of 	</a:t>
            </a:r>
            <a:r>
              <a:rPr sz="2200" dirty="0">
                <a:latin typeface="Times New Roman" panose="02020603050405020304"/>
                <a:cs typeface="Times New Roman" panose="02020603050405020304"/>
              </a:rPr>
              <a:t>nursing</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interventions.</a:t>
            </a:r>
            <a:r>
              <a:rPr sz="2200" spc="-8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These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interventions</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can</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be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divided</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into</a:t>
            </a:r>
            <a:r>
              <a:rPr sz="2200" spc="-5" dirty="0">
                <a:latin typeface="Times New Roman" panose="02020603050405020304"/>
                <a:cs typeface="Times New Roman" panose="02020603050405020304"/>
              </a:rPr>
              <a:t> </a:t>
            </a:r>
            <a:r>
              <a:rPr sz="2200" dirty="0">
                <a:latin typeface="Times New Roman" panose="02020603050405020304"/>
                <a:cs typeface="Times New Roman" panose="02020603050405020304"/>
              </a:rPr>
              <a:t>4</a:t>
            </a:r>
            <a:r>
              <a:rPr sz="2200" spc="-5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major 	groups:</a:t>
            </a:r>
            <a:endParaRPr sz="2200">
              <a:latin typeface="Times New Roman" panose="02020603050405020304"/>
              <a:cs typeface="Times New Roman" panose="02020603050405020304"/>
            </a:endParaRPr>
          </a:p>
          <a:p>
            <a:pPr marL="355600" marR="6350" lvl="1" indent="-342900">
              <a:lnSpc>
                <a:spcPct val="80000"/>
              </a:lnSpc>
              <a:spcBef>
                <a:spcPts val="530"/>
              </a:spcBef>
              <a:buFont typeface="Courier New" panose="02070309020205020404"/>
              <a:buChar char="o"/>
              <a:tabLst>
                <a:tab pos="355600" algn="l"/>
              </a:tabLst>
            </a:pPr>
            <a:r>
              <a:rPr sz="2200" dirty="0">
                <a:latin typeface="Times New Roman" panose="02020603050405020304"/>
                <a:cs typeface="Times New Roman" panose="02020603050405020304"/>
              </a:rPr>
              <a:t>drug</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administration –</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you</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must</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consider</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dosage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route</a:t>
            </a:r>
            <a:r>
              <a:rPr sz="2200" spc="-5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of </a:t>
            </a:r>
            <a:r>
              <a:rPr sz="2200" dirty="0">
                <a:latin typeface="Times New Roman" panose="02020603050405020304"/>
                <a:cs typeface="Times New Roman" panose="02020603050405020304"/>
              </a:rPr>
              <a:t>administration</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as</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well</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as</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less</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obvious</a:t>
            </a:r>
            <a:r>
              <a:rPr sz="2200" spc="-80" dirty="0">
                <a:latin typeface="Times New Roman" panose="02020603050405020304"/>
                <a:cs typeface="Times New Roman" panose="02020603050405020304"/>
              </a:rPr>
              <a:t> </a:t>
            </a:r>
            <a:r>
              <a:rPr sz="2200" dirty="0">
                <a:latin typeface="Times New Roman" panose="02020603050405020304"/>
                <a:cs typeface="Times New Roman" panose="02020603050405020304"/>
              </a:rPr>
              <a:t>factors,</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including</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timing</a:t>
            </a:r>
            <a:r>
              <a:rPr sz="2200" spc="-4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of </a:t>
            </a:r>
            <a:r>
              <a:rPr sz="2200" dirty="0">
                <a:latin typeface="Times New Roman" panose="02020603050405020304"/>
                <a:cs typeface="Times New Roman" panose="02020603050405020304"/>
              </a:rPr>
              <a:t>administration</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with</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respect</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meals,</a:t>
            </a:r>
            <a:r>
              <a:rPr sz="2200" spc="-30" dirty="0">
                <a:latin typeface="Times New Roman" panose="02020603050405020304"/>
                <a:cs typeface="Times New Roman" panose="02020603050405020304"/>
              </a:rPr>
              <a:t> </a:t>
            </a:r>
            <a:r>
              <a:rPr sz="2200" dirty="0">
                <a:latin typeface="Times New Roman" panose="02020603050405020304"/>
                <a:cs typeface="Times New Roman" panose="02020603050405020304"/>
              </a:rPr>
              <a:t>side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effects</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with</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respect</a:t>
            </a:r>
            <a:r>
              <a:rPr sz="2200" spc="-4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to </a:t>
            </a:r>
            <a:r>
              <a:rPr sz="2200" dirty="0">
                <a:latin typeface="Times New Roman" panose="02020603050405020304"/>
                <a:cs typeface="Times New Roman" panose="02020603050405020304"/>
              </a:rPr>
              <a:t>administration</a:t>
            </a:r>
            <a:r>
              <a:rPr sz="2200" spc="-30"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other</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drugs.</a:t>
            </a:r>
            <a:r>
              <a:rPr sz="2200" spc="-20" dirty="0">
                <a:latin typeface="Times New Roman" panose="02020603050405020304"/>
                <a:cs typeface="Times New Roman" panose="02020603050405020304"/>
              </a:rPr>
              <a:t> </a:t>
            </a:r>
            <a:r>
              <a:rPr sz="2200" dirty="0">
                <a:latin typeface="Times New Roman" panose="02020603050405020304"/>
                <a:cs typeface="Times New Roman" panose="02020603050405020304"/>
              </a:rPr>
              <a:t>E.g,</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if</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causes</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sedation,</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it</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may</a:t>
            </a:r>
            <a:r>
              <a:rPr sz="2200" spc="-15"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be </a:t>
            </a:r>
            <a:r>
              <a:rPr sz="2200" dirty="0">
                <a:latin typeface="Times New Roman" panose="02020603050405020304"/>
                <a:cs typeface="Times New Roman" panose="02020603050405020304"/>
              </a:rPr>
              <a:t>desirable</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give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at</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bedtime,</a:t>
            </a:r>
            <a:r>
              <a:rPr sz="2200" spc="-30" dirty="0">
                <a:latin typeface="Times New Roman" panose="02020603050405020304"/>
                <a:cs typeface="Times New Roman" panose="02020603050405020304"/>
              </a:rPr>
              <a:t> </a:t>
            </a:r>
            <a:r>
              <a:rPr sz="2200" dirty="0">
                <a:latin typeface="Times New Roman" panose="02020603050405020304"/>
                <a:cs typeface="Times New Roman" panose="02020603050405020304"/>
              </a:rPr>
              <a:t>rather</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than</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in</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morning</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or</a:t>
            </a:r>
            <a:r>
              <a:rPr sz="2200" spc="-4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during </a:t>
            </a:r>
            <a:r>
              <a:rPr sz="2200" dirty="0">
                <a:latin typeface="Times New Roman" panose="02020603050405020304"/>
                <a:cs typeface="Times New Roman" panose="02020603050405020304"/>
              </a:rPr>
              <a:t>the</a:t>
            </a:r>
            <a:r>
              <a:rPr sz="2200" spc="-35"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day.</a:t>
            </a:r>
            <a:endParaRPr sz="2200">
              <a:latin typeface="Times New Roman" panose="02020603050405020304"/>
              <a:cs typeface="Times New Roman" panose="02020603050405020304"/>
            </a:endParaRPr>
          </a:p>
          <a:p>
            <a:pPr marL="355600" marR="5080" lvl="1" indent="-342900">
              <a:lnSpc>
                <a:spcPct val="80000"/>
              </a:lnSpc>
              <a:spcBef>
                <a:spcPts val="525"/>
              </a:spcBef>
              <a:buFont typeface="Courier New" panose="02070309020205020404"/>
              <a:buChar char="o"/>
              <a:tabLst>
                <a:tab pos="355600" algn="l"/>
              </a:tabLst>
            </a:pPr>
            <a:r>
              <a:rPr sz="2200" dirty="0">
                <a:latin typeface="Times New Roman" panose="02020603050405020304"/>
                <a:cs typeface="Times New Roman" panose="02020603050405020304"/>
              </a:rPr>
              <a:t>interventions</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enhance</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therapeutic</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effects</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Nondrug</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measures</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can</a:t>
            </a:r>
            <a:r>
              <a:rPr sz="2200" spc="-65"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help </a:t>
            </a:r>
            <a:r>
              <a:rPr sz="2200" dirty="0">
                <a:latin typeface="Times New Roman" panose="02020603050405020304"/>
                <a:cs typeface="Times New Roman" panose="02020603050405020304"/>
              </a:rPr>
              <a:t>promote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therapeutic</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effects</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should</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be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included</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in</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plan.</a:t>
            </a:r>
            <a:r>
              <a:rPr sz="2200" spc="-55"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For </a:t>
            </a:r>
            <a:r>
              <a:rPr sz="2200" dirty="0">
                <a:latin typeface="Times New Roman" panose="02020603050405020304"/>
                <a:cs typeface="Times New Roman" panose="02020603050405020304"/>
              </a:rPr>
              <a:t>example,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therapy</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hypertension</a:t>
            </a:r>
            <a:r>
              <a:rPr sz="2200" spc="-80" dirty="0">
                <a:latin typeface="Times New Roman" panose="02020603050405020304"/>
                <a:cs typeface="Times New Roman" panose="02020603050405020304"/>
              </a:rPr>
              <a:t> </a:t>
            </a:r>
            <a:r>
              <a:rPr sz="2200" dirty="0">
                <a:latin typeface="Times New Roman" panose="02020603050405020304"/>
                <a:cs typeface="Times New Roman" panose="02020603050405020304"/>
              </a:rPr>
              <a:t>can</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be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combined</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with</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weight</a:t>
            </a:r>
            <a:r>
              <a:rPr sz="2200" spc="-65"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loss </a:t>
            </a:r>
            <a:r>
              <a:rPr sz="2200" dirty="0">
                <a:latin typeface="Times New Roman" panose="02020603050405020304"/>
                <a:cs typeface="Times New Roman" panose="02020603050405020304"/>
              </a:rPr>
              <a:t>(in</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overweight</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patients),</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salt</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restriction,</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smoking</a:t>
            </a:r>
            <a:r>
              <a:rPr sz="2200" spc="-5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cessation</a:t>
            </a:r>
            <a:endParaRPr sz="2200">
              <a:latin typeface="Times New Roman" panose="02020603050405020304"/>
              <a:cs typeface="Times New Roman" panose="02020603050405020304"/>
            </a:endParaRPr>
          </a:p>
          <a:p>
            <a:pPr marL="355600" lvl="1" indent="-342900">
              <a:lnSpc>
                <a:spcPct val="100000"/>
              </a:lnSpc>
              <a:spcBef>
                <a:spcPts val="5"/>
              </a:spcBef>
              <a:buFont typeface="Courier New" panose="02070309020205020404"/>
              <a:buChar char="o"/>
              <a:tabLst>
                <a:tab pos="355600" algn="l"/>
              </a:tabLst>
            </a:pPr>
            <a:r>
              <a:rPr sz="2200" dirty="0">
                <a:latin typeface="Times New Roman" panose="02020603050405020304"/>
                <a:cs typeface="Times New Roman" panose="02020603050405020304"/>
              </a:rPr>
              <a:t>interventions</a:t>
            </a:r>
            <a:r>
              <a:rPr sz="2200" spc="-7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75" dirty="0">
                <a:latin typeface="Times New Roman" panose="02020603050405020304"/>
                <a:cs typeface="Times New Roman" panose="02020603050405020304"/>
              </a:rPr>
              <a:t> </a:t>
            </a:r>
            <a:r>
              <a:rPr sz="2200" dirty="0">
                <a:latin typeface="Times New Roman" panose="02020603050405020304"/>
                <a:cs typeface="Times New Roman" panose="02020603050405020304"/>
              </a:rPr>
              <a:t>minimize</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adverse</a:t>
            </a:r>
            <a:r>
              <a:rPr sz="2200" spc="-75" dirty="0">
                <a:latin typeface="Times New Roman" panose="02020603050405020304"/>
                <a:cs typeface="Times New Roman" panose="02020603050405020304"/>
              </a:rPr>
              <a:t> </a:t>
            </a:r>
            <a:r>
              <a:rPr sz="2200" dirty="0">
                <a:latin typeface="Times New Roman" panose="02020603050405020304"/>
                <a:cs typeface="Times New Roman" panose="02020603050405020304"/>
              </a:rPr>
              <a:t>effects</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7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interactions</a:t>
            </a:r>
            <a:endParaRPr sz="2200">
              <a:latin typeface="Times New Roman" panose="02020603050405020304"/>
              <a:cs typeface="Times New Roman" panose="02020603050405020304"/>
            </a:endParaRPr>
          </a:p>
          <a:p>
            <a:pPr marL="355600" marR="11430" lvl="1" indent="-342900">
              <a:lnSpc>
                <a:spcPct val="80000"/>
              </a:lnSpc>
              <a:spcBef>
                <a:spcPts val="525"/>
              </a:spcBef>
              <a:buFont typeface="Courier New" panose="02070309020205020404"/>
              <a:buChar char="o"/>
              <a:tabLst>
                <a:tab pos="355600" algn="l"/>
              </a:tabLst>
            </a:pPr>
            <a:r>
              <a:rPr sz="2200" dirty="0">
                <a:latin typeface="Times New Roman" panose="02020603050405020304"/>
                <a:cs typeface="Times New Roman" panose="02020603050405020304"/>
              </a:rPr>
              <a:t>pt</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educations</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plan</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should</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account</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for</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6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patient’s</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capacity</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5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learn, </a:t>
            </a:r>
            <a:r>
              <a:rPr sz="2200" dirty="0">
                <a:latin typeface="Times New Roman" panose="02020603050405020304"/>
                <a:cs typeface="Times New Roman" panose="02020603050405020304"/>
              </a:rPr>
              <a:t>and</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it</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should</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address</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following:</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technique</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3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administration,</a:t>
            </a:r>
            <a:r>
              <a:rPr sz="2200" spc="-2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dosage </a:t>
            </a:r>
            <a:r>
              <a:rPr sz="2200" dirty="0">
                <a:latin typeface="Times New Roman" panose="02020603050405020304"/>
                <a:cs typeface="Times New Roman" panose="02020603050405020304"/>
              </a:rPr>
              <a:t>and</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timing,</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duration</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treatment,</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method</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storage,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measures</a:t>
            </a:r>
            <a:r>
              <a:rPr sz="2200" spc="-4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to </a:t>
            </a:r>
            <a:r>
              <a:rPr sz="2200" dirty="0">
                <a:latin typeface="Times New Roman" panose="02020603050405020304"/>
                <a:cs typeface="Times New Roman" panose="02020603050405020304"/>
              </a:rPr>
              <a:t>promote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therapeutic</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effects,</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measures</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minimize</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adverse</a:t>
            </a:r>
            <a:r>
              <a:rPr sz="2200" spc="-6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effects.</a:t>
            </a:r>
            <a:endParaRPr sz="2200">
              <a:latin typeface="Times New Roman" panose="02020603050405020304"/>
              <a:cs typeface="Times New Roman" panose="02020603050405020304"/>
            </a:endParaRPr>
          </a:p>
          <a:p>
            <a:pPr marL="355600" marR="193675" indent="-342900">
              <a:lnSpc>
                <a:spcPct val="80000"/>
              </a:lnSpc>
              <a:spcBef>
                <a:spcPts val="530"/>
              </a:spcBef>
            </a:pPr>
            <a:r>
              <a:rPr sz="2200" b="1" u="sng" dirty="0">
                <a:solidFill>
                  <a:srgbClr val="000099"/>
                </a:solidFill>
                <a:uFill>
                  <a:solidFill>
                    <a:srgbClr val="000099"/>
                  </a:solidFill>
                </a:uFill>
                <a:latin typeface="Times New Roman" panose="02020603050405020304"/>
                <a:cs typeface="Times New Roman" panose="02020603050405020304"/>
              </a:rPr>
              <a:t>4.</a:t>
            </a:r>
            <a:r>
              <a:rPr sz="2200" b="1" u="sng" spc="-60" dirty="0">
                <a:solidFill>
                  <a:srgbClr val="000099"/>
                </a:solidFill>
                <a:uFill>
                  <a:solidFill>
                    <a:srgbClr val="000099"/>
                  </a:solidFill>
                </a:uFill>
                <a:latin typeface="Times New Roman" panose="02020603050405020304"/>
                <a:cs typeface="Times New Roman" panose="02020603050405020304"/>
              </a:rPr>
              <a:t> </a:t>
            </a:r>
            <a:r>
              <a:rPr sz="2200" b="1" u="sng" dirty="0">
                <a:solidFill>
                  <a:srgbClr val="000099"/>
                </a:solidFill>
                <a:uFill>
                  <a:solidFill>
                    <a:srgbClr val="000099"/>
                  </a:solidFill>
                </a:uFill>
                <a:latin typeface="Times New Roman" panose="02020603050405020304"/>
                <a:cs typeface="Times New Roman" panose="02020603050405020304"/>
              </a:rPr>
              <a:t>Establishing</a:t>
            </a:r>
            <a:r>
              <a:rPr sz="2200" b="1" u="sng" spc="-50" dirty="0">
                <a:solidFill>
                  <a:srgbClr val="000099"/>
                </a:solidFill>
                <a:uFill>
                  <a:solidFill>
                    <a:srgbClr val="000099"/>
                  </a:solidFill>
                </a:uFill>
                <a:latin typeface="Times New Roman" panose="02020603050405020304"/>
                <a:cs typeface="Times New Roman" panose="02020603050405020304"/>
              </a:rPr>
              <a:t> </a:t>
            </a:r>
            <a:r>
              <a:rPr sz="2200" b="1" u="sng" dirty="0">
                <a:solidFill>
                  <a:srgbClr val="000099"/>
                </a:solidFill>
                <a:uFill>
                  <a:solidFill>
                    <a:srgbClr val="000099"/>
                  </a:solidFill>
                </a:uFill>
                <a:latin typeface="Times New Roman" panose="02020603050405020304"/>
                <a:cs typeface="Times New Roman" panose="02020603050405020304"/>
              </a:rPr>
              <a:t>criteria</a:t>
            </a:r>
            <a:r>
              <a:rPr sz="2200" b="1" u="sng" spc="-35" dirty="0">
                <a:solidFill>
                  <a:srgbClr val="000099"/>
                </a:solidFill>
                <a:uFill>
                  <a:solidFill>
                    <a:srgbClr val="000099"/>
                  </a:solidFill>
                </a:uFill>
                <a:latin typeface="Times New Roman" panose="02020603050405020304"/>
                <a:cs typeface="Times New Roman" panose="02020603050405020304"/>
              </a:rPr>
              <a:t> </a:t>
            </a:r>
            <a:r>
              <a:rPr sz="2200" b="1" u="sng" dirty="0">
                <a:solidFill>
                  <a:srgbClr val="000099"/>
                </a:solidFill>
                <a:uFill>
                  <a:solidFill>
                    <a:srgbClr val="000099"/>
                  </a:solidFill>
                </a:uFill>
                <a:latin typeface="Times New Roman" panose="02020603050405020304"/>
                <a:cs typeface="Times New Roman" panose="02020603050405020304"/>
              </a:rPr>
              <a:t>for</a:t>
            </a:r>
            <a:r>
              <a:rPr sz="2200" b="1" u="sng" spc="-95" dirty="0">
                <a:solidFill>
                  <a:srgbClr val="000099"/>
                </a:solidFill>
                <a:uFill>
                  <a:solidFill>
                    <a:srgbClr val="000099"/>
                  </a:solidFill>
                </a:uFill>
                <a:latin typeface="Times New Roman" panose="02020603050405020304"/>
                <a:cs typeface="Times New Roman" panose="02020603050405020304"/>
              </a:rPr>
              <a:t> </a:t>
            </a:r>
            <a:r>
              <a:rPr sz="2200" b="1" u="sng" dirty="0">
                <a:solidFill>
                  <a:srgbClr val="000099"/>
                </a:solidFill>
                <a:uFill>
                  <a:solidFill>
                    <a:srgbClr val="000099"/>
                  </a:solidFill>
                </a:uFill>
                <a:latin typeface="Times New Roman" panose="02020603050405020304"/>
                <a:cs typeface="Times New Roman" panose="02020603050405020304"/>
              </a:rPr>
              <a:t>evaluation:</a:t>
            </a:r>
            <a:r>
              <a:rPr sz="2200" b="1" spc="-25" dirty="0">
                <a:solidFill>
                  <a:srgbClr val="000099"/>
                </a:solidFill>
                <a:latin typeface="Times New Roman" panose="02020603050405020304"/>
                <a:cs typeface="Times New Roman" panose="02020603050405020304"/>
              </a:rPr>
              <a:t> </a:t>
            </a:r>
            <a:r>
              <a:rPr sz="2200" dirty="0">
                <a:latin typeface="Times New Roman" panose="02020603050405020304"/>
                <a:cs typeface="Times New Roman" panose="02020603050405020304"/>
              </a:rPr>
              <a:t>we</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need</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established</a:t>
            </a:r>
            <a:r>
              <a:rPr sz="2200" spc="-4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objective </a:t>
            </a:r>
            <a:r>
              <a:rPr sz="2200" dirty="0">
                <a:latin typeface="Times New Roman" panose="02020603050405020304"/>
                <a:cs typeface="Times New Roman" panose="02020603050405020304"/>
              </a:rPr>
              <a:t>criteria</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by</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which</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measure</a:t>
            </a:r>
            <a:r>
              <a:rPr sz="2200" spc="-30" dirty="0">
                <a:latin typeface="Times New Roman" panose="02020603050405020304"/>
                <a:cs typeface="Times New Roman" panose="02020603050405020304"/>
              </a:rPr>
              <a:t> </a:t>
            </a:r>
            <a:r>
              <a:rPr sz="2200" dirty="0">
                <a:latin typeface="Times New Roman" panose="02020603050405020304"/>
                <a:cs typeface="Times New Roman" panose="02020603050405020304"/>
              </a:rPr>
              <a:t>desired</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responses.</a:t>
            </a:r>
            <a:r>
              <a:rPr sz="2200" spc="-9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Without</a:t>
            </a:r>
            <a:r>
              <a:rPr sz="2200" spc="-70" dirty="0">
                <a:latin typeface="Times New Roman" panose="02020603050405020304"/>
                <a:cs typeface="Times New Roman" panose="02020603050405020304"/>
              </a:rPr>
              <a:t> </a:t>
            </a:r>
            <a:r>
              <a:rPr sz="2200" dirty="0">
                <a:latin typeface="Times New Roman" panose="02020603050405020304"/>
                <a:cs typeface="Times New Roman" panose="02020603050405020304"/>
              </a:rPr>
              <a:t>such</a:t>
            </a:r>
            <a:r>
              <a:rPr sz="2200" spc="-5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criteria, </a:t>
            </a:r>
            <a:r>
              <a:rPr sz="2200" dirty="0">
                <a:latin typeface="Times New Roman" panose="02020603050405020304"/>
                <a:cs typeface="Times New Roman" panose="02020603050405020304"/>
              </a:rPr>
              <a:t>we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could</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not</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determine</a:t>
            </a:r>
            <a:r>
              <a:rPr sz="2200" spc="-25" dirty="0">
                <a:latin typeface="Times New Roman" panose="02020603050405020304"/>
                <a:cs typeface="Times New Roman" panose="02020603050405020304"/>
              </a:rPr>
              <a:t> </a:t>
            </a:r>
            <a:r>
              <a:rPr sz="2200" dirty="0">
                <a:latin typeface="Times New Roman" panose="02020603050405020304"/>
                <a:cs typeface="Times New Roman" panose="02020603050405020304"/>
              </a:rPr>
              <a:t>if</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our</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drug</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was</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doing</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anything</a:t>
            </a:r>
            <a:r>
              <a:rPr sz="2200" spc="-7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useful.</a:t>
            </a:r>
            <a:endParaRPr sz="2200">
              <a:latin typeface="Times New Roman" panose="02020603050405020304"/>
              <a:cs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Implementation</a:t>
            </a:r>
            <a:r>
              <a:rPr spc="-45" dirty="0"/>
              <a:t> </a:t>
            </a:r>
            <a:r>
              <a:rPr spc="-10" dirty="0"/>
              <a:t>(Interventions)</a:t>
            </a:r>
          </a:p>
        </p:txBody>
      </p:sp>
      <p:sp>
        <p:nvSpPr>
          <p:cNvPr id="3" name="object 3"/>
          <p:cNvSpPr txBox="1"/>
          <p:nvPr/>
        </p:nvSpPr>
        <p:spPr>
          <a:xfrm>
            <a:off x="42163" y="489331"/>
            <a:ext cx="8944610" cy="5733415"/>
          </a:xfrm>
          <a:prstGeom prst="rect">
            <a:avLst/>
          </a:prstGeom>
        </p:spPr>
        <p:txBody>
          <a:bodyPr vert="horz" wrap="square" lIns="0" tIns="57785" rIns="0" bIns="0" rtlCol="0">
            <a:spAutoFit/>
          </a:bodyPr>
          <a:lstStyle/>
          <a:p>
            <a:pPr marL="353695" marR="421640" indent="-340995" algn="just">
              <a:lnSpc>
                <a:spcPts val="2810"/>
              </a:lnSpc>
              <a:spcBef>
                <a:spcPts val="455"/>
              </a:spcBef>
              <a:buFont typeface="Microsoft Sans Serif" panose="020B0604020202020204"/>
              <a:buChar char="•"/>
              <a:tabLst>
                <a:tab pos="355600" algn="l"/>
              </a:tabLst>
            </a:pPr>
            <a:r>
              <a:rPr sz="2600" dirty="0">
                <a:latin typeface="Times New Roman" panose="02020603050405020304"/>
                <a:cs typeface="Times New Roman" panose="02020603050405020304"/>
              </a:rPr>
              <a:t>Implementation: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actions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undertaken</a:t>
            </a:r>
            <a:r>
              <a:rPr sz="2600" spc="-5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meet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patient’s</a:t>
            </a:r>
            <a:r>
              <a:rPr sz="2600" spc="-3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needs, 	</a:t>
            </a:r>
            <a:r>
              <a:rPr sz="2600" dirty="0">
                <a:latin typeface="Times New Roman" panose="02020603050405020304"/>
                <a:cs typeface="Times New Roman" panose="02020603050405020304"/>
              </a:rPr>
              <a:t>such</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as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administration</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drugs,</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comfort</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measures,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patient 	teaching</a:t>
            </a:r>
            <a:endParaRPr sz="2600">
              <a:latin typeface="Times New Roman" panose="02020603050405020304"/>
              <a:cs typeface="Times New Roman" panose="02020603050405020304"/>
            </a:endParaRPr>
          </a:p>
          <a:p>
            <a:pPr marL="353695" marR="570865" indent="-340995" algn="just">
              <a:lnSpc>
                <a:spcPts val="2810"/>
              </a:lnSpc>
              <a:spcBef>
                <a:spcPts val="620"/>
              </a:spcBef>
              <a:buFont typeface="Microsoft Sans Serif" panose="020B0604020202020204"/>
              <a:buChar char="•"/>
              <a:tabLst>
                <a:tab pos="355600" algn="l"/>
              </a:tabLst>
            </a:pPr>
            <a:r>
              <a:rPr sz="2600" dirty="0">
                <a:latin typeface="Times New Roman" panose="02020603050405020304"/>
                <a:cs typeface="Times New Roman" panose="02020603050405020304"/>
              </a:rPr>
              <a:t>Implementation</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natural</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outgrowth</a:t>
            </a:r>
            <a:r>
              <a:rPr sz="2600" spc="-5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assessment </a:t>
            </a:r>
            <a:r>
              <a:rPr sz="2600" spc="-25" dirty="0">
                <a:latin typeface="Times New Roman" panose="02020603050405020304"/>
                <a:cs typeface="Times New Roman" panose="02020603050405020304"/>
              </a:rPr>
              <a:t>and 	</a:t>
            </a:r>
            <a:r>
              <a:rPr sz="2600" dirty="0">
                <a:latin typeface="Times New Roman" panose="02020603050405020304"/>
                <a:cs typeface="Times New Roman" panose="02020603050405020304"/>
              </a:rPr>
              <a:t>planning</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phases</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 nursing</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process.</a:t>
            </a:r>
            <a:endParaRPr sz="2600">
              <a:latin typeface="Times New Roman" panose="02020603050405020304"/>
              <a:cs typeface="Times New Roman" panose="02020603050405020304"/>
            </a:endParaRPr>
          </a:p>
          <a:p>
            <a:pPr marL="353695" marR="437515" indent="-340995" algn="just">
              <a:lnSpc>
                <a:spcPts val="2810"/>
              </a:lnSpc>
              <a:spcBef>
                <a:spcPts val="620"/>
              </a:spcBef>
              <a:buFont typeface="Microsoft Sans Serif" panose="020B0604020202020204"/>
              <a:buChar char="•"/>
              <a:tabLst>
                <a:tab pos="355600" algn="l"/>
              </a:tabLst>
            </a:pPr>
            <a:r>
              <a:rPr sz="2600" dirty="0">
                <a:latin typeface="Times New Roman" panose="02020603050405020304"/>
                <a:cs typeface="Times New Roman" panose="02020603050405020304"/>
              </a:rPr>
              <a:t>This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step</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begins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with</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carrying</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out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interventions</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identified 	</a:t>
            </a:r>
            <a:r>
              <a:rPr sz="2600" dirty="0">
                <a:latin typeface="Times New Roman" panose="02020603050405020304"/>
                <a:cs typeface="Times New Roman" panose="02020603050405020304"/>
              </a:rPr>
              <a:t>during</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planning.</a:t>
            </a:r>
            <a:endParaRPr sz="2600">
              <a:latin typeface="Times New Roman" panose="02020603050405020304"/>
              <a:cs typeface="Times New Roman" panose="02020603050405020304"/>
            </a:endParaRPr>
          </a:p>
          <a:p>
            <a:pPr marL="355600" marR="5080" indent="-342900">
              <a:lnSpc>
                <a:spcPts val="2810"/>
              </a:lnSpc>
              <a:spcBef>
                <a:spcPts val="620"/>
              </a:spcBef>
              <a:buFont typeface="Microsoft Sans Serif" panose="020B0604020202020204"/>
              <a:buChar char="•"/>
              <a:tabLst>
                <a:tab pos="355600" algn="l"/>
              </a:tabLst>
            </a:pPr>
            <a:r>
              <a:rPr sz="2600" dirty="0">
                <a:latin typeface="Times New Roman" panose="02020603050405020304"/>
                <a:cs typeface="Times New Roman" panose="02020603050405020304"/>
              </a:rPr>
              <a:t>In</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administration</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drugs,</a:t>
            </a:r>
            <a:r>
              <a:rPr sz="2600" spc="-55" dirty="0">
                <a:latin typeface="Times New Roman" panose="02020603050405020304"/>
                <a:cs typeface="Times New Roman" panose="02020603050405020304"/>
              </a:rPr>
              <a:t> </a:t>
            </a:r>
            <a:r>
              <a:rPr sz="2600" dirty="0">
                <a:latin typeface="Times New Roman" panose="02020603050405020304"/>
                <a:cs typeface="Times New Roman" panose="02020603050405020304"/>
              </a:rPr>
              <a:t>implementation</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refers</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2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the </a:t>
            </a:r>
            <a:r>
              <a:rPr sz="2600" dirty="0">
                <a:latin typeface="Times New Roman" panose="02020603050405020304"/>
                <a:cs typeface="Times New Roman" panose="02020603050405020304"/>
              </a:rPr>
              <a:t>preparation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administration</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one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more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drugs</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2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specific patient.</a:t>
            </a:r>
            <a:endParaRPr sz="2600">
              <a:latin typeface="Times New Roman" panose="02020603050405020304"/>
              <a:cs typeface="Times New Roman" panose="02020603050405020304"/>
            </a:endParaRPr>
          </a:p>
          <a:p>
            <a:pPr marL="355600" marR="64770" indent="-342900">
              <a:lnSpc>
                <a:spcPct val="90000"/>
              </a:lnSpc>
              <a:spcBef>
                <a:spcPts val="580"/>
              </a:spcBef>
              <a:buFont typeface="Microsoft Sans Serif" panose="020B0604020202020204"/>
              <a:buChar char="•"/>
              <a:tabLst>
                <a:tab pos="355600" algn="l"/>
              </a:tabLst>
            </a:pPr>
            <a:r>
              <a:rPr sz="2600" dirty="0">
                <a:latin typeface="Times New Roman" panose="02020603050405020304"/>
                <a:cs typeface="Times New Roman" panose="02020603050405020304"/>
              </a:rPr>
              <a:t>Before</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administering</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nurse</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reviews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collecting </a:t>
            </a:r>
            <a:r>
              <a:rPr sz="2600" dirty="0">
                <a:latin typeface="Times New Roman" panose="02020603050405020304"/>
                <a:cs typeface="Times New Roman" panose="02020603050405020304"/>
              </a:rPr>
              <a:t>data</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obtained</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on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assessment</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considers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any</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additional</a:t>
            </a:r>
            <a:r>
              <a:rPr sz="2600" spc="-4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data, </a:t>
            </a:r>
            <a:r>
              <a:rPr sz="2600" dirty="0">
                <a:latin typeface="Times New Roman" panose="02020603050405020304"/>
                <a:cs typeface="Times New Roman" panose="02020603050405020304"/>
              </a:rPr>
              <a:t>such</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as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blood</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pressure,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pulse,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or</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statements</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made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by</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patient. </a:t>
            </a:r>
            <a:r>
              <a:rPr sz="2600" dirty="0">
                <a:latin typeface="Times New Roman" panose="02020603050405020304"/>
                <a:cs typeface="Times New Roman" panose="02020603050405020304"/>
              </a:rPr>
              <a:t>The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decision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whether</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administer</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drug</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based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on</a:t>
            </a:r>
            <a:r>
              <a:rPr sz="2600" spc="-15"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an </a:t>
            </a:r>
            <a:r>
              <a:rPr sz="2600" dirty="0">
                <a:latin typeface="Times New Roman" panose="02020603050405020304"/>
                <a:cs typeface="Times New Roman" panose="02020603050405020304"/>
              </a:rPr>
              <a:t>analysis</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all</a:t>
            </a:r>
            <a:r>
              <a:rPr sz="2600" spc="-1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information.</a:t>
            </a:r>
            <a:endParaRPr sz="2600">
              <a:latin typeface="Times New Roman" panose="02020603050405020304"/>
              <a:cs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200" y="137541"/>
            <a:ext cx="8033384" cy="4208145"/>
          </a:xfrm>
          <a:prstGeom prst="rect">
            <a:avLst/>
          </a:prstGeom>
        </p:spPr>
        <p:txBody>
          <a:bodyPr vert="horz" wrap="square" lIns="0" tIns="12065" rIns="0" bIns="0" rtlCol="0">
            <a:spAutoFit/>
          </a:bodyPr>
          <a:lstStyle/>
          <a:p>
            <a:pPr marL="355600" marR="387350" indent="-343535">
              <a:lnSpc>
                <a:spcPct val="100000"/>
              </a:lnSpc>
              <a:spcBef>
                <a:spcPts val="95"/>
              </a:spcBef>
            </a:pPr>
            <a:r>
              <a:rPr sz="2800" dirty="0">
                <a:solidFill>
                  <a:srgbClr val="000099"/>
                </a:solidFill>
                <a:latin typeface="Times New Roman" panose="02020603050405020304"/>
                <a:cs typeface="Times New Roman" panose="02020603050405020304"/>
              </a:rPr>
              <a:t>Implementation</a:t>
            </a:r>
            <a:r>
              <a:rPr sz="2800" spc="-35"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of</a:t>
            </a:r>
            <a:r>
              <a:rPr sz="2800" spc="-35"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the</a:t>
            </a:r>
            <a:r>
              <a:rPr sz="2800" spc="-4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care</a:t>
            </a:r>
            <a:r>
              <a:rPr sz="2800" spc="-3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plan</a:t>
            </a:r>
            <a:r>
              <a:rPr sz="2800" spc="-45"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in</a:t>
            </a:r>
            <a:r>
              <a:rPr sz="2800" spc="-3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drug</a:t>
            </a:r>
            <a:r>
              <a:rPr sz="2800" spc="-40"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therapy</a:t>
            </a:r>
            <a:r>
              <a:rPr sz="2800" spc="-35" dirty="0">
                <a:solidFill>
                  <a:srgbClr val="000099"/>
                </a:solidFill>
                <a:latin typeface="Times New Roman" panose="02020603050405020304"/>
                <a:cs typeface="Times New Roman" panose="02020603050405020304"/>
              </a:rPr>
              <a:t> </a:t>
            </a:r>
            <a:r>
              <a:rPr sz="2800" dirty="0">
                <a:solidFill>
                  <a:srgbClr val="000099"/>
                </a:solidFill>
                <a:latin typeface="Times New Roman" panose="02020603050405020304"/>
                <a:cs typeface="Times New Roman" panose="02020603050405020304"/>
              </a:rPr>
              <a:t>has</a:t>
            </a:r>
            <a:r>
              <a:rPr sz="2800" spc="-10" dirty="0">
                <a:solidFill>
                  <a:srgbClr val="000099"/>
                </a:solidFill>
                <a:latin typeface="Times New Roman" panose="02020603050405020304"/>
                <a:cs typeface="Times New Roman" panose="02020603050405020304"/>
              </a:rPr>
              <a:t> </a:t>
            </a:r>
            <a:r>
              <a:rPr sz="2800" spc="-50" dirty="0">
                <a:solidFill>
                  <a:srgbClr val="000099"/>
                </a:solidFill>
                <a:latin typeface="Times New Roman" panose="02020603050405020304"/>
                <a:cs typeface="Times New Roman" panose="02020603050405020304"/>
              </a:rPr>
              <a:t>4 </a:t>
            </a:r>
            <a:r>
              <a:rPr sz="2800" dirty="0">
                <a:solidFill>
                  <a:srgbClr val="000099"/>
                </a:solidFill>
                <a:latin typeface="Times New Roman" panose="02020603050405020304"/>
                <a:cs typeface="Times New Roman" panose="02020603050405020304"/>
              </a:rPr>
              <a:t>major</a:t>
            </a:r>
            <a:r>
              <a:rPr sz="2800" spc="-75" dirty="0">
                <a:solidFill>
                  <a:srgbClr val="000099"/>
                </a:solidFill>
                <a:latin typeface="Times New Roman" panose="02020603050405020304"/>
                <a:cs typeface="Times New Roman" panose="02020603050405020304"/>
              </a:rPr>
              <a:t> </a:t>
            </a:r>
            <a:r>
              <a:rPr sz="2800" spc="-10" dirty="0">
                <a:solidFill>
                  <a:srgbClr val="000099"/>
                </a:solidFill>
                <a:latin typeface="Times New Roman" panose="02020603050405020304"/>
                <a:cs typeface="Times New Roman" panose="02020603050405020304"/>
              </a:rPr>
              <a:t>components:</a:t>
            </a:r>
            <a:endParaRPr sz="2800">
              <a:latin typeface="Times New Roman" panose="02020603050405020304"/>
              <a:cs typeface="Times New Roman" panose="02020603050405020304"/>
            </a:endParaRPr>
          </a:p>
          <a:p>
            <a:pPr marL="637540" marR="163830" indent="-515620">
              <a:lnSpc>
                <a:spcPct val="100000"/>
              </a:lnSpc>
              <a:spcBef>
                <a:spcPts val="675"/>
              </a:spcBef>
              <a:buAutoNum type="arabicPeriod"/>
              <a:tabLst>
                <a:tab pos="637540" algn="l"/>
              </a:tabLst>
            </a:pPr>
            <a:r>
              <a:rPr sz="2800" dirty="0">
                <a:latin typeface="Times New Roman" panose="02020603050405020304"/>
                <a:cs typeface="Times New Roman" panose="02020603050405020304"/>
              </a:rPr>
              <a:t>Drug</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administration</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perform</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any</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nursing</a:t>
            </a:r>
            <a:r>
              <a:rPr sz="2800" spc="-6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actions </a:t>
            </a:r>
            <a:r>
              <a:rPr sz="2800" dirty="0">
                <a:latin typeface="Times New Roman" panose="02020603050405020304"/>
                <a:cs typeface="Times New Roman" panose="02020603050405020304"/>
              </a:rPr>
              <a:t>before</a:t>
            </a:r>
            <a:r>
              <a:rPr sz="2800" spc="-75"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administration</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drug.</a:t>
            </a:r>
            <a:r>
              <a:rPr sz="2800" spc="-165" dirty="0">
                <a:latin typeface="Times New Roman" panose="02020603050405020304"/>
                <a:cs typeface="Times New Roman" panose="02020603050405020304"/>
              </a:rPr>
              <a:t> </a:t>
            </a:r>
            <a:r>
              <a:rPr sz="2800" dirty="0">
                <a:latin typeface="Times New Roman" panose="02020603050405020304"/>
                <a:cs typeface="Times New Roman" panose="02020603050405020304"/>
              </a:rPr>
              <a:t>Administer</a:t>
            </a:r>
            <a:r>
              <a:rPr sz="2800" spc="-4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drug </a:t>
            </a:r>
            <a:r>
              <a:rPr sz="2800" dirty="0">
                <a:latin typeface="Times New Roman" panose="02020603050405020304"/>
                <a:cs typeface="Times New Roman" panose="02020603050405020304"/>
              </a:rPr>
              <a:t>according</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"Six</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Rights</a:t>
            </a:r>
            <a:endParaRPr sz="2800">
              <a:latin typeface="Times New Roman" panose="02020603050405020304"/>
              <a:cs typeface="Times New Roman" panose="02020603050405020304"/>
            </a:endParaRPr>
          </a:p>
          <a:p>
            <a:pPr marL="637540" marR="5080" indent="-515620">
              <a:lnSpc>
                <a:spcPct val="100000"/>
              </a:lnSpc>
              <a:spcBef>
                <a:spcPts val="675"/>
              </a:spcBef>
              <a:buAutoNum type="arabicPeriod"/>
              <a:tabLst>
                <a:tab pos="637540" algn="l"/>
              </a:tabLst>
            </a:pPr>
            <a:r>
              <a:rPr sz="2800" dirty="0">
                <a:latin typeface="Times New Roman" panose="02020603050405020304"/>
                <a:cs typeface="Times New Roman" panose="02020603050405020304"/>
              </a:rPr>
              <a:t>Pt</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education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teach</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or</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educate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patient/family</a:t>
            </a:r>
            <a:r>
              <a:rPr sz="2800" spc="-5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about </a:t>
            </a:r>
            <a:r>
              <a:rPr sz="2800" dirty="0">
                <a:latin typeface="Times New Roman" panose="02020603050405020304"/>
                <a:cs typeface="Times New Roman" panose="02020603050405020304"/>
              </a:rPr>
              <a:t>drug,</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disease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treatment</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regimen,</a:t>
            </a:r>
            <a:r>
              <a:rPr sz="2800" spc="-4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etc</a:t>
            </a:r>
            <a:endParaRPr sz="2800">
              <a:latin typeface="Times New Roman" panose="02020603050405020304"/>
              <a:cs typeface="Times New Roman" panose="02020603050405020304"/>
            </a:endParaRPr>
          </a:p>
          <a:p>
            <a:pPr marL="637540" indent="-515620">
              <a:lnSpc>
                <a:spcPct val="100000"/>
              </a:lnSpc>
              <a:spcBef>
                <a:spcPts val="670"/>
              </a:spcBef>
              <a:buAutoNum type="arabicPeriod"/>
              <a:tabLst>
                <a:tab pos="637540" algn="l"/>
              </a:tabLst>
            </a:pPr>
            <a:r>
              <a:rPr sz="2800" dirty="0">
                <a:latin typeface="Times New Roman" panose="02020603050405020304"/>
                <a:cs typeface="Times New Roman" panose="02020603050405020304"/>
              </a:rPr>
              <a:t>Intervention</a:t>
            </a:r>
            <a:r>
              <a:rPr sz="2800" spc="-7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promote</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therapeutic</a:t>
            </a:r>
            <a:r>
              <a:rPr sz="2800" spc="-5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effects</a:t>
            </a:r>
            <a:endParaRPr sz="2800">
              <a:latin typeface="Times New Roman" panose="02020603050405020304"/>
              <a:cs typeface="Times New Roman" panose="02020603050405020304"/>
            </a:endParaRPr>
          </a:p>
          <a:p>
            <a:pPr marL="637540" indent="-515620">
              <a:lnSpc>
                <a:spcPct val="100000"/>
              </a:lnSpc>
              <a:spcBef>
                <a:spcPts val="675"/>
              </a:spcBef>
              <a:buAutoNum type="arabicPeriod"/>
              <a:tabLst>
                <a:tab pos="637540" algn="l"/>
              </a:tabLst>
            </a:pPr>
            <a:r>
              <a:rPr sz="2800" dirty="0">
                <a:latin typeface="Times New Roman" panose="02020603050405020304"/>
                <a:cs typeface="Times New Roman" panose="02020603050405020304"/>
              </a:rPr>
              <a:t>Intervention</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minimize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adverse</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effects</a:t>
            </a:r>
            <a:endParaRPr sz="2800">
              <a:latin typeface="Times New Roman" panose="02020603050405020304"/>
              <a:cs typeface="Times New Roman" panose="020206030504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53847"/>
            <a:ext cx="1929764" cy="482600"/>
          </a:xfrm>
          <a:prstGeom prst="rect">
            <a:avLst/>
          </a:prstGeom>
        </p:spPr>
        <p:txBody>
          <a:bodyPr vert="horz" wrap="square" lIns="0" tIns="12700" rIns="0" bIns="0" rtlCol="0">
            <a:spAutoFit/>
          </a:bodyPr>
          <a:lstStyle/>
          <a:p>
            <a:pPr marL="12700">
              <a:lnSpc>
                <a:spcPct val="100000"/>
              </a:lnSpc>
              <a:spcBef>
                <a:spcPts val="100"/>
              </a:spcBef>
            </a:pPr>
            <a:r>
              <a:rPr sz="3000" spc="-10" dirty="0"/>
              <a:t>Evaluation:</a:t>
            </a:r>
            <a:endParaRPr sz="3000"/>
          </a:p>
        </p:txBody>
      </p:sp>
      <p:sp>
        <p:nvSpPr>
          <p:cNvPr id="3" name="object 3"/>
          <p:cNvSpPr txBox="1"/>
          <p:nvPr/>
        </p:nvSpPr>
        <p:spPr>
          <a:xfrm>
            <a:off x="78739" y="444449"/>
            <a:ext cx="8926830" cy="5376545"/>
          </a:xfrm>
          <a:prstGeom prst="rect">
            <a:avLst/>
          </a:prstGeom>
        </p:spPr>
        <p:txBody>
          <a:bodyPr vert="horz" wrap="square" lIns="0" tIns="57785" rIns="0" bIns="0" rtlCol="0">
            <a:spAutoFit/>
          </a:bodyPr>
          <a:lstStyle/>
          <a:p>
            <a:pPr marL="355600" marR="5080" indent="-342900">
              <a:lnSpc>
                <a:spcPts val="2810"/>
              </a:lnSpc>
              <a:spcBef>
                <a:spcPts val="455"/>
              </a:spcBef>
              <a:buFont typeface="Microsoft Sans Serif" panose="020B0604020202020204"/>
              <a:buChar char="•"/>
              <a:tabLst>
                <a:tab pos="355600" algn="l"/>
              </a:tabLst>
            </a:pPr>
            <a:r>
              <a:rPr sz="2600" dirty="0">
                <a:latin typeface="Times New Roman" panose="02020603050405020304"/>
                <a:cs typeface="Times New Roman" panose="02020603050405020304"/>
              </a:rPr>
              <a:t>This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step</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performed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determine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degree</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to</a:t>
            </a:r>
            <a:r>
              <a:rPr sz="2600" spc="-2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which </a:t>
            </a:r>
            <a:r>
              <a:rPr sz="2600" dirty="0">
                <a:latin typeface="Times New Roman" panose="02020603050405020304"/>
                <a:cs typeface="Times New Roman" panose="02020603050405020304"/>
              </a:rPr>
              <a:t>treatment</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has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succeeded</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accomplished</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by</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analyzing</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5" dirty="0">
                <a:latin typeface="Times New Roman" panose="02020603050405020304"/>
                <a:cs typeface="Times New Roman" panose="02020603050405020304"/>
              </a:rPr>
              <a:t> </a:t>
            </a:r>
            <a:r>
              <a:rPr sz="2600" spc="-20" dirty="0">
                <a:latin typeface="Times New Roman" panose="02020603050405020304"/>
                <a:cs typeface="Times New Roman" panose="02020603050405020304"/>
              </a:rPr>
              <a:t>data </a:t>
            </a:r>
            <a:r>
              <a:rPr sz="2600" dirty="0">
                <a:latin typeface="Times New Roman" panose="02020603050405020304"/>
                <a:cs typeface="Times New Roman" panose="02020603050405020304"/>
              </a:rPr>
              <a:t>collected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following</a:t>
            </a:r>
            <a:r>
              <a:rPr sz="2600" spc="-2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implementation.</a:t>
            </a:r>
            <a:endParaRPr sz="2600">
              <a:latin typeface="Times New Roman" panose="02020603050405020304"/>
              <a:cs typeface="Times New Roman" panose="02020603050405020304"/>
            </a:endParaRPr>
          </a:p>
          <a:p>
            <a:pPr marL="355600" marR="625475" indent="-342900">
              <a:lnSpc>
                <a:spcPts val="2810"/>
              </a:lnSpc>
              <a:spcBef>
                <a:spcPts val="625"/>
              </a:spcBef>
              <a:buChar char="•"/>
              <a:tabLst>
                <a:tab pos="355600" algn="l"/>
                <a:tab pos="520065" algn="l"/>
              </a:tabLst>
            </a:pPr>
            <a:r>
              <a:rPr sz="2600" dirty="0">
                <a:latin typeface="Microsoft Sans Serif" panose="020B0604020202020204"/>
                <a:cs typeface="Microsoft Sans Serif" panose="020B0604020202020204"/>
              </a:rPr>
              <a:t>	</a:t>
            </a:r>
            <a:r>
              <a:rPr sz="2600" dirty="0">
                <a:latin typeface="Times New Roman" panose="02020603050405020304"/>
                <a:cs typeface="Times New Roman" panose="02020603050405020304"/>
              </a:rPr>
              <a:t>Evaluation</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is a</a:t>
            </a:r>
            <a:r>
              <a:rPr sz="2600" spc="-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decision-</a:t>
            </a:r>
            <a:r>
              <a:rPr sz="2600" dirty="0">
                <a:latin typeface="Times New Roman" panose="02020603050405020304"/>
                <a:cs typeface="Times New Roman" panose="02020603050405020304"/>
              </a:rPr>
              <a:t>making</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process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involves </a:t>
            </a:r>
            <a:r>
              <a:rPr sz="2600" dirty="0">
                <a:latin typeface="Times New Roman" panose="02020603050405020304"/>
                <a:cs typeface="Times New Roman" panose="02020603050405020304"/>
              </a:rPr>
              <a:t>determining</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effectiveness</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nursing</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interventions</a:t>
            </a:r>
            <a:r>
              <a:rPr sz="2600" spc="-6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in </a:t>
            </a:r>
            <a:r>
              <a:rPr sz="2600" dirty="0">
                <a:latin typeface="Times New Roman" panose="02020603050405020304"/>
                <a:cs typeface="Times New Roman" panose="02020603050405020304"/>
              </a:rPr>
              <a:t>meeting</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expected</a:t>
            </a:r>
            <a:r>
              <a:rPr sz="2600" spc="-40"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outcomes.</a:t>
            </a:r>
            <a:endParaRPr sz="2600">
              <a:latin typeface="Times New Roman" panose="02020603050405020304"/>
              <a:cs typeface="Times New Roman" panose="02020603050405020304"/>
            </a:endParaRPr>
          </a:p>
          <a:p>
            <a:pPr marL="353695" marR="276860" indent="-340995" algn="just">
              <a:lnSpc>
                <a:spcPct val="90000"/>
              </a:lnSpc>
              <a:spcBef>
                <a:spcPts val="575"/>
              </a:spcBef>
              <a:buFont typeface="Microsoft Sans Serif" panose="020B0604020202020204"/>
              <a:buChar char="•"/>
              <a:tabLst>
                <a:tab pos="355600" algn="l"/>
              </a:tabLst>
            </a:pPr>
            <a:r>
              <a:rPr sz="2600" dirty="0">
                <a:latin typeface="Times New Roman" panose="02020603050405020304"/>
                <a:cs typeface="Times New Roman" panose="02020603050405020304"/>
              </a:rPr>
              <a:t>Some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outcomes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can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be</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evaluated</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within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few</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minutes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5" dirty="0">
                <a:latin typeface="Times New Roman" panose="02020603050405020304"/>
                <a:cs typeface="Times New Roman" panose="02020603050405020304"/>
              </a:rPr>
              <a:t> </a:t>
            </a:r>
            <a:r>
              <a:rPr sz="2600" spc="-20" dirty="0">
                <a:latin typeface="Times New Roman" panose="02020603050405020304"/>
                <a:cs typeface="Times New Roman" panose="02020603050405020304"/>
              </a:rPr>
              <a:t>drug 	</a:t>
            </a:r>
            <a:r>
              <a:rPr sz="2600" dirty="0">
                <a:latin typeface="Times New Roman" panose="02020603050405020304"/>
                <a:cs typeface="Times New Roman" panose="02020603050405020304"/>
              </a:rPr>
              <a:t>administration</a:t>
            </a:r>
            <a:r>
              <a:rPr sz="2600" spc="-35" dirty="0">
                <a:latin typeface="Times New Roman" panose="02020603050405020304"/>
                <a:cs typeface="Times New Roman" panose="02020603050405020304"/>
              </a:rPr>
              <a:t> </a:t>
            </a:r>
            <a:r>
              <a:rPr sz="2600" dirty="0">
                <a:latin typeface="Times New Roman" panose="02020603050405020304"/>
                <a:cs typeface="Times New Roman" panose="02020603050405020304"/>
              </a:rPr>
              <a:t>(e.g.,</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relief</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acute</a:t>
            </a:r>
            <a:r>
              <a:rPr sz="2600" spc="-50" dirty="0">
                <a:latin typeface="Times New Roman" panose="02020603050405020304"/>
                <a:cs typeface="Times New Roman" panose="02020603050405020304"/>
              </a:rPr>
              <a:t> </a:t>
            </a:r>
            <a:r>
              <a:rPr sz="2600" dirty="0">
                <a:latin typeface="Times New Roman" panose="02020603050405020304"/>
                <a:cs typeface="Times New Roman" panose="02020603050405020304"/>
              </a:rPr>
              <a:t>pain</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after</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administration</a:t>
            </a:r>
            <a:r>
              <a:rPr sz="2600" spc="-2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of 	</a:t>
            </a:r>
            <a:r>
              <a:rPr sz="2600" dirty="0">
                <a:latin typeface="Times New Roman" panose="02020603050405020304"/>
                <a:cs typeface="Times New Roman" panose="02020603050405020304"/>
              </a:rPr>
              <a:t>an</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analgesic),</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but</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most</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require</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longer</a:t>
            </a:r>
            <a:r>
              <a:rPr sz="2600" spc="-3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periods.</a:t>
            </a:r>
            <a:endParaRPr sz="2600">
              <a:latin typeface="Times New Roman" panose="02020603050405020304"/>
              <a:cs typeface="Times New Roman" panose="02020603050405020304"/>
            </a:endParaRPr>
          </a:p>
          <a:p>
            <a:pPr marL="355600" marR="182880" indent="-342900">
              <a:lnSpc>
                <a:spcPct val="90000"/>
              </a:lnSpc>
              <a:spcBef>
                <a:spcPts val="625"/>
              </a:spcBef>
              <a:buFont typeface="Microsoft Sans Serif" panose="020B0604020202020204"/>
              <a:buChar char="•"/>
              <a:tabLst>
                <a:tab pos="355600" algn="l"/>
              </a:tabLst>
            </a:pPr>
            <a:r>
              <a:rPr sz="2600" dirty="0">
                <a:latin typeface="Times New Roman" panose="02020603050405020304"/>
                <a:cs typeface="Times New Roman" panose="02020603050405020304"/>
              </a:rPr>
              <a:t>Evaluation</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should</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identify</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those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interventions</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should</a:t>
            </a:r>
            <a:r>
              <a:rPr sz="2600" spc="-2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be </a:t>
            </a:r>
            <a:r>
              <a:rPr sz="2600" dirty="0">
                <a:latin typeface="Times New Roman" panose="02020603050405020304"/>
                <a:cs typeface="Times New Roman" panose="02020603050405020304"/>
              </a:rPr>
              <a:t>continued,</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those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should</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be</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discontinued,</a:t>
            </a:r>
            <a:r>
              <a:rPr sz="2600" spc="-40" dirty="0">
                <a:latin typeface="Times New Roman" panose="02020603050405020304"/>
                <a:cs typeface="Times New Roman" panose="02020603050405020304"/>
              </a:rPr>
              <a:t> </a:t>
            </a:r>
            <a:r>
              <a:rPr sz="2600" dirty="0">
                <a:latin typeface="Times New Roman" panose="02020603050405020304"/>
                <a:cs typeface="Times New Roman" panose="02020603050405020304"/>
              </a:rPr>
              <a:t>and</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potential</a:t>
            </a:r>
            <a:r>
              <a:rPr sz="2600" spc="-1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new </a:t>
            </a:r>
            <a:r>
              <a:rPr sz="2600" dirty="0">
                <a:latin typeface="Times New Roman" panose="02020603050405020304"/>
                <a:cs typeface="Times New Roman" panose="02020603050405020304"/>
              </a:rPr>
              <a:t>interventions</a:t>
            </a:r>
            <a:r>
              <a:rPr sz="2600" spc="-5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that</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might</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be</a:t>
            </a:r>
            <a:r>
              <a:rPr sz="2600" spc="-2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implemented.</a:t>
            </a:r>
            <a:endParaRPr sz="2600">
              <a:latin typeface="Times New Roman" panose="02020603050405020304"/>
              <a:cs typeface="Times New Roman" panose="02020603050405020304"/>
            </a:endParaRPr>
          </a:p>
          <a:p>
            <a:pPr marL="355600" marR="47625" indent="-342900">
              <a:lnSpc>
                <a:spcPts val="2810"/>
              </a:lnSpc>
              <a:spcBef>
                <a:spcPts val="665"/>
              </a:spcBef>
              <a:buFont typeface="Microsoft Sans Serif" panose="020B0604020202020204"/>
              <a:buChar char="•"/>
              <a:tabLst>
                <a:tab pos="355600" algn="l"/>
              </a:tabLst>
            </a:pPr>
            <a:r>
              <a:rPr sz="2600" dirty="0">
                <a:latin typeface="Times New Roman" panose="02020603050405020304"/>
                <a:cs typeface="Times New Roman" panose="02020603050405020304"/>
              </a:rPr>
              <a:t>Evaluation</a:t>
            </a:r>
            <a:r>
              <a:rPr sz="2600" spc="-25" dirty="0">
                <a:latin typeface="Times New Roman" panose="02020603050405020304"/>
                <a:cs typeface="Times New Roman" panose="02020603050405020304"/>
              </a:rPr>
              <a:t> </a:t>
            </a:r>
            <a:r>
              <a:rPr sz="2600" dirty="0">
                <a:latin typeface="Times New Roman" panose="02020603050405020304"/>
                <a:cs typeface="Times New Roman" panose="02020603050405020304"/>
              </a:rPr>
              <a:t>completes</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initial</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cycle</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of</a:t>
            </a:r>
            <a:r>
              <a:rPr sz="2600" spc="-20"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10" dirty="0">
                <a:latin typeface="Times New Roman" panose="02020603050405020304"/>
                <a:cs typeface="Times New Roman" panose="02020603050405020304"/>
              </a:rPr>
              <a:t> </a:t>
            </a:r>
            <a:r>
              <a:rPr sz="2600" dirty="0">
                <a:latin typeface="Times New Roman" panose="02020603050405020304"/>
                <a:cs typeface="Times New Roman" panose="02020603050405020304"/>
              </a:rPr>
              <a:t>nursing</a:t>
            </a:r>
            <a:r>
              <a:rPr sz="2600" spc="-30" dirty="0">
                <a:latin typeface="Times New Roman" panose="02020603050405020304"/>
                <a:cs typeface="Times New Roman" panose="02020603050405020304"/>
              </a:rPr>
              <a:t> </a:t>
            </a:r>
            <a:r>
              <a:rPr sz="2600" dirty="0">
                <a:latin typeface="Times New Roman" panose="02020603050405020304"/>
                <a:cs typeface="Times New Roman" panose="02020603050405020304"/>
              </a:rPr>
              <a:t>process</a:t>
            </a:r>
            <a:r>
              <a:rPr sz="2600" spc="-30" dirty="0">
                <a:latin typeface="Times New Roman" panose="02020603050405020304"/>
                <a:cs typeface="Times New Roman" panose="02020603050405020304"/>
              </a:rPr>
              <a:t> </a:t>
            </a:r>
            <a:r>
              <a:rPr sz="2600" spc="-25" dirty="0">
                <a:latin typeface="Times New Roman" panose="02020603050405020304"/>
                <a:cs typeface="Times New Roman" panose="02020603050405020304"/>
              </a:rPr>
              <a:t>and </a:t>
            </a:r>
            <a:r>
              <a:rPr sz="2600" dirty="0">
                <a:latin typeface="Times New Roman" panose="02020603050405020304"/>
                <a:cs typeface="Times New Roman" panose="02020603050405020304"/>
              </a:rPr>
              <a:t>provides</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 basis</a:t>
            </a:r>
            <a:r>
              <a:rPr sz="2600" spc="-15" dirty="0">
                <a:latin typeface="Times New Roman" panose="02020603050405020304"/>
                <a:cs typeface="Times New Roman" panose="02020603050405020304"/>
              </a:rPr>
              <a:t> </a:t>
            </a:r>
            <a:r>
              <a:rPr sz="2600" dirty="0">
                <a:latin typeface="Times New Roman" panose="02020603050405020304"/>
                <a:cs typeface="Times New Roman" panose="02020603050405020304"/>
              </a:rPr>
              <a:t>for beginning</a:t>
            </a:r>
            <a:r>
              <a:rPr sz="2600" spc="-45" dirty="0">
                <a:latin typeface="Times New Roman" panose="02020603050405020304"/>
                <a:cs typeface="Times New Roman" panose="02020603050405020304"/>
              </a:rPr>
              <a:t> </a:t>
            </a:r>
            <a:r>
              <a:rPr sz="2600" dirty="0">
                <a:latin typeface="Times New Roman" panose="02020603050405020304"/>
                <a:cs typeface="Times New Roman" panose="02020603050405020304"/>
              </a:rPr>
              <a:t>the</a:t>
            </a:r>
            <a:r>
              <a:rPr sz="2600" spc="5" dirty="0">
                <a:latin typeface="Times New Roman" panose="02020603050405020304"/>
                <a:cs typeface="Times New Roman" panose="02020603050405020304"/>
              </a:rPr>
              <a:t> </a:t>
            </a:r>
            <a:r>
              <a:rPr sz="2600" dirty="0">
                <a:latin typeface="Times New Roman" panose="02020603050405020304"/>
                <a:cs typeface="Times New Roman" panose="02020603050405020304"/>
              </a:rPr>
              <a:t>cycle</a:t>
            </a:r>
            <a:r>
              <a:rPr sz="2600" spc="-15" dirty="0">
                <a:latin typeface="Times New Roman" panose="02020603050405020304"/>
                <a:cs typeface="Times New Roman" panose="02020603050405020304"/>
              </a:rPr>
              <a:t> </a:t>
            </a:r>
            <a:r>
              <a:rPr sz="2600" spc="-10" dirty="0">
                <a:latin typeface="Times New Roman" panose="02020603050405020304"/>
                <a:cs typeface="Times New Roman" panose="02020603050405020304"/>
              </a:rPr>
              <a:t>anew.</a:t>
            </a:r>
            <a:endParaRPr sz="2600">
              <a:latin typeface="Times New Roman" panose="02020603050405020304"/>
              <a:cs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 y="-24561"/>
            <a:ext cx="8594090" cy="822325"/>
          </a:xfrm>
          <a:prstGeom prst="rect">
            <a:avLst/>
          </a:prstGeom>
        </p:spPr>
        <p:txBody>
          <a:bodyPr vert="horz" wrap="square" lIns="0" tIns="101600" rIns="0" bIns="0" rtlCol="0">
            <a:spAutoFit/>
          </a:bodyPr>
          <a:lstStyle/>
          <a:p>
            <a:pPr marL="355600" marR="5080" indent="-342900">
              <a:lnSpc>
                <a:spcPct val="80000"/>
              </a:lnSpc>
              <a:spcBef>
                <a:spcPts val="800"/>
              </a:spcBef>
            </a:pPr>
            <a:r>
              <a:rPr sz="2900" b="0" dirty="0">
                <a:solidFill>
                  <a:srgbClr val="000000"/>
                </a:solidFill>
                <a:latin typeface="Times New Roman" panose="02020603050405020304"/>
                <a:cs typeface="Times New Roman" panose="02020603050405020304"/>
              </a:rPr>
              <a:t>When</a:t>
            </a:r>
            <a:r>
              <a:rPr sz="2900" b="0" spc="-45"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related</a:t>
            </a:r>
            <a:r>
              <a:rPr sz="2900" b="0" spc="-2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to</a:t>
            </a:r>
            <a:r>
              <a:rPr sz="2900" b="0" spc="-15"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the</a:t>
            </a:r>
            <a:r>
              <a:rPr sz="2900" b="0" spc="-35"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administration</a:t>
            </a:r>
            <a:r>
              <a:rPr sz="2900" b="0" spc="-2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of</a:t>
            </a:r>
            <a:r>
              <a:rPr sz="2900" b="0" spc="-15"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a</a:t>
            </a:r>
            <a:r>
              <a:rPr sz="2900" b="0" spc="-3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drug,</a:t>
            </a:r>
            <a:r>
              <a:rPr sz="2900" b="0" spc="-4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this</a:t>
            </a:r>
            <a:r>
              <a:rPr sz="2900" b="0" spc="-4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phase</a:t>
            </a:r>
            <a:r>
              <a:rPr sz="2900" b="0" spc="-25" dirty="0">
                <a:solidFill>
                  <a:srgbClr val="000000"/>
                </a:solidFill>
                <a:latin typeface="Times New Roman" panose="02020603050405020304"/>
                <a:cs typeface="Times New Roman" panose="02020603050405020304"/>
              </a:rPr>
              <a:t> of </a:t>
            </a:r>
            <a:r>
              <a:rPr sz="2900" b="0" dirty="0">
                <a:solidFill>
                  <a:srgbClr val="000000"/>
                </a:solidFill>
                <a:latin typeface="Times New Roman" panose="02020603050405020304"/>
                <a:cs typeface="Times New Roman" panose="02020603050405020304"/>
              </a:rPr>
              <a:t>the</a:t>
            </a:r>
            <a:r>
              <a:rPr sz="2900" b="0" spc="-2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nursing</a:t>
            </a:r>
            <a:r>
              <a:rPr sz="2900" b="0" spc="-25"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process</a:t>
            </a:r>
            <a:r>
              <a:rPr sz="2900" b="0" spc="-35"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is</a:t>
            </a:r>
            <a:r>
              <a:rPr sz="2900" b="0" spc="-2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used</a:t>
            </a:r>
            <a:r>
              <a:rPr sz="2900" b="0" spc="-2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to</a:t>
            </a:r>
            <a:r>
              <a:rPr sz="2900" b="0" spc="-15"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evaluate</a:t>
            </a:r>
            <a:r>
              <a:rPr sz="2900" b="0" spc="-2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the</a:t>
            </a:r>
            <a:r>
              <a:rPr sz="2900" b="0" spc="-10" dirty="0">
                <a:solidFill>
                  <a:srgbClr val="000000"/>
                </a:solidFill>
                <a:latin typeface="Times New Roman" panose="02020603050405020304"/>
                <a:cs typeface="Times New Roman" panose="02020603050405020304"/>
              </a:rPr>
              <a:t> </a:t>
            </a:r>
            <a:r>
              <a:rPr sz="2900" b="0" dirty="0">
                <a:solidFill>
                  <a:srgbClr val="000000"/>
                </a:solidFill>
                <a:latin typeface="Times New Roman" panose="02020603050405020304"/>
                <a:cs typeface="Times New Roman" panose="02020603050405020304"/>
              </a:rPr>
              <a:t>patient</a:t>
            </a:r>
            <a:r>
              <a:rPr sz="2900" b="0" spc="-30" dirty="0">
                <a:solidFill>
                  <a:srgbClr val="000000"/>
                </a:solidFill>
                <a:latin typeface="Times New Roman" panose="02020603050405020304"/>
                <a:cs typeface="Times New Roman" panose="02020603050405020304"/>
              </a:rPr>
              <a:t> </a:t>
            </a:r>
            <a:r>
              <a:rPr sz="2900" b="0" spc="-20" dirty="0">
                <a:solidFill>
                  <a:srgbClr val="000000"/>
                </a:solidFill>
                <a:latin typeface="Times New Roman" panose="02020603050405020304"/>
                <a:cs typeface="Times New Roman" panose="02020603050405020304"/>
              </a:rPr>
              <a:t>for:</a:t>
            </a:r>
            <a:endParaRPr sz="2900">
              <a:latin typeface="Times New Roman" panose="02020603050405020304"/>
              <a:cs typeface="Times New Roman" panose="02020603050405020304"/>
            </a:endParaRPr>
          </a:p>
        </p:txBody>
      </p:sp>
      <p:sp>
        <p:nvSpPr>
          <p:cNvPr id="3" name="object 3"/>
          <p:cNvSpPr txBox="1"/>
          <p:nvPr/>
        </p:nvSpPr>
        <p:spPr>
          <a:xfrm>
            <a:off x="115315" y="771270"/>
            <a:ext cx="8985885" cy="5891530"/>
          </a:xfrm>
          <a:prstGeom prst="rect">
            <a:avLst/>
          </a:prstGeom>
        </p:spPr>
        <p:txBody>
          <a:bodyPr vert="horz" wrap="square" lIns="0" tIns="13335" rIns="0" bIns="0" rtlCol="0">
            <a:spAutoFit/>
          </a:bodyPr>
          <a:lstStyle/>
          <a:p>
            <a:pPr marL="527685" indent="-514985">
              <a:lnSpc>
                <a:spcPct val="100000"/>
              </a:lnSpc>
              <a:spcBef>
                <a:spcPts val="105"/>
              </a:spcBef>
              <a:buAutoNum type="arabicPeriod"/>
              <a:tabLst>
                <a:tab pos="527685" algn="l"/>
              </a:tabLst>
            </a:pPr>
            <a:r>
              <a:rPr sz="2900" dirty="0">
                <a:latin typeface="Times New Roman" panose="02020603050405020304"/>
                <a:cs typeface="Times New Roman" panose="02020603050405020304"/>
              </a:rPr>
              <a:t>effectiveness</a:t>
            </a:r>
            <a:r>
              <a:rPr sz="2900" spc="-50" dirty="0">
                <a:latin typeface="Times New Roman" panose="02020603050405020304"/>
                <a:cs typeface="Times New Roman" panose="02020603050405020304"/>
              </a:rPr>
              <a:t> </a:t>
            </a:r>
            <a:r>
              <a:rPr sz="2900" dirty="0">
                <a:latin typeface="Times New Roman" panose="02020603050405020304"/>
                <a:cs typeface="Times New Roman" panose="02020603050405020304"/>
              </a:rPr>
              <a:t>of</a:t>
            </a:r>
            <a:r>
              <a:rPr sz="2900" spc="-10" dirty="0">
                <a:latin typeface="Times New Roman" panose="02020603050405020304"/>
                <a:cs typeface="Times New Roman" panose="02020603050405020304"/>
              </a:rPr>
              <a:t> </a:t>
            </a:r>
            <a:r>
              <a:rPr sz="2900" dirty="0">
                <a:latin typeface="Times New Roman" panose="02020603050405020304"/>
                <a:cs typeface="Times New Roman" panose="02020603050405020304"/>
              </a:rPr>
              <a:t>the</a:t>
            </a:r>
            <a:r>
              <a:rPr sz="2900" spc="-25" dirty="0">
                <a:latin typeface="Times New Roman" panose="02020603050405020304"/>
                <a:cs typeface="Times New Roman" panose="02020603050405020304"/>
              </a:rPr>
              <a:t> </a:t>
            </a:r>
            <a:r>
              <a:rPr sz="2900" dirty="0">
                <a:latin typeface="Times New Roman" panose="02020603050405020304"/>
                <a:cs typeface="Times New Roman" panose="02020603050405020304"/>
              </a:rPr>
              <a:t>drug</a:t>
            </a:r>
            <a:r>
              <a:rPr sz="2900" spc="-30"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regimen—</a:t>
            </a:r>
            <a:r>
              <a:rPr sz="2900" dirty="0">
                <a:latin typeface="Times New Roman" panose="02020603050405020304"/>
                <a:cs typeface="Times New Roman" panose="02020603050405020304"/>
              </a:rPr>
              <a:t>therapeutic</a:t>
            </a:r>
            <a:r>
              <a:rPr sz="2900" spc="-10" dirty="0">
                <a:latin typeface="Times New Roman" panose="02020603050405020304"/>
                <a:cs typeface="Times New Roman" panose="02020603050405020304"/>
              </a:rPr>
              <a:t> responses</a:t>
            </a:r>
            <a:endParaRPr sz="2900">
              <a:latin typeface="Times New Roman" panose="02020603050405020304"/>
              <a:cs typeface="Times New Roman" panose="02020603050405020304"/>
            </a:endParaRPr>
          </a:p>
          <a:p>
            <a:pPr marL="527685" indent="-514985">
              <a:lnSpc>
                <a:spcPct val="100000"/>
              </a:lnSpc>
              <a:buAutoNum type="arabicPeriod"/>
              <a:tabLst>
                <a:tab pos="527685" algn="l"/>
              </a:tabLst>
            </a:pPr>
            <a:r>
              <a:rPr sz="2900" dirty="0">
                <a:latin typeface="Times New Roman" panose="02020603050405020304"/>
                <a:cs typeface="Times New Roman" panose="02020603050405020304"/>
              </a:rPr>
              <a:t>adverse</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drug</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reactions</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and</a:t>
            </a:r>
            <a:r>
              <a:rPr sz="2900" spc="-15"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interactions</a:t>
            </a:r>
            <a:endParaRPr sz="2900">
              <a:latin typeface="Times New Roman" panose="02020603050405020304"/>
              <a:cs typeface="Times New Roman" panose="02020603050405020304"/>
            </a:endParaRPr>
          </a:p>
          <a:p>
            <a:pPr marL="527685" indent="-514985">
              <a:lnSpc>
                <a:spcPct val="100000"/>
              </a:lnSpc>
              <a:buAutoNum type="arabicPeriod"/>
              <a:tabLst>
                <a:tab pos="527685" algn="l"/>
              </a:tabLst>
            </a:pPr>
            <a:r>
              <a:rPr sz="2900" dirty="0">
                <a:latin typeface="Times New Roman" panose="02020603050405020304"/>
                <a:cs typeface="Times New Roman" panose="02020603050405020304"/>
              </a:rPr>
              <a:t>compliance</a:t>
            </a:r>
            <a:r>
              <a:rPr sz="2900" spc="-5" dirty="0">
                <a:latin typeface="Times New Roman" panose="02020603050405020304"/>
                <a:cs typeface="Times New Roman" panose="02020603050405020304"/>
              </a:rPr>
              <a:t> </a:t>
            </a:r>
            <a:r>
              <a:rPr sz="2900" dirty="0">
                <a:latin typeface="Times New Roman" panose="02020603050405020304"/>
                <a:cs typeface="Times New Roman" panose="02020603050405020304"/>
              </a:rPr>
              <a:t>(adherence</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to</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prescribe</a:t>
            </a:r>
            <a:r>
              <a:rPr sz="2900" spc="-55"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regimen)</a:t>
            </a:r>
            <a:endParaRPr sz="2900">
              <a:latin typeface="Times New Roman" panose="02020603050405020304"/>
              <a:cs typeface="Times New Roman" panose="02020603050405020304"/>
            </a:endParaRPr>
          </a:p>
          <a:p>
            <a:pPr marL="527685" indent="-514985">
              <a:lnSpc>
                <a:spcPct val="100000"/>
              </a:lnSpc>
              <a:buAutoNum type="arabicPeriod"/>
              <a:tabLst>
                <a:tab pos="527685" algn="l"/>
              </a:tabLst>
            </a:pPr>
            <a:r>
              <a:rPr sz="2900" dirty="0">
                <a:latin typeface="Times New Roman" panose="02020603050405020304"/>
                <a:cs typeface="Times New Roman" panose="02020603050405020304"/>
              </a:rPr>
              <a:t>patient/family's</a:t>
            </a:r>
            <a:r>
              <a:rPr sz="2900" spc="-10" dirty="0">
                <a:latin typeface="Times New Roman" panose="02020603050405020304"/>
                <a:cs typeface="Times New Roman" panose="02020603050405020304"/>
              </a:rPr>
              <a:t> </a:t>
            </a:r>
            <a:r>
              <a:rPr sz="2900" dirty="0">
                <a:latin typeface="Times New Roman" panose="02020603050405020304"/>
                <a:cs typeface="Times New Roman" panose="02020603050405020304"/>
              </a:rPr>
              <a:t>understanding</a:t>
            </a:r>
            <a:r>
              <a:rPr sz="2900" spc="-60" dirty="0">
                <a:latin typeface="Times New Roman" panose="02020603050405020304"/>
                <a:cs typeface="Times New Roman" panose="02020603050405020304"/>
              </a:rPr>
              <a:t> </a:t>
            </a:r>
            <a:r>
              <a:rPr sz="2900" dirty="0">
                <a:latin typeface="Times New Roman" panose="02020603050405020304"/>
                <a:cs typeface="Times New Roman" panose="02020603050405020304"/>
              </a:rPr>
              <a:t>of</a:t>
            </a:r>
            <a:r>
              <a:rPr sz="2900" spc="-25" dirty="0">
                <a:latin typeface="Times New Roman" panose="02020603050405020304"/>
                <a:cs typeface="Times New Roman" panose="02020603050405020304"/>
              </a:rPr>
              <a:t> </a:t>
            </a:r>
            <a:r>
              <a:rPr sz="2900" dirty="0">
                <a:latin typeface="Times New Roman" panose="02020603050405020304"/>
                <a:cs typeface="Times New Roman" panose="02020603050405020304"/>
              </a:rPr>
              <a:t>the</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drug</a:t>
            </a:r>
            <a:r>
              <a:rPr sz="2900" spc="-40"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regimen.</a:t>
            </a:r>
            <a:endParaRPr sz="2900">
              <a:latin typeface="Times New Roman" panose="02020603050405020304"/>
              <a:cs typeface="Times New Roman" panose="02020603050405020304"/>
            </a:endParaRPr>
          </a:p>
          <a:p>
            <a:pPr marL="527685" indent="-514985">
              <a:lnSpc>
                <a:spcPct val="100000"/>
              </a:lnSpc>
              <a:buAutoNum type="arabicPeriod"/>
              <a:tabLst>
                <a:tab pos="527685" algn="l"/>
              </a:tabLst>
            </a:pPr>
            <a:r>
              <a:rPr sz="2900" dirty="0">
                <a:latin typeface="Times New Roman" panose="02020603050405020304"/>
                <a:cs typeface="Times New Roman" panose="02020603050405020304"/>
              </a:rPr>
              <a:t>satisfaction</a:t>
            </a:r>
            <a:r>
              <a:rPr sz="2900" spc="-65" dirty="0">
                <a:latin typeface="Times New Roman" panose="02020603050405020304"/>
                <a:cs typeface="Times New Roman" panose="02020603050405020304"/>
              </a:rPr>
              <a:t> </a:t>
            </a:r>
            <a:r>
              <a:rPr sz="2900" dirty="0">
                <a:latin typeface="Times New Roman" panose="02020603050405020304"/>
                <a:cs typeface="Times New Roman" panose="02020603050405020304"/>
              </a:rPr>
              <a:t>with</a:t>
            </a:r>
            <a:r>
              <a:rPr sz="2900" spc="-25"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treatment</a:t>
            </a:r>
            <a:endParaRPr sz="2900">
              <a:latin typeface="Times New Roman" panose="02020603050405020304"/>
              <a:cs typeface="Times New Roman" panose="02020603050405020304"/>
            </a:endParaRPr>
          </a:p>
          <a:p>
            <a:pPr marL="355600" marR="68580" lvl="1" indent="-342900">
              <a:lnSpc>
                <a:spcPct val="80000"/>
              </a:lnSpc>
              <a:spcBef>
                <a:spcPts val="700"/>
              </a:spcBef>
              <a:buFont typeface="Microsoft Sans Serif" panose="020B0604020202020204"/>
              <a:buChar char="•"/>
              <a:tabLst>
                <a:tab pos="355600" algn="l"/>
              </a:tabLst>
            </a:pPr>
            <a:r>
              <a:rPr sz="2900" dirty="0">
                <a:latin typeface="Times New Roman" panose="02020603050405020304"/>
                <a:cs typeface="Times New Roman" panose="02020603050405020304"/>
              </a:rPr>
              <a:t>How</a:t>
            </a:r>
            <a:r>
              <a:rPr sz="2900" spc="-25" dirty="0">
                <a:latin typeface="Times New Roman" panose="02020603050405020304"/>
                <a:cs typeface="Times New Roman" panose="02020603050405020304"/>
              </a:rPr>
              <a:t> </a:t>
            </a:r>
            <a:r>
              <a:rPr sz="2900" dirty="0">
                <a:latin typeface="Times New Roman" panose="02020603050405020304"/>
                <a:cs typeface="Times New Roman" panose="02020603050405020304"/>
              </a:rPr>
              <a:t>frequently</a:t>
            </a:r>
            <a:r>
              <a:rPr sz="2900" spc="-60" dirty="0">
                <a:latin typeface="Times New Roman" panose="02020603050405020304"/>
                <a:cs typeface="Times New Roman" panose="02020603050405020304"/>
              </a:rPr>
              <a:t> </a:t>
            </a:r>
            <a:r>
              <a:rPr sz="2900" dirty="0">
                <a:latin typeface="Times New Roman" panose="02020603050405020304"/>
                <a:cs typeface="Times New Roman" panose="02020603050405020304"/>
              </a:rPr>
              <a:t>evaluations</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are</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performed</a:t>
            </a:r>
            <a:r>
              <a:rPr sz="2900" spc="-20" dirty="0">
                <a:latin typeface="Times New Roman" panose="02020603050405020304"/>
                <a:cs typeface="Times New Roman" panose="02020603050405020304"/>
              </a:rPr>
              <a:t> </a:t>
            </a:r>
            <a:r>
              <a:rPr sz="2900" dirty="0">
                <a:latin typeface="Times New Roman" panose="02020603050405020304"/>
                <a:cs typeface="Times New Roman" panose="02020603050405020304"/>
              </a:rPr>
              <a:t>depends</a:t>
            </a:r>
            <a:r>
              <a:rPr sz="2900" spc="-25" dirty="0">
                <a:latin typeface="Times New Roman" panose="02020603050405020304"/>
                <a:cs typeface="Times New Roman" panose="02020603050405020304"/>
              </a:rPr>
              <a:t> </a:t>
            </a:r>
            <a:r>
              <a:rPr sz="2900" dirty="0">
                <a:latin typeface="Times New Roman" panose="02020603050405020304"/>
                <a:cs typeface="Times New Roman" panose="02020603050405020304"/>
              </a:rPr>
              <a:t>on</a:t>
            </a:r>
            <a:r>
              <a:rPr sz="2900" spc="-35" dirty="0">
                <a:latin typeface="Times New Roman" panose="02020603050405020304"/>
                <a:cs typeface="Times New Roman" panose="02020603050405020304"/>
              </a:rPr>
              <a:t> </a:t>
            </a:r>
            <a:r>
              <a:rPr sz="2900" spc="-25" dirty="0">
                <a:latin typeface="Times New Roman" panose="02020603050405020304"/>
                <a:cs typeface="Times New Roman" panose="02020603050405020304"/>
              </a:rPr>
              <a:t>the </a:t>
            </a:r>
            <a:r>
              <a:rPr sz="2900" dirty="0">
                <a:latin typeface="Times New Roman" panose="02020603050405020304"/>
                <a:cs typeface="Times New Roman" panose="02020603050405020304"/>
              </a:rPr>
              <a:t>expected</a:t>
            </a:r>
            <a:r>
              <a:rPr sz="2900" spc="-20" dirty="0">
                <a:latin typeface="Times New Roman" panose="02020603050405020304"/>
                <a:cs typeface="Times New Roman" panose="02020603050405020304"/>
              </a:rPr>
              <a:t> </a:t>
            </a:r>
            <a:r>
              <a:rPr sz="2900" dirty="0">
                <a:latin typeface="Times New Roman" panose="02020603050405020304"/>
                <a:cs typeface="Times New Roman" panose="02020603050405020304"/>
              </a:rPr>
              <a:t>time</a:t>
            </a:r>
            <a:r>
              <a:rPr sz="2900" spc="-10" dirty="0">
                <a:latin typeface="Times New Roman" panose="02020603050405020304"/>
                <a:cs typeface="Times New Roman" panose="02020603050405020304"/>
              </a:rPr>
              <a:t> </a:t>
            </a:r>
            <a:r>
              <a:rPr sz="2900" dirty="0">
                <a:latin typeface="Times New Roman" panose="02020603050405020304"/>
                <a:cs typeface="Times New Roman" panose="02020603050405020304"/>
              </a:rPr>
              <a:t>course</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of</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therapeutic</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and</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adverse</a:t>
            </a:r>
            <a:r>
              <a:rPr sz="2900" spc="-15"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effects.</a:t>
            </a:r>
            <a:endParaRPr sz="2900">
              <a:latin typeface="Times New Roman" panose="02020603050405020304"/>
              <a:cs typeface="Times New Roman" panose="02020603050405020304"/>
            </a:endParaRPr>
          </a:p>
          <a:p>
            <a:pPr marL="355600" marR="337820" lvl="1" indent="-342900">
              <a:lnSpc>
                <a:spcPct val="80000"/>
              </a:lnSpc>
              <a:spcBef>
                <a:spcPts val="695"/>
              </a:spcBef>
              <a:buFont typeface="Microsoft Sans Serif" panose="020B0604020202020204"/>
              <a:buChar char="•"/>
              <a:tabLst>
                <a:tab pos="355600" algn="l"/>
              </a:tabLst>
            </a:pPr>
            <a:r>
              <a:rPr sz="2900" dirty="0">
                <a:latin typeface="Times New Roman" panose="02020603050405020304"/>
                <a:cs typeface="Times New Roman" panose="02020603050405020304"/>
              </a:rPr>
              <a:t>Like</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assessment,</a:t>
            </a:r>
            <a:r>
              <a:rPr sz="2900" spc="-5" dirty="0">
                <a:latin typeface="Times New Roman" panose="02020603050405020304"/>
                <a:cs typeface="Times New Roman" panose="02020603050405020304"/>
              </a:rPr>
              <a:t> </a:t>
            </a:r>
            <a:r>
              <a:rPr sz="2900" dirty="0">
                <a:latin typeface="Times New Roman" panose="02020603050405020304"/>
                <a:cs typeface="Times New Roman" panose="02020603050405020304"/>
              </a:rPr>
              <a:t>evaluation</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is</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based</a:t>
            </a:r>
            <a:r>
              <a:rPr sz="2900" spc="-15" dirty="0">
                <a:latin typeface="Times New Roman" panose="02020603050405020304"/>
                <a:cs typeface="Times New Roman" panose="02020603050405020304"/>
              </a:rPr>
              <a:t> </a:t>
            </a:r>
            <a:r>
              <a:rPr sz="2900" dirty="0">
                <a:latin typeface="Times New Roman" panose="02020603050405020304"/>
                <a:cs typeface="Times New Roman" panose="02020603050405020304"/>
              </a:rPr>
              <a:t>on</a:t>
            </a:r>
            <a:r>
              <a:rPr sz="2900" spc="-15" dirty="0">
                <a:latin typeface="Times New Roman" panose="02020603050405020304"/>
                <a:cs typeface="Times New Roman" panose="02020603050405020304"/>
              </a:rPr>
              <a:t> </a:t>
            </a:r>
            <a:r>
              <a:rPr sz="2900" dirty="0">
                <a:latin typeface="Times New Roman" panose="02020603050405020304"/>
                <a:cs typeface="Times New Roman" panose="02020603050405020304"/>
              </a:rPr>
              <a:t>laboratory</a:t>
            </a:r>
            <a:r>
              <a:rPr sz="2900" spc="-45"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tests, </a:t>
            </a:r>
            <a:r>
              <a:rPr sz="2900" dirty="0">
                <a:latin typeface="Times New Roman" panose="02020603050405020304"/>
                <a:cs typeface="Times New Roman" panose="02020603050405020304"/>
              </a:rPr>
              <a:t>observation</a:t>
            </a:r>
            <a:r>
              <a:rPr sz="2900" spc="-65" dirty="0">
                <a:latin typeface="Times New Roman" panose="02020603050405020304"/>
                <a:cs typeface="Times New Roman" panose="02020603050405020304"/>
              </a:rPr>
              <a:t> </a:t>
            </a:r>
            <a:r>
              <a:rPr sz="2900" dirty="0">
                <a:latin typeface="Times New Roman" panose="02020603050405020304"/>
                <a:cs typeface="Times New Roman" panose="02020603050405020304"/>
              </a:rPr>
              <a:t>of</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the</a:t>
            </a:r>
            <a:r>
              <a:rPr sz="2900" spc="-40" dirty="0">
                <a:latin typeface="Times New Roman" panose="02020603050405020304"/>
                <a:cs typeface="Times New Roman" panose="02020603050405020304"/>
              </a:rPr>
              <a:t> </a:t>
            </a:r>
            <a:r>
              <a:rPr sz="2900" dirty="0">
                <a:latin typeface="Times New Roman" panose="02020603050405020304"/>
                <a:cs typeface="Times New Roman" panose="02020603050405020304"/>
              </a:rPr>
              <a:t>patient,</a:t>
            </a:r>
            <a:r>
              <a:rPr sz="2900" spc="-50" dirty="0">
                <a:latin typeface="Times New Roman" panose="02020603050405020304"/>
                <a:cs typeface="Times New Roman" panose="02020603050405020304"/>
              </a:rPr>
              <a:t> </a:t>
            </a:r>
            <a:r>
              <a:rPr sz="2900" dirty="0">
                <a:latin typeface="Times New Roman" panose="02020603050405020304"/>
                <a:cs typeface="Times New Roman" panose="02020603050405020304"/>
              </a:rPr>
              <a:t>physical</a:t>
            </a:r>
            <a:r>
              <a:rPr sz="2900" spc="-40" dirty="0">
                <a:latin typeface="Times New Roman" panose="02020603050405020304"/>
                <a:cs typeface="Times New Roman" panose="02020603050405020304"/>
              </a:rPr>
              <a:t> </a:t>
            </a:r>
            <a:r>
              <a:rPr sz="2900" dirty="0">
                <a:latin typeface="Times New Roman" panose="02020603050405020304"/>
                <a:cs typeface="Times New Roman" panose="02020603050405020304"/>
              </a:rPr>
              <a:t>examination,</a:t>
            </a:r>
            <a:r>
              <a:rPr sz="2900" spc="-25" dirty="0">
                <a:latin typeface="Times New Roman" panose="02020603050405020304"/>
                <a:cs typeface="Times New Roman" panose="02020603050405020304"/>
              </a:rPr>
              <a:t> and </a:t>
            </a:r>
            <a:r>
              <a:rPr sz="2900" dirty="0">
                <a:latin typeface="Times New Roman" panose="02020603050405020304"/>
                <a:cs typeface="Times New Roman" panose="02020603050405020304"/>
              </a:rPr>
              <a:t>patient</a:t>
            </a:r>
            <a:r>
              <a:rPr sz="2900" spc="-25" dirty="0">
                <a:latin typeface="Times New Roman" panose="02020603050405020304"/>
                <a:cs typeface="Times New Roman" panose="02020603050405020304"/>
              </a:rPr>
              <a:t> </a:t>
            </a:r>
            <a:r>
              <a:rPr sz="2900" dirty="0">
                <a:latin typeface="Times New Roman" panose="02020603050405020304"/>
                <a:cs typeface="Times New Roman" panose="02020603050405020304"/>
              </a:rPr>
              <a:t>interviews.</a:t>
            </a:r>
            <a:r>
              <a:rPr sz="2900" spc="-100" dirty="0">
                <a:latin typeface="Times New Roman" panose="02020603050405020304"/>
                <a:cs typeface="Times New Roman" panose="02020603050405020304"/>
              </a:rPr>
              <a:t> </a:t>
            </a:r>
            <a:r>
              <a:rPr sz="2900" dirty="0">
                <a:latin typeface="Times New Roman" panose="02020603050405020304"/>
                <a:cs typeface="Times New Roman" panose="02020603050405020304"/>
              </a:rPr>
              <a:t>The</a:t>
            </a:r>
            <a:r>
              <a:rPr sz="2900" spc="-10" dirty="0">
                <a:latin typeface="Times New Roman" panose="02020603050405020304"/>
                <a:cs typeface="Times New Roman" panose="02020603050405020304"/>
              </a:rPr>
              <a:t> </a:t>
            </a:r>
            <a:r>
              <a:rPr sz="2900" dirty="0">
                <a:latin typeface="Times New Roman" panose="02020603050405020304"/>
                <a:cs typeface="Times New Roman" panose="02020603050405020304"/>
              </a:rPr>
              <a:t>conclusions</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drawn</a:t>
            </a:r>
            <a:r>
              <a:rPr sz="2900" spc="-20"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during </a:t>
            </a:r>
            <a:r>
              <a:rPr sz="2900" dirty="0">
                <a:latin typeface="Times New Roman" panose="02020603050405020304"/>
                <a:cs typeface="Times New Roman" panose="02020603050405020304"/>
              </a:rPr>
              <a:t>evaluation</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provide</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the</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basis</a:t>
            </a:r>
            <a:r>
              <a:rPr sz="2900" spc="-35" dirty="0">
                <a:latin typeface="Times New Roman" panose="02020603050405020304"/>
                <a:cs typeface="Times New Roman" panose="02020603050405020304"/>
              </a:rPr>
              <a:t> </a:t>
            </a:r>
            <a:r>
              <a:rPr sz="2900" dirty="0">
                <a:latin typeface="Times New Roman" panose="02020603050405020304"/>
                <a:cs typeface="Times New Roman" panose="02020603050405020304"/>
              </a:rPr>
              <a:t>for</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modifying</a:t>
            </a:r>
            <a:r>
              <a:rPr sz="2900" spc="-15"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nursing </a:t>
            </a:r>
            <a:r>
              <a:rPr sz="2900" dirty="0">
                <a:latin typeface="Times New Roman" panose="02020603050405020304"/>
                <a:cs typeface="Times New Roman" panose="02020603050405020304"/>
              </a:rPr>
              <a:t>interventions</a:t>
            </a:r>
            <a:r>
              <a:rPr sz="2900" spc="-55" dirty="0">
                <a:latin typeface="Times New Roman" panose="02020603050405020304"/>
                <a:cs typeface="Times New Roman" panose="02020603050405020304"/>
              </a:rPr>
              <a:t> </a:t>
            </a:r>
            <a:r>
              <a:rPr sz="2900" dirty="0">
                <a:latin typeface="Times New Roman" panose="02020603050405020304"/>
                <a:cs typeface="Times New Roman" panose="02020603050405020304"/>
              </a:rPr>
              <a:t>and</a:t>
            </a:r>
            <a:r>
              <a:rPr sz="2900" spc="-20" dirty="0">
                <a:latin typeface="Times New Roman" panose="02020603050405020304"/>
                <a:cs typeface="Times New Roman" panose="02020603050405020304"/>
              </a:rPr>
              <a:t> </a:t>
            </a:r>
            <a:r>
              <a:rPr sz="2900" dirty="0">
                <a:latin typeface="Times New Roman" panose="02020603050405020304"/>
                <a:cs typeface="Times New Roman" panose="02020603050405020304"/>
              </a:rPr>
              <a:t>the</a:t>
            </a:r>
            <a:r>
              <a:rPr sz="2900" spc="-20" dirty="0">
                <a:latin typeface="Times New Roman" panose="02020603050405020304"/>
                <a:cs typeface="Times New Roman" panose="02020603050405020304"/>
              </a:rPr>
              <a:t> </a:t>
            </a:r>
            <a:r>
              <a:rPr sz="2900" dirty="0">
                <a:latin typeface="Times New Roman" panose="02020603050405020304"/>
                <a:cs typeface="Times New Roman" panose="02020603050405020304"/>
              </a:rPr>
              <a:t>drug </a:t>
            </a:r>
            <a:r>
              <a:rPr sz="2900" spc="-10" dirty="0">
                <a:latin typeface="Times New Roman" panose="02020603050405020304"/>
                <a:cs typeface="Times New Roman" panose="02020603050405020304"/>
              </a:rPr>
              <a:t>regimen.</a:t>
            </a:r>
            <a:endParaRPr sz="2900">
              <a:latin typeface="Times New Roman" panose="02020603050405020304"/>
              <a:cs typeface="Times New Roman" panose="02020603050405020304"/>
            </a:endParaRPr>
          </a:p>
          <a:p>
            <a:pPr marL="355600" marR="399415" lvl="1" indent="-342900">
              <a:lnSpc>
                <a:spcPts val="2780"/>
              </a:lnSpc>
              <a:spcBef>
                <a:spcPts val="680"/>
              </a:spcBef>
              <a:buFont typeface="Microsoft Sans Serif" panose="020B0604020202020204"/>
              <a:buChar char="•"/>
              <a:tabLst>
                <a:tab pos="355600" algn="l"/>
              </a:tabLst>
            </a:pPr>
            <a:r>
              <a:rPr sz="2900" dirty="0">
                <a:latin typeface="Times New Roman" panose="02020603050405020304"/>
                <a:cs typeface="Times New Roman" panose="02020603050405020304"/>
              </a:rPr>
              <a:t>After</a:t>
            </a:r>
            <a:r>
              <a:rPr sz="2900" spc="-45" dirty="0">
                <a:latin typeface="Times New Roman" panose="02020603050405020304"/>
                <a:cs typeface="Times New Roman" panose="02020603050405020304"/>
              </a:rPr>
              <a:t> </a:t>
            </a:r>
            <a:r>
              <a:rPr sz="2900" dirty="0">
                <a:latin typeface="Times New Roman" panose="02020603050405020304"/>
                <a:cs typeface="Times New Roman" panose="02020603050405020304"/>
              </a:rPr>
              <a:t>evaluation,</a:t>
            </a:r>
            <a:r>
              <a:rPr sz="2900" spc="-40" dirty="0">
                <a:latin typeface="Times New Roman" panose="02020603050405020304"/>
                <a:cs typeface="Times New Roman" panose="02020603050405020304"/>
              </a:rPr>
              <a:t> </a:t>
            </a:r>
            <a:r>
              <a:rPr sz="2900" dirty="0">
                <a:latin typeface="Times New Roman" panose="02020603050405020304"/>
                <a:cs typeface="Times New Roman" panose="02020603050405020304"/>
              </a:rPr>
              <a:t>certain</a:t>
            </a:r>
            <a:r>
              <a:rPr sz="2900" spc="-20" dirty="0">
                <a:latin typeface="Times New Roman" panose="02020603050405020304"/>
                <a:cs typeface="Times New Roman" panose="02020603050405020304"/>
              </a:rPr>
              <a:t> </a:t>
            </a:r>
            <a:r>
              <a:rPr sz="2900" dirty="0">
                <a:latin typeface="Times New Roman" panose="02020603050405020304"/>
                <a:cs typeface="Times New Roman" panose="02020603050405020304"/>
              </a:rPr>
              <a:t>other</a:t>
            </a:r>
            <a:r>
              <a:rPr sz="2900" spc="-40" dirty="0">
                <a:latin typeface="Times New Roman" panose="02020603050405020304"/>
                <a:cs typeface="Times New Roman" panose="02020603050405020304"/>
              </a:rPr>
              <a:t> </a:t>
            </a:r>
            <a:r>
              <a:rPr sz="2900" dirty="0">
                <a:latin typeface="Times New Roman" panose="02020603050405020304"/>
                <a:cs typeface="Times New Roman" panose="02020603050405020304"/>
              </a:rPr>
              <a:t>decisions</a:t>
            </a:r>
            <a:r>
              <a:rPr sz="2900" spc="-45" dirty="0">
                <a:latin typeface="Times New Roman" panose="02020603050405020304"/>
                <a:cs typeface="Times New Roman" panose="02020603050405020304"/>
              </a:rPr>
              <a:t> </a:t>
            </a:r>
            <a:r>
              <a:rPr sz="2900" dirty="0">
                <a:latin typeface="Times New Roman" panose="02020603050405020304"/>
                <a:cs typeface="Times New Roman" panose="02020603050405020304"/>
              </a:rPr>
              <a:t>may</a:t>
            </a:r>
            <a:r>
              <a:rPr sz="2900" spc="-10" dirty="0">
                <a:latin typeface="Times New Roman" panose="02020603050405020304"/>
                <a:cs typeface="Times New Roman" panose="02020603050405020304"/>
              </a:rPr>
              <a:t> </a:t>
            </a:r>
            <a:r>
              <a:rPr sz="2900" dirty="0">
                <a:latin typeface="Times New Roman" panose="02020603050405020304"/>
                <a:cs typeface="Times New Roman" panose="02020603050405020304"/>
              </a:rPr>
              <a:t>need</a:t>
            </a:r>
            <a:r>
              <a:rPr sz="2900" spc="-25" dirty="0">
                <a:latin typeface="Times New Roman" panose="02020603050405020304"/>
                <a:cs typeface="Times New Roman" panose="02020603050405020304"/>
              </a:rPr>
              <a:t> </a:t>
            </a:r>
            <a:r>
              <a:rPr sz="2900" dirty="0">
                <a:latin typeface="Times New Roman" panose="02020603050405020304"/>
                <a:cs typeface="Times New Roman" panose="02020603050405020304"/>
              </a:rPr>
              <a:t>to</a:t>
            </a:r>
            <a:r>
              <a:rPr sz="2900" spc="-20" dirty="0">
                <a:latin typeface="Times New Roman" panose="02020603050405020304"/>
                <a:cs typeface="Times New Roman" panose="02020603050405020304"/>
              </a:rPr>
              <a:t> </a:t>
            </a:r>
            <a:r>
              <a:rPr sz="2900" spc="-25" dirty="0">
                <a:latin typeface="Times New Roman" panose="02020603050405020304"/>
                <a:cs typeface="Times New Roman" panose="02020603050405020304"/>
              </a:rPr>
              <a:t>be </a:t>
            </a:r>
            <a:r>
              <a:rPr sz="2900" dirty="0">
                <a:latin typeface="Times New Roman" panose="02020603050405020304"/>
                <a:cs typeface="Times New Roman" panose="02020603050405020304"/>
              </a:rPr>
              <a:t>made</a:t>
            </a:r>
            <a:r>
              <a:rPr sz="2900" spc="-10" dirty="0">
                <a:latin typeface="Times New Roman" panose="02020603050405020304"/>
                <a:cs typeface="Times New Roman" panose="02020603050405020304"/>
              </a:rPr>
              <a:t> </a:t>
            </a:r>
            <a:r>
              <a:rPr sz="2900" dirty="0">
                <a:latin typeface="Times New Roman" panose="02020603050405020304"/>
                <a:cs typeface="Times New Roman" panose="02020603050405020304"/>
              </a:rPr>
              <a:t>and</a:t>
            </a:r>
            <a:r>
              <a:rPr sz="2900" spc="-10" dirty="0">
                <a:latin typeface="Times New Roman" panose="02020603050405020304"/>
                <a:cs typeface="Times New Roman" panose="02020603050405020304"/>
              </a:rPr>
              <a:t> </a:t>
            </a:r>
            <a:r>
              <a:rPr sz="2900" dirty="0">
                <a:latin typeface="Times New Roman" panose="02020603050405020304"/>
                <a:cs typeface="Times New Roman" panose="02020603050405020304"/>
              </a:rPr>
              <a:t>plans</a:t>
            </a:r>
            <a:r>
              <a:rPr sz="2900" spc="-25" dirty="0">
                <a:latin typeface="Times New Roman" panose="02020603050405020304"/>
                <a:cs typeface="Times New Roman" panose="02020603050405020304"/>
              </a:rPr>
              <a:t> </a:t>
            </a:r>
            <a:r>
              <a:rPr sz="2900" dirty="0">
                <a:latin typeface="Times New Roman" panose="02020603050405020304"/>
                <a:cs typeface="Times New Roman" panose="02020603050405020304"/>
              </a:rPr>
              <a:t>of</a:t>
            </a:r>
            <a:r>
              <a:rPr sz="2900" spc="-30" dirty="0">
                <a:latin typeface="Times New Roman" panose="02020603050405020304"/>
                <a:cs typeface="Times New Roman" panose="02020603050405020304"/>
              </a:rPr>
              <a:t> </a:t>
            </a:r>
            <a:r>
              <a:rPr sz="2900" dirty="0">
                <a:latin typeface="Times New Roman" panose="02020603050405020304"/>
                <a:cs typeface="Times New Roman" panose="02020603050405020304"/>
              </a:rPr>
              <a:t>action</a:t>
            </a:r>
            <a:r>
              <a:rPr sz="2900" spc="-25" dirty="0">
                <a:latin typeface="Times New Roman" panose="02020603050405020304"/>
                <a:cs typeface="Times New Roman" panose="02020603050405020304"/>
              </a:rPr>
              <a:t> </a:t>
            </a:r>
            <a:r>
              <a:rPr sz="2900" spc="-10" dirty="0">
                <a:latin typeface="Times New Roman" panose="02020603050405020304"/>
                <a:cs typeface="Times New Roman" panose="02020603050405020304"/>
              </a:rPr>
              <a:t>implemented.</a:t>
            </a:r>
            <a:endParaRPr sz="2900">
              <a:latin typeface="Times New Roman" panose="02020603050405020304"/>
              <a:cs typeface="Times New Roman" panose="02020603050405020304"/>
            </a:endParaRPr>
          </a:p>
          <a:p>
            <a:pPr marL="7936865">
              <a:lnSpc>
                <a:spcPts val="1340"/>
              </a:lnSpc>
              <a:spcBef>
                <a:spcPts val="5"/>
              </a:spcBef>
            </a:pPr>
            <a:endParaRPr sz="1200">
              <a:latin typeface="Calibri" panose="020F0502020204030204"/>
              <a:cs typeface="Calibri" panose="020F050202020403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20*485"/>
  <p:tag name="TABLE_ENDDRAG_RECT" val="0*36*720*4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1882</Words>
  <Application>Microsoft Office PowerPoint</Application>
  <PresentationFormat>On-screen Show (4:3)</PresentationFormat>
  <Paragraphs>203</Paragraphs>
  <Slides>27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Arial</vt:lpstr>
      <vt:lpstr>Arial Black</vt:lpstr>
      <vt:lpstr>Calibri</vt:lpstr>
      <vt:lpstr>Cambria</vt:lpstr>
      <vt:lpstr>Courier New</vt:lpstr>
      <vt:lpstr>Gabriola</vt:lpstr>
      <vt:lpstr>Georgia</vt:lpstr>
      <vt:lpstr>Microsoft Sans Serif</vt:lpstr>
      <vt:lpstr>Palatino Linotype</vt:lpstr>
      <vt:lpstr>Times New Roman</vt:lpstr>
      <vt:lpstr>Wingdings</vt:lpstr>
      <vt:lpstr>Office Theme</vt:lpstr>
      <vt:lpstr>PowerPoint Presentation</vt:lpstr>
      <vt:lpstr>PowerPoint Presentation</vt:lpstr>
      <vt:lpstr>Preparing and administering the drugs to the patient.</vt:lpstr>
      <vt:lpstr>After the administration, the nurse is responsible for the following: Recording the administration of the drugs Observing, evaluating and recording the patient’s</vt:lpstr>
      <vt:lpstr>The nurse has an important role as</vt:lpstr>
      <vt:lpstr>PowerPoint Presentation</vt:lpstr>
      <vt:lpstr>PowerPoint Presentation</vt:lpstr>
      <vt:lpstr>Nursing process Review of the nursing process</vt:lpstr>
      <vt:lpstr>Nursing Process</vt:lpstr>
      <vt:lpstr>Nursing process in the drug therapy</vt:lpstr>
      <vt:lpstr>Assessment</vt:lpstr>
      <vt:lpstr>PowerPoint Presentation</vt:lpstr>
      <vt:lpstr>Initial or pre-administration assessment – Collection of base line data before administration of drugs to identify the variable that can affect an individual's responses to drugs and evaluate the effectiveness of the drug and the presence of any adverse reactions.</vt:lpstr>
      <vt:lpstr>PowerPoint Presentation</vt:lpstr>
      <vt:lpstr>Analysis &amp; Nursing Diagnosis</vt:lpstr>
      <vt:lpstr>PowerPoint Presentation</vt:lpstr>
      <vt:lpstr>PowerPoint Presentation</vt:lpstr>
      <vt:lpstr>PowerPoint Presentation</vt:lpstr>
      <vt:lpstr>PowerPoint Presentation</vt:lpstr>
      <vt:lpstr>PowerPoint Presentation</vt:lpstr>
      <vt:lpstr>Planning /Goals: (how to manage the problem)</vt:lpstr>
      <vt:lpstr>Planning consist of</vt:lpstr>
      <vt:lpstr>PowerPoint Presentation</vt:lpstr>
      <vt:lpstr>Implementation (Interventions)</vt:lpstr>
      <vt:lpstr>PowerPoint Presentation</vt:lpstr>
      <vt:lpstr>Evaluation:</vt:lpstr>
      <vt:lpstr>When related to the administration of a drug, this phase of the nursing process is used to evaluate the patient for: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Pharmacology and	Nursing	Process</dc:title>
  <dc:creator>A</dc:creator>
  <cp:lastModifiedBy>Hp</cp:lastModifiedBy>
  <cp:revision>5</cp:revision>
  <dcterms:created xsi:type="dcterms:W3CDTF">2025-02-10T11:07:00Z</dcterms:created>
  <dcterms:modified xsi:type="dcterms:W3CDTF">2026-06-02T04:32:29Z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2018-10-08T06:00:00Z</vt:filetime>
  </property>
  <property fmtid="{D5CDD505-2E9C-101B-9397-08002B2CF9AE}" pid="3" name="Creator">
    <vt:lpwstr>Microsoft® PowerPoint® 2010</vt:lpwstr>
  </property>
  <property fmtid="{D5CDD505-2E9C-101B-9397-08002B2CF9AE}" pid="4" name="LastSaved">
    <vt:filetime>2025-02-10T06:00:00Z</vt:filetime>
  </property>
  <property fmtid="{D5CDD505-2E9C-101B-9397-08002B2CF9AE}" pid="5" name="Producer">
    <vt:lpwstr>Microsoft® PowerPoint® 2010</vt:lpwstr>
  </property>
  <property fmtid="{D5CDD505-2E9C-101B-9397-08002B2CF9AE}" pid="6" name="ICV">
    <vt:lpwstr>7445F703A4C94BAAB0E0B564E0ECB450_13</vt:lpwstr>
  </property>
  <property fmtid="{D5CDD505-2E9C-101B-9397-08002B2CF9AE}" pid="7" name="KSOProductBuildVer">
    <vt:lpwstr>1033-12.2.0.19805</vt:lpwstr>
  </property>
</Properties>
</file>
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51" autoAdjust="0"/>
    <p:restoredTop sz="85062" autoAdjust="0"/>
  </p:normalViewPr>
  <p:slideViewPr>
    <p:cSldViewPr snapToGrid="0" snapToObjects="1">
      <p:cViewPr>
        <p:scale>
          <a:sx n="67" d="100"/>
          <a:sy n="67" d="100"/>
        </p:scale>
        <p:origin x="654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4F4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B4F4A"/>
                </a:solidFill>
                <a:latin typeface="Arial"/>
              </a:rPr>
              <a:t>Plasma Concentration vs Time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IV (F = 100%)</c:v>
                </c:pt>
              </c:strCache>
            </c:strRef>
          </c:tx>
          <c:spPr>
            <a:ln w="31750" cap="flat">
              <a:solidFill>
                <a:srgbClr val="0B4F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4F4A"/>
              </a:solidFill>
              <a:ln w="9525" cap="flat">
                <a:solidFill>
                  <a:srgbClr val="0B4F4A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95</c:v>
                </c:pt>
                <c:pt idx="2">
                  <c:v>80</c:v>
                </c:pt>
                <c:pt idx="3">
                  <c:v>65</c:v>
                </c:pt>
                <c:pt idx="4">
                  <c:v>52</c:v>
                </c:pt>
                <c:pt idx="5">
                  <c:v>41</c:v>
                </c:pt>
                <c:pt idx="6">
                  <c:v>32</c:v>
                </c:pt>
                <c:pt idx="7">
                  <c:v>25</c:v>
                </c:pt>
                <c:pt idx="8">
                  <c:v>19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Oral (F &lt; 100%)</c:v>
                </c:pt>
              </c:strCache>
            </c:strRef>
          </c:tx>
          <c:spPr>
            <a:ln w="31750" cap="flat">
              <a:solidFill>
                <a:srgbClr val="D9A44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30</c:v>
                </c:pt>
                <c:pt idx="2">
                  <c:v>55</c:v>
                </c:pt>
                <c:pt idx="3">
                  <c:v>62</c:v>
                </c:pt>
                <c:pt idx="4">
                  <c:v>58</c:v>
                </c:pt>
                <c:pt idx="5">
                  <c:v>50</c:v>
                </c:pt>
                <c:pt idx="6">
                  <c:v>41</c:v>
                </c:pt>
                <c:pt idx="7">
                  <c:v>33</c:v>
                </c:pt>
                <c:pt idx="8">
                  <c:v>26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979576"/>
        <c:axId val="53420712"/>
      </c:lineChart>
      <c:catAx>
        <c:axId val="5397957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000000"/>
                    </a:solidFill>
                    <a:latin typeface="Arial"/>
                  </a:rPr>
                  <a:t>Time (hours)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F6C"/>
                </a:solidFill>
                <a:latin typeface="Arial"/>
              </a:defRPr>
            </a:pPr>
            <a:endParaRPr lang="en-US"/>
          </a:p>
        </c:txPr>
        <c:crossAx val="53420712"/>
        <c:crosses val="autoZero"/>
        <c:auto val="1"/>
        <c:lblAlgn val="ctr"/>
        <c:lblOffset val="100"/>
        <c:noMultiLvlLbl val="1"/>
      </c:catAx>
      <c:valAx>
        <c:axId val="5342071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000000"/>
                    </a:solidFill>
                    <a:latin typeface="Arial"/>
                  </a:rPr>
                  <a:t>Plasma conc.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F6C"/>
                </a:solidFill>
                <a:latin typeface="Arial"/>
              </a:defRPr>
            </a:pPr>
            <a:endParaRPr lang="en-US"/>
          </a:p>
        </c:txPr>
        <c:crossAx val="53979576"/>
        <c:crosses val="autoZero"/>
        <c:crossBetween val="between"/>
      </c:valAx>
      <c:spPr>
        <a:solidFill>
          <a:srgbClr val="F4F8F7"/>
        </a:solidFill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767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2746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D9A441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68680" y="3520440"/>
            <a:ext cx="1188720" cy="5486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49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Ishmael W. Makumi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Nursing and Midwifery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Umma University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pharmacokinetics and explain why it matters to safe nursing drug administration.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mechanisms by which drugs cross biological membranes.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absorption and the factors that influence the rate and extent of drug absorption.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minimum effective concentration, minimum toxic concentration, therapeutic range, and therapeutic index.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distribution, metabolism, and excretion and their clinical significance.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pharmacokinetic principles to liver and renal function assessment in nursing practice.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Pharmacokinetics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 is the quantitative study of drug movement into, through, and out of the body.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often summarised by the question: "What does the body do to the drug?"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intensity of a drug's effect is related to its concentration at the site of action.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concentration depends directly on the drug's pharmacokinetic properties.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 properties determine the route of administration, dose, onset, peak action, duration of action, and frequency of dosing.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Understanding that gentamicin is renally cleared explains why nurses must check renal function before each dose.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Pharmacokinetic Processes (ADME)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0B4F4A"/>
          </a:solidFill>
          <a:ln/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418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" y="1307592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-&gt; Blood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97480" y="868680"/>
            <a:ext cx="79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89960" y="86868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12746C"/>
          </a:solidFill>
          <a:ln/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89960" y="9418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3112" y="1307592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-&gt; Tissues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84520" y="868680"/>
            <a:ext cx="79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77000" y="86868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1A8F84"/>
          </a:solidFill>
          <a:ln/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7000" y="9418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0152" y="1307592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alters drug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71560" y="868680"/>
            <a:ext cx="79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464040" y="86868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D9A441"/>
          </a:solidFill>
          <a:ln/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64040" y="9418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EXCRETION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37192" y="1307592"/>
            <a:ext cx="20482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leaves body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2148840"/>
            <a:ext cx="5623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2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the passage of a drug from its site of administration into the bloodstream.</a:t>
            </a:r>
            <a:endParaRPr lang="en-US" sz="2400" dirty="0"/>
          </a:p>
          <a:p>
            <a:pPr marL="203200" indent="-203200" algn="l">
              <a:lnSpc>
                <a:spcPct val="92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the reversible movement of a drug from the bloodstream into body tissues.</a:t>
            </a:r>
            <a:endParaRPr lang="en-US" sz="2400" dirty="0"/>
          </a:p>
          <a:p>
            <a:pPr marL="203200" indent="-203200" algn="l">
              <a:lnSpc>
                <a:spcPct val="92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(biotransformation): the chemical alteration of a drug, mainly in the liver.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26480" y="214884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2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Excretion: the irreversible removal of a drug or its metabolites from the body, mainly via the kidneys.</a:t>
            </a:r>
            <a:endParaRPr lang="en-US" sz="2400" dirty="0"/>
          </a:p>
          <a:p>
            <a:pPr marL="203200" indent="-203200" algn="l">
              <a:lnSpc>
                <a:spcPct val="92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processes occur simultaneously and continuously once a drug enters the body, not in a strict sequence.</a:t>
            </a:r>
            <a:endParaRPr lang="en-US" sz="2400" dirty="0"/>
          </a:p>
          <a:p>
            <a:pPr marL="203200" indent="-203200" algn="l">
              <a:lnSpc>
                <a:spcPct val="92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Even as a tablet is still being absorbed in the gut, some already-absorbed drug may be undergoing hepatic metabolism and renal excretion at the same time.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Pathways of Drug Movement in the Body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administration, a drug travels from its entry route (oral, IV, IM, topical, etc.) into the plasma compartment.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plasma, the drug distributes into tissues, including the site of action, storage tissues, and organs of elimination.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liver is the principal site of metabolism, converting the drug into metabolites.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kidney is the principal site of excretion, removing the drug and its metabolites in urine.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elimination routes include bile/faeces, exhaled air, sweat, saliva, and breast milk.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drug given orally passes through the gut into the portal circulation, through the liver, into systemic plasma, and ultimately to the kidney for excretion.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Pharmacokinetics Matters for Nursing Practice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 knowledge allows the nurse to predict how quickly a drug will act and how long its effect will last.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explains why the same drug may require different doses or routes for different patients (e.g., neonates versus adults).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underpins safe administration timing, such as giving certain drugs on an empty stomach.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explains the rationale for monitoring specific laboratory values (e.g., renal and liver function) during therapy.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the nurse anticipate and recognise early signs of drug accumulation or toxicity.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Recognising that digoxin is renally excreted prompts the nurse to monitor renal function tests closely in elderly patients.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Transport Across Biological Membranes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pharmacokinetic processes require the drug to cross one or more biological lipid membranes.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membranes are composed primarily of a lipid bilayer, which acts as a barrier to many substances.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cross membranes by passive transport, specialised (carrier-mediated) transport, or convection.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transport includes simple diffusion and filtration, and requires no energy.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transport includes carrier-mediated transport (active transport, facilitated diffusion) and pinocytosis.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Alcohol crosses cell membranes by simple diffusion, while glucose relies on facilitated diffusion via specific transporters.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(Simple) Diffusion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diffusion is the movement of a lipid-soluble, unionised drug across the membrane along its concentration gradient.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process requires no energy expenditure by the cell.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drugs are weak electrolytes whose degree of ionisation is dependent on the surrounding pH.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Unionised drug molecules are more lipid-soluble and therefore cross membranes more readily than ionised molecules.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acidic drug becomes more unionised (and lipid-soluble) in an acidic environment; a basic drug becomes more unionised in an alkaline environment.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Aspirin (a weak acid) is largely unionised in the acidic gastric environment, favouring its absorption directly from the stomach.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 is the passage of a drug through aqueous pores in the membrane via paracellular (between-cell) spaces.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driving force for filtration is hydrostatic or osmotic pressure, not a concentration gradient.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Lipid-insoluble drugs can cross membranes by filtration only if their molecular size is smaller than the pore diameter.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 is especially important at the renal glomerulus, where capillary pores are large (about 4 nanometres).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drugs, and even some proteins such as albumin, can be filtered at the glomerulus.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Brain capillaries have very small pores, which is one reason filtration plays little role in drug entry into the central nervous system.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Blood-Brain Barrier (BBB)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blood-brain barrier is a protective barrier separating circulating blood from brain tissue.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formed mainly by brain capillary endothelial cells joined by tight junctions, which form the main barrier.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basement membrane (basal lamina) provides additional structural support to the barrier.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Pericytes and astrocytes wrap around the capillaries, contributing to barrier function and regulation.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transport systems exist, including glucose transporters (GLUT1), amino acid transporters, and efflux pumps such as P-glycoprotein that pump drugs and toxins back out.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Only lipid-soluble, unionised drugs such as diazepam readily cross the BBB to exert central nervous system effects.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Carrier-Mediated Transport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transport moves drug molecules by combining them with a specific carrier protein that ferries them across the lipid membrane.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transport is saturable; once all carrier molecules are occupied, the transport rate plateaus regardless of drug concentration.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also competitively inhibited by other substances (analogues) that use the same carrier system.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transport, a form of carrier transport, moves drugs against their concentration gradient and requires energy (ATP).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transport is inhibited by metabolic poisons that interfere with cellular energy production.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Levodopa and methyldopa are actively absorbed from the gut via the aromatic amino acid transport system.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Correlation: Levodopa and Dietary Protein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Levodopa crosses the blood-brain barrier using the large neutral amino acid transporter (LAT1).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amino acids, such as leucine, isoleucine, and phenylalanine, use the same LAT1 carrier system.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LAT1 transporter has a limited capacity and can carry only a finite amount of levodopa at any one time.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patient takes levodopa together with a high-protein meal, dietary amino acids compete with levodopa for the LAT1 carrier.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competitive inhibition reduces the amount of levodopa entering the brain.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patient with Parkinson's disease who takes levodopa shortly after a high-protein meal may experience poorer symptom control due to reduced drug delivery to the brain; nurses should advise taking levodopa apart from protein-rich meals.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Diffusion and Pinocytosis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diffusion uses a carrier protein but moves the substance along its concentration gradient, like simple diffusion.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moves with the gradient, facilitated diffusion does not require energy, unlike active transport.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proceeds more rapidly than simple diffusion and can transport substances that would not otherwise cross the membrane easily.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transport into most cells is a classic example of facilitated diffusion.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Pinocytosis involves the cell membrane folding inward (invagination) to engulf and trap extracellular material in a vesicle.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Insulin is transported across the blood-brain barrier partly via pinocytosis, allowing limited central nervous system effects of circulating insulin.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Absorption: Definition and Basic Principles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is the passage of a drug from its site of administration into the systemic circulation.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given in solid form must first dissolve in the aqueous biological environment before they can be absorbed.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poorly water-soluble drugs (e.g., aspirin, griseofulvin), the rate of dissolution governs the overall rate of absorption.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drug given as an aqueous solution is absorbed faster than the same drug given as a solid tablet or oily solution.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and extent of absorption directly determine how quickly and how completely a drug reaches the bloodstream.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oral suspension of a drug is generally absorbed faster than an equivalent dose given as a compressed tablet, since no initial dissolution step is needed.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Affecting Absorption: Concentration, Surface Area, Vascularity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Concentration: passive transport depends on the concentration gradient; a concentrated solution is absorbed faster than a dilute one.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the absorbing surface: a larger surface area allows faster absorption (this is why the small intestine, with its villi, absorbs drugs efficiently).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Vascularity of the absorbing surface: rich blood supply removes absorbed drug quickly, maintaining the concentration gradient that drives further absorption.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blood flow to an absorption site (e.g., from heat or exercise) hastens drug absorption.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blood flow (e.g., in shock or with vasoconstrictors) slows drug absorption from that site.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Applying a warm compress over an intramuscular injection site can increase local blood flow and speed up drug absorption.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of Administration: Oral Absorption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of administration strongly affects absorption because each route has unique anatomical and physiological characteristics.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Unionised, lipid-soluble drugs (e.g., ethanol) are readily absorbed throughout the gastrointestinal tract.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Acidic drugs (e.g., aspirin, barbiturates) remain largely unionised in the acidic gastric environment and can be absorbed from the stomach.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Stomach absorption of acidic drugs is nonetheless relatively slow because the gastric mucosa is thick, covered in mucus, and has a smaller absorptive surface area than the intestine.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drugs (e.g., atropine, morphine) are largely ionised in the stomach and are absorbed mainly from the duodenum, where the pH favours their unionised form.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Most oral drug absorption ultimately occurs in the small intestine due to its huge surface area, regardless of whether the drug is acidic or basic.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Food and GI Factors on Oral Absorption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presence of food in the stomach dilutes the drug and generally retards its absorption.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drugs form poorly absorbed complexes with food constituents, such as tetracyclines binding to calcium in milk.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delays gastric emptying, and most drugs are absorbed more efficiently when taken on an empty stomach.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ionised drugs (e.g., amikacin, gentamicin, neostigmine) are poorly absorbed when given orally and are therefore given parenterally instead.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drugs are degraded within the GI tract itself (e.g., penicillin G by gastric acid, insulin by intestinal peptidases), making them ineffective orally.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Tetracycline should be taken on an empty stomach, away from dairy products, to avoid calcium chelation and ensure adequate absorption.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Parenteral and Topical Absorption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Subcutaneous (SC) and intramuscular (IM) injections deposit drug near capillaries, allowing lipid-soluble drugs to cross the capillary endothelium readily.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drug molecules given SC or IM are absorbed mainly through the lymphatic system rather than capillaries.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from SC sites is generally slower than from IM sites, but both are faster and more predictable than oral absorption.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and muscular exercise accelerate absorption from injection sites by increasing local blood flow; vasoconstrictors (e.g., adrenaline) slow it down.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preparations (e.g., benzathine benzylpenicillin, protamine zinc insulin) are designed for slow, sustained absorption from SC/IM sites.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Topical systemic absorption depends on lipid solubility; nitroglycerine and hyoscine patches achieve systemic effects through intact skin, while most drugs do not penetrate skin significantly.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Bioavailability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0" y="804672"/>
          <a:ext cx="402336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114800" y="24323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Bioavailability (F) = (AUC oral / AUC IV) x 100%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2788920"/>
            <a:ext cx="56235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8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Bioavailability refers to the rate and extent to which a drug is absorbed from its dosage form and becomes available at the site of action.</a:t>
            </a:r>
            <a:endParaRPr lang="en-US" sz="2400" dirty="0"/>
          </a:p>
          <a:p>
            <a:pPr marL="203200" indent="-203200" algn="l">
              <a:lnSpc>
                <a:spcPct val="8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measured using the drug's concentration-time curve in blood, often expressed as the area under the curve (AUC).</a:t>
            </a:r>
            <a:endParaRPr lang="en-US" sz="2400" dirty="0"/>
          </a:p>
          <a:p>
            <a:pPr marL="203200" indent="-203200" algn="l">
              <a:lnSpc>
                <a:spcPct val="8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Bioavailability (F) represents the fraction of an administered dose that reaches the systemic circulation unchanged.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126480" y="2788920"/>
            <a:ext cx="56692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8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intravenously administered drug has 100% bioavailability, since it is delivered directly into the bloodstream.</a:t>
            </a:r>
            <a:endParaRPr lang="en-US" sz="2400" dirty="0"/>
          </a:p>
          <a:p>
            <a:pPr marL="203200" indent="-203200" algn="l">
              <a:lnSpc>
                <a:spcPct val="8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bioavailability is frequently lower than IV bioavailability because of incomplete absorption and first-pass metabolism in the gut wall and/or liver.</a:t>
            </a:r>
            <a:endParaRPr lang="en-US" sz="2400" dirty="0"/>
          </a:p>
          <a:p>
            <a:pPr marL="203200" indent="-203200" algn="l">
              <a:lnSpc>
                <a:spcPct val="8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Propranolol has low oral bioavailability due to extensive first-pass hepatic metabolism, requiring a much higher oral dose than an equivalent IV dose.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4763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Range and Therapeutic Index: Interpretation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Therapeutic Range (Therapeutic Window) is the range of plasma drug concentrations that produces a therapeutic effect without causing toxicity.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lies between the Minimum Effective Concentration (lower boundary) and the Minimum Toxic Concentration (upper boundary).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Therapeutic Index (TI) is a numerical measure of a drug's margin of safety, calculated as the toxic dose (or concentration) divided by the effective dose (or concentration).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Therapeutic Index indicates a safer drug with a wide margin between effective and toxic doses (e.g., penicillin, cephalosporins, paracetamol).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Therapeutic Index indicates a narrow safety margin, meaning the toxic dose is close to the effective dose (e.g., digoxin, lithium, warfarin, phenytoin, theophylline, gentamicin).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drugs with a low Therapeutic Index require close monitoring of serum drug levels and clinical signs of toxicity, and need careful, individualised dose adjustment.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Concentration-Time Curves: Comparing Formulations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plasma concentration-time curve plots a drug's blood concentration against time after administration.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typically rises during absorption, peaks when absorption equals elimination, then falls as elimination predominates.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formulations of the same drug dose can produce different concentration-time curves.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slowly absorbed formulation may never reach the Minimum Effective Concentration, even though it contains an adequate dose, and may fail to produce a therapeutic effect.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formulation with lower bioavailability produces a smaller area under the curve, reflecting that less of the drug reaches systemic circulation overall.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Three tablet formulations containing an identical drug dose may show three very different curves: one effective, one too slow to reach the MEC, and one with reduced overall absorption.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Distribution: Overview and Compartments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the reversible movement of an absorbed drug from the bloodstream into body tissues and fluids.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pharmacokinetic study, the body is conceptually divided into compartments, or virtual spaces, in which a drug is assumed to be evenly distributed.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Compartments differ from one another in their volume of distribution and in how readily the drug can enter them.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a dynamic process; the drug moves from the central (plasma) compartment into tissues until a steady state is reached.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depends on the route of administration, the drug's physicochemical properties, its protein binding, the pH of the medium, and organ perfusion.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two-compartment model is often used, distinguishing a well-perfused central compartment (blood, heart, kidney, liver) from a peripheral compartment (muscle, fat) that the drug reaches more slowly.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Fluid Compartments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body water as a percentage of body mass ranges from about 50% to 70%, and is generally lower in women than in men.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water is distributed among several compartments, each with characteristic proportions of body mass.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accounts for approximately 5% of body mass.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Interstitial fluid accounts for approximately 16% of body mass.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Intracellular fluid accounts for approximately 35% of body mass, while fat tissue accounts for approximately 20%.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obese patient's increased proportion of fat tissue alters the distribution of lipid-soluble drugs compared to a lean patient of the same body weight.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Volume of Distribution (Vd)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apparent volume of distribution (Vd) assumes the body behaves as a single homogeneous compartment into which the drug is immediately and evenly distributed.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 is calculated as the dose administered divided by the resulting plasma concentration.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 is a theoretical (apparent) volume; it does not necessarily correspond to any real anatomical body space.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Vd suggests the drug remains largely confined to the vascular (plasma) compartment.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Vd suggests the drug is extensively distributed into tissues outside the bloodstream, leaving a relatively low plasma concentration.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Vd is a key parameter used to calculate appropriate loading doses for drugs requiring a rapid therapeutic plasma concentration.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Significance of Volume of Distribution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extensively bound to plasma proteins are largely restricted to the vascular compartment and therefore have a low Vd.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warfarin is about 99% protein-bound and has a Vd of approximately 0.1 L/kg, reflecting its confinement mainly to plasma.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sequestered extensively in other tissues can have a Vd far exceeding total body water or even total body mass.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digoxin has a Vd of approximately 6 L/kg, and propranolol approximately 3 to 4 L/kg, because most of the drug resides outside the plasma.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Clinically, drugs with a large Vd are not easily removed from the body by haemodialysis, since only a small fraction is present in the blood at any time.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in cases of poisoning, knowing a drug's Vd helps predict whether dialysis will be an effective treatment option.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Redistribution of Lipid-Soluble Drugs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lipid-soluble drugs given intravenously or by inhalation are initially distributed to organs with high blood flow, such as the brain, heart, kidney, and liver.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time, the drug then redistributes to less well-perfused tissues, such as muscle and fat.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redistribution occurs, the plasma (and brain) drug concentration falls, even though total drug remains in the body.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lipid solubility of a drug hastens the speed of its redistribution out of highly perfused organs.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anaesthetic action of thiopental is terminated within minutes due to rapid redistribution away from the brain into less vascular tissues, not because the drug is eliminated.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With repeated or continuous thiopental administration, the low-perfusion, high-capacity tissues (fat) become progressively saturated, and the drug's action becomes much longer-lasting.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Placental Barrier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Placental membranes are largely lipid in nature and allow relatively free passage of lipophilic drugs while restricting hydrophilic drugs.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Placental P-glycoprotein (P-gp) acts as an efflux pump, helping to limit fetal exposure to some maternally administered drugs.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amounts of even non-lipid-soluble drugs can reach the fetus if present at high concentration or for prolonged periods in maternal circulation.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placenta is an incomplete barrier; many maternally administered drugs can affect the fetus or newborn.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antibiotics, such as penicillins, azithromycin, and erythromycin, are generally considered not to significantly affect the fetus and can be used in pregnancy.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every medication order for a pregnant patient should be reviewed for known fetal risk, since placental transfer cannot be assumed to be negligible for any given drug without specific evidence.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Protein Binding: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drugs have some physicochemical affinity for binding to plasma proteins.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Acidic drugs typically bind to plasma albumin, while basic drugs typically bind to alpha-1 acid glycoprotein.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extent of protein binding varies considerably between individual drugs.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drug concentration can progressively saturate the available protein binding sites.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unbound (free) fraction of a drug is pharmacologically active and able to exert its effect or be metabolised/excreted.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drug that is 95% protein-bound has only 5% of its total plasma concentration available to act at receptor sites.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Implications of Plasma Protein Binding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protein-bound drugs are largely restricted to the vascular compartment, tending to have a lower volume of distribution.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with high physicochemical affinity for plasma proteins (e.g., aspirin, sulfonamides) can displace other drugs (e.g., warfarin) or endogenous compounds (e.g., bilirubin) with lower affinity from binding sites.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protein binding tends to make a drug longer-acting, since the bound fraction is unavailable for metabolism or excretion until released.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reported plasma drug concentrations refer to the total amount of drug, including both bound and free fractions.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hypoalbuminaemia (e.g., malnutrition, liver disease), reduced binding capacity can lead to a higher free fraction and increased risk of toxicity, even at standard doses.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phenytoin toxicity is more likely in a hypoalbuminaemic patient, since less albumin is available to bind the drug, increasing the active free fraction.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Application: Kernicterus and Protein Binding Displacement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Newborns, especially preterm infants, have increased breakdown of fetal red blood cells and reduced hepatic conjugation of bilirubin due to immature liver enzymes.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results in elevated unconjugated (indirect) bilirubin levels, which are lipid-soluble and potentially neurotoxic.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Unconjugated bilirubin normally binds to serum albumin, which prevents it from crossing the immature blood-brain barrier.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protein-bound drugs such as sulfonamides can compete with bilirubin for albumin binding sites and displace bilirubin into the free, unbound form.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increased free bilirubin can cross the immature blood-brain barrier and deposit in the basal ganglia and brainstem nuclei, causing kernicterus (bilirubin encephalopathy).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sulfonamide antibiotics are generally avoided in newborns and in mothers near delivery, given the serious risk of displacing bilirubin and causing irreversible neurological damage.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Storage of Drugs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may accumulate in or bind to specific organs or tissue constituents beyond simple distribution.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and skeletal muscle store digoxin by binding to muscle proteins.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liver stores chloroquine, tetracyclines, and digoxin; the kidney stores digoxin and chloroquine.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and teeth store tetracyclines and heavy metals by binding to mucopolysaccharides in connective tissue.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Adipose (fat) tissue stores highly lipid-soluble drugs such as thiopental and minocycline.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tetracyclines are generally avoided in young children and pregnant women due to the risk of permanent tooth discolouration and effects on developing bone.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Metabolism (Biotransformation):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refers to chemical alteration of a drug within the body, primarily to facilitate its eventual elimination.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highly hydrophilic drugs (e.g., aminoglycosides, mannitol) are not significantly metabolised and are excreted unchanged.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body's drug-metabolising mechanisms evolved primarily to protect against toxins and foreign substances.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liver is the principal site of drug metabolism, although the kidney, intestine, lungs, and plasma also contribute.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can result in inactivation, activation of a prodrug, formation of active metabolites, or formation of toxic metabolites.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Most of a drug's eventual fate, including how long it remains active in the body, is determined by how efficiently the liver can metabolise it.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Results (Consequences) of Drug Metabolism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Inactivation: the drug loses its pharmacological activity, terminating its effect (e.g., phenobarbital, propranolol are converted to inactive metabolites).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an inactive prodrug is converted into its active form, allowing the therapeutic effect to begin (e.g., enalapril to enalaprilat, levodopa to dopamine).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of active metabolites: the resulting metabolite is itself pharmacologically active, prolonging or altering the overall drug effect (e.g., diazepam to desmethyldiazepam).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water solubility: a lipid-soluble drug is converted to a water-soluble form, which reduces renal tubular reabsorption and enables excretion in urine and bile.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of toxic or reactive metabolites: metabolism can generate a metabolite more harmful than the parent drug, causing organ injury (e.g., paracetamol to NAPQI, isoniazid to hydrazine).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duration of action and drug interactions: the rate of metabolism (influenced by enzyme induction or inhibition) determines how long a drug remains active and can affect the levels of other co-administered drugs.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of Drug Metabolism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Inactivation: most drugs and their active forms are converted into less active or inactive metabolites (e.g., phenobarbital, propranolol).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metabolite formation: some drugs are converted into one or more pharmacologically active metabolites (e.g., diazepam is converted to desmethyldiazepam, which is itself active and long-acting).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Prodrug activation: a few drugs (prodrugs) are administered in an inactive form and require metabolic conversion to become active (e.g., levodopa, enalapril).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Enalapril is converted to its active form, enalaprilat; levodopa is converted to dopamine by the enzyme DOPA decarboxylase.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Prodrugs can offer advantages such as greater stability, improved bioavailability, or reduced side effects compared to the active drug itself.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Levodopa is given as a prodrug rather than dopamine directly, because dopamine itself cannot cross the blood-brain barrier.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Increasing Water Solubility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purpose of metabolism is converting lipid-soluble drugs into more water-soluble forms.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water solubility reduces tubular reabsorption in the kidney, enhancing excretion via urine, bile, and faeces.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undergoes sulfation and glucuronidation, producing highly water-soluble sulfate and glucuronide metabolites.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Morphine undergoes glucuronidation to form morphine-3-glucuronide and morphine-6-glucuronide.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Isoniazid is acetylated in the liver to form acetylisoniazid, which is more water-soluble than the parent drug.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impaired hepatic conjugation capacity (e.g., in liver disease or neonates) can slow this water-solubility-enhancing process, prolonging drug action and increasing accumulation risk.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Drug-Drug Interactions via Liver Enzyme Induction/Inhibition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drugs induce hepatic cytochrome P450 (CYP450) enzymes, increasing the amount of enzyme available and accelerating the metabolism of other drugs.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induction generally reduces the duration of action of the affected drug, potentially leading to treatment failure.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Rifampicin is a classic enzyme inducer that increases the metabolism of oral contraceptives, risking contraceptive failure in patients on combined regimens.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drugs inhibit liver enzymes, including cimetidine, erythromycin, isoniazid, ketoconazole, and amiodarone.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inhibition leads to enhanced drug effects, accumulation, and increased risk of toxicity for the affected drug.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enzyme inhibitors can cause toxic accumulation of warfarin, simvastatin, certain benzodiazepines, phenytoin, and carbamazepine, requiring careful medication review whenever new drugs are added to a regimen.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of Toxic or Reactive Metabolites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drugs are converted by the liver into metabolites that are themselves toxic, rather than being detoxified.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from these metabolites occurs particularly when detoxification pathways are overloaded or the liver is already injured.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forms the toxic metabolite NAPQI (N-acetyl-p-benzoquinone imine), which depletes hepatic glutathione and causes hepatocellular injury in overdose.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is converted to formaldehyde and then formic acid, causing blindness and severe metabolic acidosis.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Isoniazid is metabolised to hydrazine, which can cause hepatotoxicity, while cyclophosphamide produces the toxic metabolite acrolein, associated with haemorrhagic cystitis.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recognising which drugs form toxic metabolites helps the nurse anticipate specific monitoring needs (e.g., liver function tests for isoniazid, adequate hydration for cyclophosphamide).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Reactions: Oxidation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metabolism reactions are classified into Phase I (non-synthetic) and Phase II (synthetic, conjugation) reactions.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 is the most important Phase I reaction and includes hydroxylation, dealkylation, and oxidative deamination, among others.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oxidative reactions are carried out by hepatic monooxygenases, ultimately involving cytochrome P450 enzymes and oxygen.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more than 200 cytochrome P450 isoenzymes, grouped into more than 20 families, each with differing affinity for various drugs.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CYP3A4/5 isoforms metabolise roughly half of all clinically used drugs and are also expressed in the intestine and kidney.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grapefruit juice, erythromycin, and ketoconazole inhibit CYP3A4, which can cause dangerous interactions with drugs such as terfenadine.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Reactions: Reduction, Hydrolysis, and Other Pathways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is essentially the reverse of oxidation and is carried out by CYP450 enzymes operating in the opposite direction.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primarily metabolised by reduction include chloramphenicol and halothane.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Hydrolysis involves cleavage of a drug molecule by incorporation of a water molecule, converting esters to acid and alcohol, or amides to their components.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Hydrolysis occurs in the liver, intestines, plasma, and other tissues, and is responsible for the metabolism of drugs such as procaine, lidocaine, and pethidine.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Cyclization forms a ring structure from a straight-chain compound (e.g., proguanil); decyclization opens a ring structure (e.g., phenytoin).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drugs metabolised by plasma cholinesterase (e.g., succinylcholine) may have prolonged effects in patients with genetic cholinesterase deficiency.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Reactions: Conjugation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reactions conjugate a drug or its Phase I metabolite with an endogenous substrate to form a highly polar, ionised compound that is easily excreted.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Glucuronide conjugation is the most important Phase II reaction; drugs with a hydroxyl or carboxylic acid group readily conjugate with glucuronic acid.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drugs undergoing glucuronidation include chloramphenicol, aspirin, morphine, and bilirubin.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glucuronides excreted in bile can be hydrolysed in the gut by bacterial beta-glucuronidase, releasing the active drug for reabsorption (enterohepatic recirculation), which prolongs drug action.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Acetylation conjugates compounds with amino or hydrazine groups using acetyl coenzyme A; genetic variation in acetyltransferase activity creates "fast" and "slow" acetylators (e.g., for isoniazid).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Sulfate conjugation, carried out by sulfokinases, affects phenolic compounds and steroids, such as chloramphenicol and certain sex hormones.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and Other Minor Metabolic Pathways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conjugates amines and phenols, using methionine and cysteine as methyl donors.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drugs/substances metabolised by methylation include adrenaline, histamine, and nicotinic acid.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Ribonucleoside/nucleotide synthesis is important for activating purine and pyrimidine antimetabolites used in cancer chemotherapy.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drugs are metabolised by enzymes of normal intermediary metabolism rather than dedicated drug-metabolising enzymes.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include alcohol (by alcohol dehydrogenase), allopurinol (by xanthine oxidase), and succinylcholine (by plasma cholinesterase).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Adrenaline is metabolised by monoamine oxidase (MAO), an enzyme also relevant to several important drug interactions (e.g., with MAO inhibitors).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(Presystemic) Metabolism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metabolism refers to metabolism of a drug during its passage from the site of absorption into the systemic circulation, before it reaches the rest of the body.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orally administered drugs are exposed to some degree of metabolism in the intestinal wall and liver before reaching systemic circulation.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with high first-pass metabolism include propranolol, verapamil, morphine, nitroglycerine, and lidocaine.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extensive first-pass metabolism, the oral dose of these drugs must be considerably higher than the sublingual or parenteral dose for an equivalent effect.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significant individual variation in effective oral dosing due to differences in the extent of first-pass metabolism between patients.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oral bioavailability of drugs with high first-pass metabolism is often increased in patients with severe liver disease, since the impaired liver metabolises less of the drug before it reaches systemic circulation.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Function Evaluation: Why Nurses Must Assess 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drugs are extensively metabolised by the liver as part of their normal pharmacokinetic handling.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liver pathology, the rate of hepatic drug metabolism is reduced, regardless of which specific metabolic pathway is normally used.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metabolism leads to accumulation of active drug in the body, increasing the risk of reaching toxic concentrations even at standard doses.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this problem, the nurse must evaluate liver function before administering hepatically-metabolised drugs, particularly those with a narrow therapeutic index.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assessment includes observing for jaundice (yellowing of eyes and skin), nausea, abdominal pain, leg swelling, ascites, and fatigue.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examination should focus on the eyes, mucous membranes, and palpation for hepatomegaly, supplemented by laboratory testing and, where indicated, imaging studies.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Hepatic Panel (Liver Function Tests)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11475720" cy="370332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6263640"/>
              </a:tblGrid>
              <a:tr h="4629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States Causing Alteration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(Alanine transaminase)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7-56 U/L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Increased: viral hepatitis, drug-induced liver injury (e.g. paracetamol overdose), alcoholic liver disease, fatty liver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 (Aspartate transaminase)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10-40 U/L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Increased: hepatocellular injury, myocardial infarction, skeletal muscle injury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 (Alkaline phosphatase)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44-147 U/L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Increased: biliary obstruction, cholestasis, bone disease, pregnancy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GGT (Gamma-glutamyl transferase)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9-48 U/L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Increased: chronic alcohol use, cholestasis, hepatotoxic drugs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Bilirubin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0.1-1.2 mg/dL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Increased: haemolysis, hepatocellular disease, biliary obstruction (jaundice)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/ INR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11-13.5 sec / INR 0.8-1.1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Prolonged: liver failure, vitamin K deficiency, warfarin therapy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Albumin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3.5-5.0 g/dL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Decreased: chronic liver disease, malnutrition, nephrotic syndrome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754880"/>
            <a:ext cx="5623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Alanine transaminase (ALT) and aspartate transaminase (AST) reflect hepatocellular injury; both rise when liver cells are damaged.</a:t>
            </a:r>
            <a:endParaRPr lang="en-US" sz="135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Alkaline phosphatase (ALP) and gamma-glutamyl transferase (GGT) primarily reflect biliary tract or cholestatic injury.</a:t>
            </a:r>
            <a:endParaRPr lang="en-US" sz="135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bilirubin reflects the liver's ability to conjugate and excrete bile pigment; elevated levels cause jaundice.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126480" y="4754880"/>
            <a:ext cx="5669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Prothrombin time (PT) and International Normalized Ratio (INR) reflect the liver's synthetic function, since clotting factors are produced in the liver.</a:t>
            </a:r>
            <a:endParaRPr lang="en-US" sz="135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serum protein and serum albumin also reflect hepatic synthetic function; low albumin suggests impaired protein synthesis.</a:t>
            </a:r>
            <a:endParaRPr lang="en-US" sz="135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a patient with markedly deranged hepatic panel results (e.g., very high ALT/AST, low albumin, prolonged INR) is at significantly increased risk of toxicity from hepatically-metabolised medications and requires prescriber notification before such drugs are given.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Function Tests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11475720" cy="3703322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  <a:gridCol w="6080760"/>
              </a:tblGrid>
              <a:tr h="5290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States Causing Alteration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</a:tr>
              <a:tr h="52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Urea Nitrogen (BUN)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7-20 mg/dL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Increased: dehydration, high-protein diet, GI bleeding, renal failure. Decreased: liver failure, malnutrition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Creatinine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0.6-1.2 mg/dL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Increased: acute/chronic kidney injury, rhabdomyolysis, nephrotoxic drugs. Decreased: reduced muscle mass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GFR (eGFR)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90 mL/min/1.73m^2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Decreased: chronic kidney disease, acute kidney injury, ageing, nephrotoxic drugs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Urine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0.5-1 mL/kg/hour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Decreased (oliguria): dehydration, acute kidney injury, urinary obstruction, shock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Potassium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3.5-5.0 mEq/L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Increased: renal failure, ACE inhibitors. Decreased: loop/thiazide diuretics, vomiting, diarrhoea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Sodium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135-145 mEq/L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Increased: dehydration, diabetes insipidus. Decreased: SIADH, heart failure, excess diuretic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754880"/>
            <a:ext cx="5623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urea nitrogen (BUN) reflects the balance between urea production (from protein breakdown) and renal clearance.</a:t>
            </a:r>
            <a:endParaRPr lang="en-US" sz="135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creatinine is a more specific marker of renal function, since creatinine production from muscle is relatively constant.</a:t>
            </a:r>
            <a:endParaRPr lang="en-US" sz="135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glomerular filtration rate (eGFR) is calculated from serum creatinine, age, sex, and body size, and is the best overall indicator of kidney function.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126480" y="4754880"/>
            <a:ext cx="5669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output reflects both renal perfusion and renal function, and is one of the earliest indicators of acute kidney injury.</a:t>
            </a:r>
            <a:endParaRPr lang="en-US" sz="135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electrolytes, especially potassium, must be monitored closely, since the kidney is the main route of potassium excretion.</a:t>
            </a:r>
            <a:endParaRPr lang="en-US" sz="135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declining eGFR or rising creatinine in a patient on a renally-excreted, narrow-therapeutic-index drug (e.g., gentamicin, digoxin) requires prompt dose reassessment and close monitoring for toxicity.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Excretion: Overview and Routes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Excretion is the passage of systemically absorbed drugs (and their metabolites) out of the body.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kidney, via urine, is the most important route of excretion for most drugs and their metabolites.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 and faeces represent another significant excretion route, particularly for drugs undergoing enterohepatic recirculation.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excretion routes include exhaled air (important for volatile anaesthetics), saliva, sweat, and skin.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Excretion via breast milk, although quantitatively minor for the mother, can be clinically significant for the breastfeeding infant.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anaesthetic gases are eliminated primarily via exhaled air, which is why patients recovering from general anaesthesia are encouraged to breathe deeply and frequently.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Excretion: Glomerular Filtration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kidney is responsible for excreting all water-soluble substances, making it the principal organ of drug elimination.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Glomerular capillaries have large pores; all non-protein-bound drugs, whether lipid-soluble or insoluble, are filtered at the glomerulus.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Glomerular filtration of a drug depends on both its degree of plasma protein binding and renal blood flow.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Glomerular filtration rate (GFR) declines progressively after about age 50 and is markedly reduced in renal failure.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GFR slows the elimination of renally-cleared drugs, increasing their plasma half-life and risk of accumulation.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older adults and patients with renal impairment require dose adjustment for renally-excreted drugs and closer monitoring of renal function tests.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Excretion: Tubular Reabsorption and Urinary pH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glomerular filtration, approximately 99% of the filtrate is reabsorbed in the renal tubules.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Lipid-soluble drugs filtered at the glomerulus tend to back-diffuse (be reabsorbed) in the tubules, reducing their net excretion.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Non-lipid-soluble and highly ionised drugs cannot be reabsorbed, so their excretion rate closely parallels GFR (e.g., aminoglycosides such as gentamicin).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urinary pH affect tubular reabsorption of partially ionised drugs: weak bases ionise more (and are less reabsorbed) in acidic urine; weak acids ionise more (and are less reabsorbed) in alkaline urine.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principle is used clinically to enhance drug elimination in poisoning: urine is acidified in morphine or atropine poisoning, and alkalinised in barbiturate or salicylate poisoning.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the effect of urinary pH manipulation is greatest for drugs with a pKa between 5 and 8, since pH-dependent reabsorption is most significant in this range.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Excretion: Tubular Secretion and Drug Interactions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Tubular secretion is the active transfer of organic acids and bases from blood into the renal tubule, operating via two separate, nonspecific mechanisms in the proximal tubule.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organic acid transport system handles drugs such as penicillins, probenecid, salicylates, and methotrexate.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organic base transport system handles drugs such as thiazides, quinine, procainamide, and cimetidine.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interactions can occur through competition for tubular secretion; for example, probenecid decreases renal excretion of penicillin, prolonging its action, but also impairs methotrexate excretion, raising toxicity risk.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Quinidine decreases renal and biliary clearance of digoxin by inhibiting the P-glycoprotein efflux carrier, increasing digoxin levels.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tubular transport mechanisms are not fully developed at birth, so neonates eliminate many drugs (penicillins, cephalosporins, aspirin) more slowly, requiring dose and interval adjustment.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Half-Life and Drug Accumulation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half-life (t½) is the time required for a drug's plasma concentration to decline by half.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 varies enormously between drugs: for example, adenosine has a half-life of less than 2 seconds, while digitoxin's half-life is about 168 hours.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with a long half-life take longer to reach steady-state concentration but also remain in the body longer, increasing accumulation risk with repeated dosing.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its peak plasma concentration, a drug is considered virtually eliminated from plasma after approximately five half-lives.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"five half-lives" principle also applies in reverse: a drug given at a fixed dosing interval generally reaches steady-state plasma concentration after about five half-lives of continuous dosing.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implication: knowing a drug's half-life helps the nurse anticipate how quickly a dose change will be reflected in plasma levels, and how long a drug's effects (or interactions) may persist after the last dose.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Pharmacokinetics into Nursing Practice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administering a new medication, the nurse should consider the drug's likely absorption, distribution, metabolism, and excretion pathways.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hepatic impairment require special caution with hepatically-metabolised drugs, given reduced clearance and increased toxicity risk.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renal impairment require special caution with renally-excreted drugs, given reduced clearance and increased accumulation risk.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with a low therapeutic index (e.g., digoxin, phenytoin, gentamicin) require close monitoring of serum levels and clinical signs of toxicity in all patients.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factors such as age, pregnancy, malnutrition, and obesity can all significantly alter pharmacokinetic handling of a drug.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before administering gentamicin, a thorough nurse reviews renal function tests, calculates the appropriate dose and interval, and plans for trough level monitoring, applying pharmacokinetic principles directly to safe practice.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Key Pharmacokinetic Concepts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62356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 describes what the body does to a drug: absorption, distribution, metabolism, and excretion.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cross membranes mainly by passive diffusion, filtration, or carrier-mediated transport, each with distinct characteristics.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is influenced by drug solubility, concentration, surface area, vascularity, and route of administration; bioavailability quantifies how much drug reaches systemic circulation.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126480" y="960120"/>
            <a:ext cx="5669280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therapeutic range lies between the minimum effective concentration and minimum toxic concentration; the therapeutic index reflects a drug's overall margin of safety.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depends on protein binding, tissue affinity, and barriers such as the blood-brain barrier and placenta; metabolism (mainly hepatic) and excretion (mainly renal) determine how long a drug remains active in the body.</a:t>
            </a:r>
            <a:endParaRPr lang="en-US" sz="2400" dirty="0"/>
          </a:p>
          <a:p>
            <a:pPr marL="203200" indent="-203200" algn="l">
              <a:lnSpc>
                <a:spcPct val="9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must apply these principles continuously, especially by assessing liver and renal function, to ensure medications are given safely and effectively to every patient.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0" cy="5669280"/>
          </a:xfrm>
          <a:prstGeom prst="line">
            <a:avLst/>
          </a:prstGeom>
          <a:noFill/>
          <a:ln w="12700">
            <a:solidFill>
              <a:srgbClr val="DCE7E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7505</Words>
  <Application>Microsoft Office PowerPoint</Application>
  <PresentationFormat>Widescreen</PresentationFormat>
  <Paragraphs>525</Paragraphs>
  <Slides>53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Pharmacokinetics</dc:title>
  <dc:subject>PptxGenJS Presentation</dc:subject>
  <dc:creator>Ishmael W. Makumi - Umma University</dc:creator>
  <cp:lastModifiedBy>Hp</cp:lastModifiedBy>
  <cp:revision>1</cp:revision>
  <dcterms:created xsi:type="dcterms:W3CDTF">2026-06-23T02:40:39Z</dcterms:created>
  <dcterms:modified xsi:type="dcterms:W3CDTF">2026-06-23T02:49:07Z</dcterms:modified>
</cp:coreProperties>
</file>
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316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2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415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Acting on the Cardiovascular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Lipid-Lowering Drugs, Anticoagulants, Haematinics, and Fibrinolytics: Mode of Action, Dosage, Adverse Effects, and Application of the Nursing Process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760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00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shmael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Wango Makumi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This Presentation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covers four major groups of drugs that act on the cardiovascular system and the blood.</a:t>
            </a:r>
            <a:endParaRPr lang="en-US" sz="2400" dirty="0"/>
          </a:p>
          <a:p>
            <a:pPr algn="l">
              <a:lnSpc>
                <a:spcPct val="100000"/>
              </a:lnSpc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Lipid-lowering drugs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cholesterol and triglycerides to prevent atherosclerosis and cardiovascular events.</a:t>
            </a:r>
            <a:endParaRPr lang="en-US" sz="2400" dirty="0"/>
          </a:p>
          <a:p>
            <a:pPr algn="l">
              <a:lnSpc>
                <a:spcPct val="100000"/>
              </a:lnSpc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Anticoagulants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prevent the formation of harmful blood clots in veins, arteries, and the heart.</a:t>
            </a:r>
            <a:endParaRPr lang="en-US" sz="2400" dirty="0"/>
          </a:p>
          <a:p>
            <a:pPr algn="l">
              <a:lnSpc>
                <a:spcPct val="100000"/>
              </a:lnSpc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Haematinics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supply the building blocks needed to form healthy red blood cells and treat anaemia.</a:t>
            </a:r>
            <a:endParaRPr lang="en-US" sz="2400" dirty="0"/>
          </a:p>
          <a:p>
            <a:pPr algn="l">
              <a:lnSpc>
                <a:spcPct val="100000"/>
              </a:lnSpc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Fibrinolytics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actively dissolve clots that have already formed, restoring blood flow in emergencies such as heart attack and stroke.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group, we will cover classification, mode of action, dosage, adverse effects, and the application of the nursing process.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Lipid-Lowering Drugs</a:t>
            </a:r>
            <a:endParaRPr lang="en-US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Lipid-Lowering Drugs: Introduction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Lipid-lowering drugs are used to reduce abnormally high levels of cholesterol and triglycerides in the blood, a condition called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dyslipidaemia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low-density lipoprotein (LDL) cholesterol is a major risk factor for atherosclerosis, coronary artery disease, and stroke.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drugs are used both to treat existing dyslipidaemia and to prevent first or repeat cardiovascular events.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usually combined with lifestyle changes such as diet modification, weight loss, and regular exercise.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is often lifelong, since stopping the drug usually allows lipid levels to rise again.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main classes are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statins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fibrates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 acid sequestrants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absorption inhibitors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Lipid-Lowering Drugs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00000"/>
              </a:lnSpc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HMG-CoA Reductase Inhibitors (Statins):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atorvastatin, simvastatin, rosuvastatin, pravastatin — the most widely used class.</a:t>
            </a:r>
            <a:endParaRPr lang="en-US" sz="2400" dirty="0"/>
          </a:p>
          <a:p>
            <a:pPr algn="l">
              <a:lnSpc>
                <a:spcPct val="100000"/>
              </a:lnSpc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Fibrates: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fenofibrate, gemfibrozil — mainly used for high triglycerides.</a:t>
            </a:r>
            <a:endParaRPr lang="en-US" sz="2400" dirty="0"/>
          </a:p>
          <a:p>
            <a:pPr algn="l">
              <a:lnSpc>
                <a:spcPct val="100000"/>
              </a:lnSpc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 Acid Sequestrants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(Resins): cholestyramine, colestipol — bind bile acids in the gut.</a:t>
            </a:r>
            <a:endParaRPr lang="en-US" sz="2400" dirty="0"/>
          </a:p>
          <a:p>
            <a:pPr algn="l">
              <a:lnSpc>
                <a:spcPct val="100000"/>
              </a:lnSpc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Absorption Inhibitors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ezetimibe — blocks cholesterol absorption in the small intestine.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PCSK9 Inhibitors: evolocumab, alirocumab — newer injectable agents for resistant hypercholesterolaemia.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Niacin (Nicotinic Acid): raises HDL and lowers LDL and triglycerides, though now used less often due to side effects.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Statins: Mode of 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Statins competitively inhibit HMG-CoA reductase, the rate-limiting enzyme in cholesterol synthesis in the liver.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this enzyme reduces the amount of cholesterol the liver produces internally.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response, liver cells increase the number of LDL receptors on their surface to pull more LDL cholesterol out of the blood.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effect is a significant drop in circulating LDL cholesterol, along with modest reductions in triglycerides.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Statins also have mild anti-inflammatory and plaque-stabilising effects on artery walls, beyond their cholesterol-lowering action.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cholesterol synthesis is highest at night, most statins are given in the evening for maximum effect.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Statins: Dosage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Atorvastatin: 10–80 mg orally once daily, taken at any time of day due to its long half-life.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Simvastatin: 10–40 mg orally once daily in the evening; doses above 40 mg carry a higher myopathy risk.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Rosuvastatin: 5–40 mg orally once daily, one of the most potent statins available.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Pravastatin: 10–80 mg orally once daily, often preferred in patients with multiple drug interactions due to its different metabolism pathway.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is usually started low and titrated upward based on lipid panel response, checked after 4–12 weeks of therapy.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are adjusted downward in significant renal or hepatic impairment, depending on the specific statin.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Statins: Adverse Effects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Myopathy — muscle pain, tenderness, or weakness; the most common reason patients stop taking statins.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Rhabdomyolysis — severe muscle breakdown that can cause kidney damage; rare, but a serious emergency.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Hepatotoxicity — elevated liver enzymes; usually mild and reversible, but liver function should be monitored.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Gastrointestinal upset — nausea, abdominal pain, and constipation are commonly reported.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New-onset or worsening of type 2 diabetes with long-term use, particularly at higher doses.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risk of interactions with drugs metabolised by the same liver pathway (e.g. certain antibiotics, antifungals, grapefruit juice).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Fibrates: Mode of Action and Dosage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Fibrates activate a nuclear receptor called PPAR-alpha, which increases the breakdown of triglyceride-rich lipoproteins.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also increase HDL cholesterol production and reduce hepatic production of very-low-density lipoprotein (VLDL).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Fibrates are most effective at lowering triglycerides and are the first choice when triglycerides are very high.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Fenofibrate: 145 mg orally once daily with food, to improve absorption.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Gemfibrozil: 600 mg orally twice daily, taken 30 minutes before morning and evening meals.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Fibrates are reduced in dose or avoided in significant renal impairment, since they are excreted by the kidneys.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Fibrates: Adverse Effects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Gastrointestinal disturbances — nausea, abdominal discomfort, and diarrhoea are common.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Myopathy — the risk increases significantly when fibrates are combined with statins.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Gallstones — fibrates increase the cholesterol content of bile, raising the risk of gallstone formation.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enzyme elevation, requiring periodic liver function monitoring.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increase in serum creatinine, which can be mistaken for worsening kidney function.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is needed when combining fibrates with anticoagulants, as fibrates can potentiate the effect of warfarin.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 Acid Sequestrants and Ezetimibe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 acid sequestrants (cholestyramine, colestipol) bind bile acids in the intestine, preventing their reabsorption.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liver responds by converting more cholesterol into new bile acids, lowering circulating LDL cholesterol.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drugs are not absorbed systemically, making them a safe option during pregnancy.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Ezetimibe blocks the Niemann-Pick C1-Like 1 (NPC1L1) protein in the small intestine, reducing cholesterol absorption from food and bile.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Ezetimibe dosage: 10 mg orally once daily, often combined with a statin for an additive cholesterol-lowering effect.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adverse effects of bile acid sequestrants include constipation, bloating, and reduced absorption of fat-soluble vitamins and other oral drugs.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Process: Assessment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a baseline lipid profile (total cholesterol, LDL, HDL, triglycerides) before starting therapy.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baseline liver function tests, since several lipid-lowering drugs affect the liver.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thorough history of muscle pain, weakness, or prior statin intolerance before starting a statin.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current medications for potential interactions, especially with statins and fibrates.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diet, alcohol intake, and exercise habits, since lifestyle strongly influences treatment success.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pregnancy status and breastfeeding, since statins are contraindicated in pregnancy.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Process: Diagnosis and Planning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nursing diagnosis: Risk for activity intolerance related to potential drug-induced myopathy.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nursing diagnosis: Deficient knowledge related to the new lipid-lowering medication regimen.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nursing diagnosis: Risk for impaired liver function related to drug therapy.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patient will demonstrate a reduction in LDL cholesterol toward target levels within 4–12 weeks.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patient will report any new muscle pain or weakness promptly rather than continuing to tolerate it silently.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patient will verbalise correct understanding of when and how to take the prescribed medication.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Process: Implementation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statins in the evening where appropriate, unless using a long-acting agent like atorvastatin or rosuvastatin.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the patient to take fenofibrate and gemfibrozil with or before meals to improve absorption and reduce gastrointestinal upset.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signs of myopathy at each follow-up visit, and check creatine kinase levels if muscle symptoms develop.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the patient to avoid grapefruit juice with simvastatin and atorvastatin, as it can raise drug levels significantly.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dietary advice (reduced saturated fat, increased fibre) alongside drug therapy, since neither alone is usually sufficient.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periodic liver function tests and lipid panels as scheduled by the prescriber.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Process: Evaluation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patient's lipid panel improved toward the target LDL and triglyceride goals set by the prescriber?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patient remained free of significant muscle pain, weakness, or signs of rhabdomyolysis?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liver function tests within acceptable limits during therapy?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patient correctly explain the purpose of the drug, the correct administration time, and warning signs to report?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patient successfully incorporated dietary and lifestyle changes alongside drug therapy?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goals are not met, the nurse reassesses adherence, lifestyle factors, and possible adverse effects before escalation of therapy.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Anticoagulants</a:t>
            </a:r>
            <a:endParaRPr lang="en-US" sz="24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Anticoagulants: Introduction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Anticoagulants prevent or reduce blood clot formation by interfering with the clotting cascade.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treat and prevent conditions such as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vein thrombosis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embolism, atrial fibrillation,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prosthetic valve thrombosis.</a:t>
            </a:r>
            <a:endParaRPr lang="en-US" sz="2400" b="1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fibrinolytics, anticoagulants do not dissolve existing clots — they prevent new clots forming or growing.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Anticoagulants have a narrow therapeutic margin: the difference between an effective dose and a dangerous one is small.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primary risk with all anticoagulants, making close monitoring essential.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broad categories are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heparins,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K antagonists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oral anticoagulants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Anticoagulants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00000"/>
              </a:lnSpc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Unfractionated Heparin (UFH):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IV or subcutaneously, requires close laboratory monitoring.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Molecular Weight Heparins (LMWH):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enoxaparin, dalteparin — predictable dosing, less monitoring needed.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K Antagonists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warfarin — the classic oral anticoagulant, requires regular INR monitoring.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Oral Anticoagulants (DOACs):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rivaroxaban, apixaban, dabigatran — predictable effects, less monitoring.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Thrombin Inhibitors: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bivalirudin, </a:t>
            </a:r>
            <a:r>
              <a:rPr lang="en-US" sz="2400" dirty="0" err="1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argatroban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acts at a different point in the coagulation cascade, determining its specific use and monitoring needs.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Unfractionated Heparin: Mode of 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Heparin binds to antithrombin III and dramatically increases its ability to inactivate clotting factors, mainly thrombin (factor IIa) and factor Xa.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inactivating thrombin, heparin prevents the conversion of fibrinogen to fibrin, stopping clot formation.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action is immediate when given intravenously, making it useful in acute settings such as acute coronary syndrome.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Heparin has a short half-life and its effect can be reversed quickly with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protamine sulphate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bleeding occurs.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its effect varies between patients, it requires monitoring with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partial thromboplastin time (aPTT).</a:t>
            </a:r>
            <a:endParaRPr lang="en-US" sz="2400" b="1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Heparin does not cross the placenta, making it the anticoagulant of choice during pregnancy when anticoagulation is required.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Unfractionated Heparin: Dosage and Monitoring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infusion: typically a loading bolus of 80 units/kg, followed by a continuous infusion of 18 units/kg/hour, adjusted by protocol.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Subcutaneous prophylactic dose: 5,000 units twice or three times daily for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venous thromboembolism prevention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is titrated according to activated partial thromboplastin time (aPTT), targeting 1.5–2.5 times the normal control value.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aPTT is checked 6 hours after starting or adjusting the infusion, then per facility protocol once stable.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 counts are monitored regularly to detect heparin-induced thrombocytopenia (HIT), a serious complication.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Protamine sulphate is the specific reversal agent, given slowly IV if serious bleeding occurs.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Molecular Weight Heparins (LMWH)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LMWHs (enoxaparin, dalteparin) are derived from unfractionated heparin but have more selective activity against factor Xa.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a more predictable anticoagulant effect than unfractionated heparin, so routine aPTT monitoring is usually not required.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Enoxaparin dosage for treatment: 1 mg/kg subcutaneously every 12 hours, or 1.5 mg/kg once daily depending on indication.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Enoxaparin dosage for prophylaxis: 40 mg subcutaneously once daily.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LMWHs are given by subcutaneous injection, typically into the abdomen, and must not be given intramuscularly.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must be adjusted in renal impairment, since LMWHs are cleared by the kidneys more than unfractionated heparin.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LMWH and Heparin: Adverse Effects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— the most significant risk with all heparin products, ranging from minor bruising to life-threatening haemorrhage.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Heparin-induced thrombocytopenia (HIT) — an immune reaction causing a drop in platelets and, paradoxically, increased clotting risk.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site bruising and haematoma formation, especially with subcutaneous LMWH.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Osteoporosis with long-term heparin use, particularly in pregnant patients on extended therapy.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Hyperkalaemia due to suppression of aldosterone secretion, more common with prolonged use.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Allergic skin reactions at the injection site, occasionally requiring a change to a different anticoagulant.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Warfarin: Mode of 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 inhibits vitamin K epoxide reductase, an enzyme needed to activate vitamin K in the liver.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blocks the synthesis of clotting factors II, VII, IX, and X, all of which depend on vitamin K for activation.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existing clotting factors must first be cleared from the blood, warfarin's full effect takes 3–5 days to develop.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reason, warfarin is usually overlapped with heparin or an LMWH when rapid anticoagulation is needed.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Warfarin's effect is highly variable between patients and is affected by diet, other drugs, and genetic factors.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anticoagulant effect is monitored using the International Normalised Ratio (INR), a standardised measure of clotting time.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Warfarin: Dosage and Monitoring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dose: typically 5 mg orally once daily, adjusted based on INR response rather than a fixed regimen.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dose varies widely between patients, commonly ranging from 2–10 mg daily.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INR for most indications (e.g. atrial fibrillation, DVT/PE treatment) is 2.0–3.0.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INR for patients with mechanical heart valves is higher, typically 2.5–3.5, depending on valve type.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is checked frequently when starting therapy (every few days), then less often once stable (every 4 weeks).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K (phytomenadione) is the specific reversal agent for excessive anticoagulation or bleeding; fresh frozen plasma may be used in emergencies.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Warfarin: Adverse Effects and Interactions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— ranging from bruising and epistaxis to life-threatening gastrointestinal or intracranial haemorrhage.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necrosis — a rare but serious complication, particularly in patients with protein C deficiency, occurring early in therapy.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toe syndrome — painful, bluish discolouration of the toes due to cholesterol microembolisation.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Teratogenic effects — warfarin is contraindicated in pregnancy due to risk of foetal abnormalities and bleeding.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Numerous drug interactions, including antibiotics, NSAIDs, and many herbal supplements that can raise or lower INR.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interactions — foods high in vitamin K (e.g. dark green leafy vegetables) can reduce warfarin's effectiveness if intake changes suddenly.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Oral Anticoagulants (DOACs): Mode of 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DOACs act directly on specific clotting factors without requiring antithrombin, unlike heparin.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Xa inhibitors (rivaroxaban, apixaban) directly block factor Xa, preventing the conversion of prothrombin to thrombin.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thrombin inhibitors (dabigatran) directly block thrombin itself, preventing fibrin formation.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DOACs have a rapid onset of action, often within 1–4 hours, unlike warfarin's delayed effect.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fewer food and drug interactions compared to warfarin, and most do not require routine laboratory monitoring.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reversal agents now exist for some DOACs (e.g. idarucizumab for dabigatran, andexanet alfa for factor Xa inhibitors).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DOACs: Dosage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Rivaroxaban: 15–20 mg orally once daily with food, for AF and VTE, dose-adjusted for renal function.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Apixaban: 5 mg orally twice daily for AF, or 10 mg twice daily for 7 days then 5 mg twice daily for VTE treatment.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Dabigatran: 150 mg orally twice daily for most indications, reduced in renal impairment or older patients.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are generally reduced in renal impairment, since DOACs are cleared at least partly by the kidneys.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warfarin, DOAC doses are fixed rather than titrated to a laboratory target, simplifying outpatient management.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doses should be taken as soon as remembered, unless close to the next dose, to maintain steady anticoagulation.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DOACs: Adverse Effects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— the primary risk shared with all anticoagulants, though major bleeding rates are generally lower than with warfarin.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Gastrointestinal upset and dyspepsia, particularly with dabigatran.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gastrointestinal bleeding risk compared to warfarin in some studies, especially in older adults.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antidote was available for some DOACs until recently, historically making bleeding harder to manage.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is needed in renal impairment, since reduced clearance increases drug accumulation and bleeding risk.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doses or poor adherence can cause rapid loss of anticoagulant protection, unlike warfarin's longer-lasting effect.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Process: Assessment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baseline coagulation studies — aPTT for heparin, INR for warfarin, and renal function for all anticoagulants.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thorough bleeding risk history, including past gastrointestinal bleeding, recent surgery, or stroke.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current medications and herbal supplements for potential interactions, especially before starting warfarin.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for signs of active bleeding at baseline: bruising, blood in urine or stool, gum bleeding.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pregnancy status, since several anticoagulants are contraindicated or require special caution in pregnancy.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patient's ability to attend regular follow-up appointments, particularly important for warfarin monitoring.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Process: Diagnosis and Planning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nursing diagnosis: Risk for bleeding related to anticoagulant therapy.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nursing diagnosis: Deficient knowledge related to anticoagulant administration, dietary interactions, and warning signs.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nursing diagnosis: Risk for injury related to potential falls combined with increased bleeding risk.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patient will remain free of significant bleeding episodes throughout anticoagulant therapy.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patient's INR (if on warfarin) will remain within the prescribed therapeutic range.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patient will verbalise the specific signs of bleeding to report immediately to a health worker.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Process: Implementation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subcutaneous LMWH into the abdomen, rotating sites, and avoid rubbing the injection site afterward.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aPTT or INR results before administering heparin or warfarin doses, and hold the dose if results are outside the safe range, notifying the physician.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firm pressure for longer than usual after venipuncture or injections in anticoagulated patients to prevent haematoma.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the patient on a consistent vitamin K intake if on warfarin, rather than avoiding green vegetables entirely.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the patient to use a soft toothbrush and electric razor to minimise minor bleeding risk during anticoagulant therapy.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appropriate reversal agent (protamine sulphate, vitamin K) readily available and know the protocol for its use.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Process: Evaluation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patient remained free of bleeding complications during the course of anticoagulant therapy?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coagulation parameters (aPTT, INR) within the prescribed therapeutic range?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patient successfully avoided the target clotting event (e.g. recurrent DVT, stroke in atrial fibrillation)?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patient correctly explain how and when to take their anticoagulant, and which symptoms warrant urgent review?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patient maintained consistent attendance at follow-up monitoring appointments where required?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bleeding or clotting complications occur, the nurse reassesses the regimen and reports findings promptly to the prescribing team.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Haematinics</a:t>
            </a:r>
            <a:endParaRPr lang="en-US" sz="2400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29" y="618186"/>
            <a:ext cx="8242479" cy="560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9601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Haematinics: Introduction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Haematinics are substances that supply the essential nutrients the body needs to manufacture healthy red blood cells.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used primarily to treat and prevent different types of nutritional anaemia.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main groups are iron preparations, vitamin B12 (cobalamin), and folic acid.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haematinic corrects a specific type of deficiency anaemia: iron deficiency anaemia, megaloblastic anaemia from B12 deficiency, or folate deficiency anaemia.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Haematinics are widely used in pregnancy, childhood, and chronic disease states where nutrient demand or loss is increased.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diagnosis of the type of anaemia is essential before starting therapy, since giving the wrong haematinic will not correct the underlying problem.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Haematinics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preparations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ferrous sulphate, ferrous fumarate, ferrous gluconate (oral); iron sucrose, ferric carboxymaltose (parenteral).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B12 preparations: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cyanocobalamin, hydroxocobalamin — given orally or by intramuscular injection.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Folic acid: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folate deficiency and as a routine supplement in pregnancy to prevent neural tube defects.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preparations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 that contain iron, folic acid, and sometimes B12 together, especially for antenatal use.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Erythropoiesis-stimulating agents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erythropoietin) are sometimes grouped with haematinics, though they work differently by directly stimulating red cell production.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of haematinic depends on the laboratory-confirmed cause of the patient's anaemia.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Preparations: Mode of Action and Dosage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is an essential component of haemoglobin, the molecule in red blood cells that carries oxygen.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iron supplements replace depleted iron stores, allowing the bone marrow to resume normal haemoglobin synthesis.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Ferrous sulphate: 200 mg orally, one to three times daily, providing about 60 mg of elemental iron per tablet.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Parenteral iron (iron sucrose, ferric carboxymaltose) is used when oral iron is not tolerated, malabsorption is present, or rapid correction is needed.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is best absorbed on an empty stomach, but is often taken with food to reduce gastrointestinal upset, with a trade-off in absorption.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taken alongside iron enhances absorption by converting iron to a more easily absorbed form.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Preparations: Adverse Effects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Gastrointestinal upset — nausea, constipation, and abdominal cramping are very common with oral iron.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Black, tarry-looking stools — expected and harmless with oral iron, but must be distinguished from true GI bleeding.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Staining of teeth with liquid iron preparations if not properly diluted or taken through a straw.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overload (haemosiderosis) with excessive or prolonged use, particularly dangerous in conditions like thalassaemia.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Hypersensitivity reactions, including rare but serious anaphylaxis, with parenteral iron infusions.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iron overdose in children is a medical emergency — tablets must be stored safely out of reach.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B12 (Cobalamin): Mode of Action and Dosage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B12 is essential for DNA synthesis in rapidly dividing cells, including red blood cell precursors.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 deficiency causes megaloblastic anaemia, where red blood cells become abnormally large and immature.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 deficiency is also linked to neurological damage if untreated, since the vitamin maintains nerve myelin.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Hydroxocobalamin: 1 mg IM on alternate days for 2 weeks, then every 3 months for maintenance in pernicious anaemia.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B12 (cyanocobalamin) can be used for dietary deficiency where intrinsic factor and absorption are intact.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pernicious anaemia (lack of intrinsic factor) need lifelong IM B12, since oral absorption is impaired.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Folic Acid: Mode of Action and Dosage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Folic acid (vitamin B9) is essential for DNA synthesis and red blood cell maturation, alongside vitamin B12.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Folate deficiency causes megaloblastic anaemia, which can look identical to B12 deficiency anaemia under the microscope.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dosage for deficiency: 5 mg orally once daily.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antenatal dose for neural tube defect prevention: 400 micrograms to 5 mg orally once daily, by risk level.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Folic acid should not be given alone if B12 deficiency is unconfirmed, since it can mask anaemia while nerve damage progresses.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Folic acid is generally very well tolerated, with few significant adverse effects at standard doses.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 and Folic Acid: Adverse Effects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B12 injections are generally very well tolerated, with mild pain or redness at the injection site being the most common complaint.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hypersensitivity reactions can occur with B12, including itching or, very rarely, anaphylaxis.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Folic acid is associated with very few adverse effects even at high doses, since excess is excreted in urine.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High-dose folic acid can theoretically mask a co-existing B12 deficiency, allowing neurological symptoms to progress unrecognised.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Rarely, folic acid may cause mild gastrointestinal disturbance such as nausea or bloating.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significant risk of folic acid toxicity at standard supplemental or therapeutic doses.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Haematinics: Application of the Nursing Process — Assessment and Planning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a full blood count and peripheral blood film to confirm the type and severity of anaemia before starting therapy.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dietary history, menstrual history, and any history of chronic blood loss (e.g. peptic ulcer, heavy periods).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serum ferritin, B12, and folate levels where available to guide the correct choice of haematinic.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nursing diagnosis: Activity intolerance related to reduced oxygen-carrying capacity from anaemia.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nursing diagnosis: Deficient knowledge related to the correct administration and duration of haematinic therapy.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patient's haemoglobin level will rise toward the normal range within the expected treatment timeframe.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Haematinics: Implementation and Evaluation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oral iron with food if gastrointestinal upset is significant, while advising the patient that this may slightly reduce absorption.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intramuscular B12 injections using the Z-track technique to minimise leakage and skin staining.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the patient that oral iron commonly causes dark stools, which is expected and not a cause for alarm.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the importance of completing the full course of therapy, even after symptoms improve, to fully replenish body stores.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haemoglobin and reticulocyte count periodically to confirm the bone marrow is responding to treatment.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whether fatigue, pallor, and breathlessness have improved, and whether the patient understands ongoing dietary measures to prevent recurrence.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Fibrinolytics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Fibrinolytics: Introduction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Fibrinolytics, also called thrombolytics, actively dissolve blood clots that have already formed.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anticoagulants, which only prevent new clots, fibrinolytics break down existing fibrin clots to restore blood flow.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used in emergencies: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STEMI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ischaemic stroke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pulmonary embolism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some 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DVT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'Time is tissue' applies strongly — the benefit of fibrinolytics drops rapidly the longer treatment is delayed after onset.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Fibrinolytics carry a significant bleeding risk, including intracranial haemorrhage, making careful patient selection essential.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fibrinolytic agents work by converting plasminogen to plasmin, the enzyme that directly breaks down fibrin clots.</a:t>
            </a:r>
            <a:endParaRPr lang="en-US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Fibrinolytics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First-generation agents: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streptokinase — derived from bacteria, less fibrin-specific, now used less often in many settings.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Second-generation agents: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alteplase (tissue plasminogen activator, tPA) — more fibrin-specific than streptokinase.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Third-generation agents: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tenecteplase, reteplase — engineered variants of tPA with longer half-lives, allowing simpler bolus dosing.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Urokinase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another naturally derived fibrinolytic, used less commonly than alteplase in current practice.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of agent depends on the clinical indication, time since symptom onset, and local treatment protocols.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fibrinolytics ultimately work through the same final pathway: activation of plasmin to break down fibrin.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Streptokinase: Mode of Action and Dosage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Streptokinase forms a complex with plasminogen, which then converts other plasminogen molecules into active plasmin.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Plasmin breaks down fibrin, dissolving the clot and restoring blood flow through the previously blocked vessel.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Streptokinase is not fibrin-specific, so it can cause generalised breakdown of clotting factors, not just at the clot site.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 for acute MI: 1.5 million units IV infused over 30–60 minutes.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is derived from bacteria, streptokinase is antigenic and can trigger allergic reactions, especially with repeated use.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generally not be re-administered within 6 months to 4 years of a previous dose, due to antibody formation.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Alteplase (tPA): Mode of Action and Dosage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Alteplase is a recombinant form of tissue plasminogen activator, naturally produced by the body's blood vessel lining.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binds preferentially to fibrin within an existing clot, then activates plasminogen there — more fibrin-specific than streptokinase.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fibrin specificity means alteplase causes less widespread breakdown of clotting factors throughout the body.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 for acute ischaemic stroke: 0.9 mg/kg IV (max 90 mg), 10% as a bolus, remainder infused over 60 minutes.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 for acute MI: typically weight-based, with an accelerated infusion protocol over 90 minutes.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Alteplase for stroke must be given within a strict time window, commonly 3 to 4.5 hours from symptom onset.</a:t>
            </a:r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Tenecteplase and Reteplase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Tenecteplase and reteplase are genetically engineered variants of tPA, designed for longer half-lives than alteplase.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longer half-life allows administration as a single rapid IV bolus, rather than a prolonged infusion.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them especially convenient in pre-hospital and emergency settings where rapid administration matters.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Tenecteplase dosage for MI is weight-based, given as a single IV bolus over about 5–10 seconds.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Tenecteplase is increasingly used for acute ischaemic stroke as an alternative to alteplase in some centres.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alteplase, these agents are more fibrin-specific than streptokinase, giving a more targeted clot-dissolving effect.</a:t>
            </a:r>
            <a:endParaRPr 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Fibrinolytics: Indications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ST-elevation myocardial infarction (STEMI) — when primary percutaneous coronary intervention (PCI) is not available within the recommended timeframe.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ischaemic stroke — within the defined time window from symptom onset, after haemorrhagic stroke has been excluded by imaging.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pulmonary embolism — particularly when the patient is haemodynamically unstable.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cases of extensive deep vein thrombosis, particularly in younger patients with significant clot burden.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peripheral arterial occlusion, in specific cases where surgical intervention is delayed or unavailable.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Clotted central venous catheters or dialysis access lines, using localised low-dose fibrinolytic therapy.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Fibrinolytics: Adverse Effects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— the most serious risk, ranging from minor bruising to life-threatening intracranial haemorrhage.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Intracranial haemorrhage is the most feared complication, particularly when fibrinolytics are given for stroke without first excluding bleeding on imaging.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Reperfusion arrhythmias — new arrhythmias, including ventricular tachycardia, can occur as blood flow is restored to the heart muscle.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Hypotension, particularly with rapid streptokinase administration.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Allergic and anaphylactoid reactions, especially with streptokinase due to its bacterial origin.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Embolisation of clot fragments, which can occasionally cause new blockages elsewhere as the original clot breaks apart.</a:t>
            </a:r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Fibrinolytics: Absolute Contraindications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history of intracranial haemorrhage at any time in the past.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structural cerebral vascular lesion, such as an arteriovenous malformation or aneurysm.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malignant intracranial neoplasm.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Ischaemic stroke within the past 3 months (except the current qualifying event being treated).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aortic dissection, or active internal bleeding at the time of presentation.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closed head or facial trauma within the preceding 3 months.</a:t>
            </a:r>
            <a:endParaRPr lang="en-US"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Fibrinolytics: Relative Contraindications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uncontrolled hypertension on presentation (commonly cited threshold: above 185/110 mmHg).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major surgery within the preceding 2–3 weeks, or recent significant trauma.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peptic ulcer disease or recent gastrointestinal or genitourinary bleeding.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use of anticoagulants with an elevated INR or other abnormal coagulation parameters.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Pregnancy, due to the theoretical and real risk of bleeding for both mother and foetus.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age (commonly cited as over 75 years) is associated with higher bleeding risk and is weighed carefully, though not an absolute contraindication.</a:t>
            </a:r>
            <a:endParaRPr lang="en-US" sz="2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Process: Assessment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precise time of symptom onset — this often determines whether fibrinolytic therapy can be given at all.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thoroughly for absolute and relative contraindications before the drug is given, using a standardised checklist.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baseline vital signs and neurological status (e.g. NIH Stroke Scale), plus a 12-lead ECG for cardiac patients.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baseline coagulation studies, full blood count, and blood glucose before starting therapy.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IV access is secure; insert a second line if possible, since further venipuncture is avoided once therapy begins.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informed consent has been obtained and that risks and the time-sensitive nature of treatment are understood.</a:t>
            </a:r>
            <a:endParaRPr lang="en-US" sz="2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Process: Diagnosis and Planning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nursing diagnosis: Risk for bleeding related to fibrinolytic drug action.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nursing diagnosis: Ineffective tissue perfusion related to the underlying thrombotic event before treatment.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nursing diagnosis: Anxiety related to the acute, life-threatening nature of the presenting illness.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patient will demonstrate restored perfusion, shown by resolution of chest pain, ST-segment changes, or neurological deficits.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patient will remain free of major bleeding complications during and after fibrinolytic administration.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any bleeding or neurological change will be detected immediately through frequent, structured monitoring.</a:t>
            </a:r>
            <a:endParaRPr lang="en-US" sz="2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Process: Implementation — Administration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the fibrinolytic strictly according to the weight-based or fixed protocol for the drug and indication.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infusion pump for all continuous fibrinolytic infusions to ensure accurate, controlled delivery.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venipuncture and invasive procedures once therapy has started, to reduce bleeding risk at puncture sites.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prolonged firm pressure to any necessary puncture site, longer than in a non-anticoagulated patient.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emergency resuscitation equipment and reversal measures (e.g. fresh frozen plasma) readily available.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follow facility protocol on concurrent antiplatelet or anticoagulant therapy, which is often adjusted around fibrinolytics.</a:t>
            </a:r>
            <a:endParaRPr 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Process: Implementation — Monitoring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vital signs and neurological status frequently in the first hours, per protocol (often every 15 minutes initially).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 cardiac rhythm for reperfusion arrhythmias during and after administration in MI patients.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closely for bleeding: oozing from IV sites, blood in urine or stool, new bruising, or sudden drop in blood pressure.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stroke patients, perform structured neurological checks to detect improvement or sudden deterioration.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any sudden headache, decreased consciousness, or new neurological deficit immediately — possible intracranial bleeding.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start time, vital signs, neurological findings, and any adverse events meticulously throughout monitoring.</a:t>
            </a:r>
            <a:endParaRPr lang="en-US" sz="2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Process: Evaluation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patient shown objective signs of restored perfusion — resolved pain, improved ECG, or neurological function?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patient remained free of major bleeding complications, including intracranial haemorrhage, throughout treatment?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vital signs and neurological status stable or improving at each scheduled assessment?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patient and family been kept informed of progress and complications in a clear, timely manner?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bleeding or deterioration occurs, has the nurse escalated care immediately and documented events accurately?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was therapy started as early as safely possible, respecting the time-critical nature of treatment?</a:t>
            </a:r>
            <a:endParaRPr lang="en-US" sz="2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Summary of the Four Drug Groups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Lipid-lowering drugs act slowly over weeks to reduce cardiovascular risk by lowering cholesterol and triglycerides.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Anticoagulants act over hours to days to prevent new clot formation, requiring varying degrees of laboratory monitoring.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Haematinics act over days to weeks to correct nutritional deficiencies underlying specific types of anaemia.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Fibrinolytics act within minutes to dissolve existing clots in emergencies, carrying the highest bleeding risk of the four.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four groups, bleeding or drug-specific toxicity is a recurring theme requiring vigilant nursing monitoring.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education on adherence, warning signs, and lifestyle measures is essential to safe, effective use of every group.</a:t>
            </a:r>
            <a:endParaRPr lang="en-US" sz="2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 for Further Reading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71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Karch, A. M. (2021). Focus on Nursing Pharmacology (8th ed.). Wolters Kluwer.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Lehne, R. A., &amp; Rosenthal, L. (2021). Pharmacology for Nursing Care (11th ed.). Elsevier.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National Formulary (BNF). (current edition). BMJ Group and Pharmaceutical Press.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Ministry of Health. Kenya Essential Medicines List (KEML). Government of Kenya.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(current edition). WHO Model List of Essential Medicines.</a:t>
            </a:r>
            <a:endParaRPr lang="en-US" sz="2400" dirty="0"/>
          </a:p>
          <a:p>
            <a:pPr marL="228600" indent="-2286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Hilal-Dandan, R., &amp; Brunton, L. L. (Eds.). Goodman &amp; Gilman's The Pharmacological Basis of Therapeutics (latest edition). McGraw Hill.</a:t>
            </a:r>
            <a:endParaRPr lang="en-US" sz="2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Presentation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Drugs: Lipid-Lowering Agents, Anticoagulants, Haematinics, and Fibrinolytics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6286</Words>
  <Application>Microsoft Office PowerPoint</Application>
  <PresentationFormat>On-screen Show (4:3)</PresentationFormat>
  <Paragraphs>451</Paragraphs>
  <Slides>61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Cardiovascular Drugs: Lipid-Lowering Agents, Anticoagulants, Haematinics, and Fibrinolytics</dc:title>
  <dc:subject>PptxGenJS Presentation</dc:subject>
  <dc:creator>Ishmael Wango Makumi</dc:creator>
  <cp:lastModifiedBy>Hp</cp:lastModifiedBy>
  <cp:revision>9</cp:revision>
  <dcterms:created xsi:type="dcterms:W3CDTF">2026-06-19T09:07:27Z</dcterms:created>
  <dcterms:modified xsi:type="dcterms:W3CDTF">2026-06-29T20:18:08Z</dcterms:modified>
</cp:coreProperties>
</file>
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51" autoAdjust="0"/>
    <p:restoredTop sz="94610"/>
  </p:normalViewPr>
  <p:slideViewPr>
    <p:cSldViewPr snapToGrid="0" snapToObjects="1">
      <p:cViewPr>
        <p:scale>
          <a:sx n="67" d="100"/>
          <a:sy n="67" d="100"/>
        </p:scale>
        <p:origin x="4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0386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students. This expanded lecture covers complete drug lists for every analgesic class, medical cannabis, and pain management in end-stage/palliative disease.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eight learning objectives, noting the two new additions: comprehensive drug listings and the cannabinoid/palliative care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analgesics from anesthetics clearly. Discuss the IASP definition of pain and its biopsychosocial 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stages of nociception, mapping each analgesic class onto a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master map for the whole lecture, including the newly added cannabinoid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contrast between NSAIDs (anti-inflammatory) and paracetamol (mainly antipyretic/analgesic).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out the arachidonic acid cascade and the COX-1 vs COX-2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first seven NSAIDs. Note ketorolac's strict 5-day limit due to high GI/renal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Selective COX-2 inhibitors (celecoxib, etoricoxib, meloxicam) reduce GI risk but raise cardiovascular concerns — link back to the adverse effects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aspirin exception — cardioprotective dosing differs entirely from analgesic dosing.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adverse effect back to COX-1 inhibition versus COX-2-related cardiovascular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NAPQI/glutathione point is the bridge to the overdose/toxicity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that paracetamol is generally the safest first-line analgesic across most patient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NAC as the antidote and the danger of hidden paracetamol in combination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receptor classification before the full mechanism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mechanism slide — take time on the cAMP/Ca2+/K+ cascade.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methadone's accumulation risk and pethidine's declining use due to norpethidine-induced seizures.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methadone's dual role: chronic pain management versus opioid substitution therapy.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CYP2D6 genetic polymorphism makes codeine's analgesic effect unpredictable — ineffective in poor metabolisers, dangerous in ultra-rapid metabolisers.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codeine/breastfeeding caution links back to the CYP2D6 polymorphism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Constipation does not improve with tolerance — always co-prescribe a laxative for ongoing opioid therapy.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distinction is important for reducing stigma in pain management, especially in palliative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Methylnaltrexone is a key palliative care drug — it relieves opioid-induced constipation without reducing pain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naloxone's duration is often shorter than the opioid it is reversing — monitor for re-narcotisation.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Adjuvants are mechanism-targeted, not severity-targeted — contrast with WHO ladder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Trigeminal neuralgia + carbamazepine is a classic pairing. Note analgesic TCA doses are far lower than antidepressant doses.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Dexamethasone is especially valuable in palliative care for nerve compression, raised intracranial pressure, and bone pain.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sodium channel mechanism back to the pain pathway slide — local anesthetics act at the transmission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Capsaicin's substance-P depletion mechanism links back to the neurotransmitter discussion in the opioid mechanism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regulatory caution, especially relevant in the Kenyan context where medical cannabis access remains highly restricted.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cannabinoid receptor system with the opioid receptor system covered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Nabiximols and dronabinol have the most established regulatory approval; whole-plant cannabis use for pain remains less standardised.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that cannabinoids are typically third- or fourth-line, used when standard adjuvant therapy is insufficient.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psychiatric risk profile, particularly important when counselling patients with a personal or family history of psychosis.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modern critique of strict ladder use; many clinicians now select therapy based on pain mechanism and severity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point for a short case-based discussion — present a clinical vignette and have students select a regimen.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aspirin/Reye's syndrome point in children is a frequently tested safety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'total pain' concept from palliative care — physical analgesia alone is rarely 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breakthrough dose calculation (10-16% of total daily dose) with a worked numerical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Bone pain is a high-yield palliative care topic — the combination of NSAID + opioid + bisphosphonate/radiotherapy is frequently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Reiterate that neuropathic cancer pain needs adjuvants, not simply higher opioid doses — a common prescribing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non-verbal pain assessment tools for patients who can no longer communicate verbally.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double-effect principle is a key ethics exam topic — distinguish it clearly from euthanasia and assisted dying.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practical nursing-process application of everything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Patient education is a recurring exam theme — frame these as discharge teaching points for case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tramadol/SSRI serotonin syndrome interaction is increasingly important given common co-prescribing.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Multimodal analgesia ties together every mechanism covered in the lecture — a natural bridge into the summary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linking back to the learning objectives slide — confirm each objective has been met before moving to assessment/questions.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6280"/>
            <a:ext cx="12188952" cy="23317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88882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ANALGESICS</a:t>
            </a:r>
            <a:endParaRPr lang="en-US" sz="5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analgesics and describe their role in pain management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analgesics into non-opioid, opioid, adjuvant, and cannabinoid groups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major drugs within each analgesic class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mechanism of action of major analgesic classes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standard adult dosages of commonly used analgesics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major adverse effects of each analgesic class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role of medical cannabis in pain management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pain management principles in end-stage and palliative disease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of Analgesics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Analgesics are drugs that relieve pain without loss of consciousness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Greek: ‘an’ (without) + ‘algos’ (pain)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act on peripheral, spinal, or central nervous system targets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 from anesthetics, which abolish all sensation, including consciousness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is defined by IASP as an unpleasant sensory and emotional experience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Analgesics may be curative-adjacent or purely symptomatic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depends on pain type, intensity, duration, and patient factors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analgesia improves function, mobility, and quality of life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Pain Pathway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394960" cy="5349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Transduction: noxious stimulus converted to electrical signal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Transmission: signal travels via Aδ and C fibres to spinal cord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Perception: signal reaches the cerebral cortex — pain is felt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Modulation: descending pathways inhibit or amplify the signal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Analgesics act at one or more of these four stages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NSAIDs act mainly at the transduction stage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Opioids act mainly at perception and modulation stages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anesthetics block transmission along nerve fibres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40680" cy="5120640"/>
          </a:xfrm>
          <a:prstGeom prst="roundRect">
            <a:avLst>
              <a:gd name="adj" fmla="val 1071"/>
            </a:avLst>
          </a:prstGeom>
          <a:solidFill>
            <a:srgbClr val="F7F9FB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3520440"/>
            <a:ext cx="1108710" cy="822960"/>
          </a:xfrm>
          <a:prstGeom prst="roundRect">
            <a:avLst>
              <a:gd name="adj" fmla="val 6667"/>
            </a:avLst>
          </a:prstGeom>
          <a:solidFill>
            <a:srgbClr val="1F6F6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3520440"/>
            <a:ext cx="110871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Transduction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27798" y="3931920"/>
            <a:ext cx="146304" cy="0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692390" y="3520440"/>
            <a:ext cx="1108710" cy="822960"/>
          </a:xfrm>
          <a:prstGeom prst="roundRect">
            <a:avLst>
              <a:gd name="adj" fmla="val 6667"/>
            </a:avLst>
          </a:prstGeom>
          <a:solidFill>
            <a:srgbClr val="1F386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92390" y="3520440"/>
            <a:ext cx="110871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19388" y="3931920"/>
            <a:ext cx="146304" cy="0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983980" y="3520440"/>
            <a:ext cx="1108710" cy="822960"/>
          </a:xfrm>
          <a:prstGeom prst="roundRect">
            <a:avLst>
              <a:gd name="adj" fmla="val 6667"/>
            </a:avLst>
          </a:prstGeom>
          <a:solidFill>
            <a:srgbClr val="C8932A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83980" y="3520440"/>
            <a:ext cx="110871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110978" y="3931920"/>
            <a:ext cx="146304" cy="0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275570" y="3520440"/>
            <a:ext cx="1108710" cy="822960"/>
          </a:xfrm>
          <a:prstGeom prst="roundRect">
            <a:avLst>
              <a:gd name="adj" fmla="val 6667"/>
            </a:avLst>
          </a:prstGeom>
          <a:solidFill>
            <a:srgbClr val="1F6F6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275570" y="3520440"/>
            <a:ext cx="110871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457200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Nociceptor → Spinal cord → Brain → Descending control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of Analgesics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394960" cy="5349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working groups: non-opioid, opioid, adjuvant, and cannabinoid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Non-opioids: NSAIDs and paracetamol — mild to moderate pain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Opioids: weak/moderate and strong agonists, plus antagonists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Adjuvants: antidepressants, anticonvulsants, local anesthetics, steroids, others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Cannabinoids: an emerging adjunct for selected chronic pain syndromes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guides the WHO analgesic ladder approach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Combination/multimodal therapy across classes is standard practice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depends on pain severity, type, mechanism, and patient comorbidities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40680" cy="5120640"/>
          </a:xfrm>
          <a:prstGeom prst="roundRect">
            <a:avLst>
              <a:gd name="adj" fmla="val 1071"/>
            </a:avLst>
          </a:prstGeom>
          <a:solidFill>
            <a:srgbClr val="F7F9FB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86700" y="169164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1F386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886700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Analgesics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892540" y="2331720"/>
            <a:ext cx="0" cy="731520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0" y="3063240"/>
            <a:ext cx="1478280" cy="1005840"/>
          </a:xfrm>
          <a:prstGeom prst="roundRect">
            <a:avLst>
              <a:gd name="adj" fmla="val 5455"/>
            </a:avLst>
          </a:prstGeom>
          <a:solidFill>
            <a:srgbClr val="1F6F6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3063240"/>
            <a:ext cx="147828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Non-Opioid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(NSAIDs, Paracetamol)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92540" y="2331720"/>
            <a:ext cx="0" cy="731520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53400" y="3063240"/>
            <a:ext cx="1478280" cy="1005840"/>
          </a:xfrm>
          <a:prstGeom prst="roundRect">
            <a:avLst>
              <a:gd name="adj" fmla="val 5455"/>
            </a:avLst>
          </a:prstGeom>
          <a:solidFill>
            <a:srgbClr val="C8932A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53400" y="3063240"/>
            <a:ext cx="147828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(Weak &amp; Strong)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92540" y="2331720"/>
            <a:ext cx="1752600" cy="731520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906000" y="3063240"/>
            <a:ext cx="1478280" cy="1005840"/>
          </a:xfrm>
          <a:prstGeom prst="roundRect">
            <a:avLst>
              <a:gd name="adj" fmla="val 5455"/>
            </a:avLst>
          </a:prstGeom>
          <a:solidFill>
            <a:srgbClr val="1F386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906000" y="3063240"/>
            <a:ext cx="147828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+ Cannabinoid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NON-OPIOID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Non-Opioid Analgesics: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NSAIDs and paracetamol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for mild to moderate pain and inflammatory conditions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available without prescription at lower doses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cause physical dependence or tolerance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ceiling effect — increasing dose beyond a point adds no benefit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combined with opioids in multimodal analgesia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NSAIDs additionally have anti-inflammatory and antipyretic effects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Paracetamol has antipyretic but minimal anti-inflammatory effect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NON-OPIOID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NSAIDs: Mechanism of 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394960" cy="5349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 cyclo-oxygenase (COX-1 and/or COX-2) enzymes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conversion of arachidonic acid to prostaglandins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Prostaglandins sensitise nociceptors and mediate inflammation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COX-1 inhibition reduces protective gastric prostaglandins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COX-2 inhibition mainly reduces inflammation and pain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COX-2 inhibitors spare gastric mucosa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prostaglandins also lower fever (antipyretic effect)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is peripheral, unlike the central action of opioids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40680" cy="5120640"/>
          </a:xfrm>
          <a:prstGeom prst="roundRect">
            <a:avLst>
              <a:gd name="adj" fmla="val 1071"/>
            </a:avLst>
          </a:prstGeom>
          <a:solidFill>
            <a:srgbClr val="F7F9FB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874520"/>
            <a:ext cx="952169" cy="777240"/>
          </a:xfrm>
          <a:prstGeom prst="roundRect">
            <a:avLst>
              <a:gd name="adj" fmla="val 7059"/>
            </a:avLst>
          </a:prstGeom>
          <a:solidFill>
            <a:srgbClr val="1F386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874520"/>
            <a:ext cx="952169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membrane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phospholipids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52969" y="2263140"/>
            <a:ext cx="201168" cy="0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554137" y="1874520"/>
            <a:ext cx="952169" cy="777240"/>
          </a:xfrm>
          <a:prstGeom prst="roundRect">
            <a:avLst>
              <a:gd name="adj" fmla="val 7059"/>
            </a:avLst>
          </a:prstGeom>
          <a:solidFill>
            <a:srgbClr val="1F386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54137" y="1874520"/>
            <a:ext cx="952169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Arachidonic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06305" y="2263140"/>
            <a:ext cx="201168" cy="0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707473" y="1874520"/>
            <a:ext cx="952169" cy="777240"/>
          </a:xfrm>
          <a:prstGeom prst="roundRect">
            <a:avLst>
              <a:gd name="adj" fmla="val 7059"/>
            </a:avLst>
          </a:prstGeom>
          <a:solidFill>
            <a:srgbClr val="1F6F6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707473" y="1874520"/>
            <a:ext cx="952169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COX-1 /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COX-2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59642" y="2263140"/>
            <a:ext cx="201168" cy="0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860810" y="1874520"/>
            <a:ext cx="1523470" cy="777240"/>
          </a:xfrm>
          <a:prstGeom prst="roundRect">
            <a:avLst>
              <a:gd name="adj" fmla="val 7059"/>
            </a:avLst>
          </a:prstGeom>
          <a:solidFill>
            <a:srgbClr val="C8932A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860810" y="1874520"/>
            <a:ext cx="152347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Prostaglandins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(pain, fever, inflammation)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61753" y="3017520"/>
            <a:ext cx="1043609" cy="548640"/>
          </a:xfrm>
          <a:prstGeom prst="rect">
            <a:avLst/>
          </a:prstGeom>
          <a:solidFill>
            <a:srgbClr val="F4D9D9"/>
          </a:solidFill>
          <a:ln w="15875">
            <a:solidFill>
              <a:srgbClr val="C050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NSAIDs block COX → ↓ prostaglandin synthesis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83558" y="3008376"/>
            <a:ext cx="0" cy="0"/>
          </a:xfrm>
          <a:prstGeom prst="line">
            <a:avLst/>
          </a:prstGeom>
          <a:noFill/>
          <a:ln w="28575">
            <a:solidFill>
              <a:srgbClr val="8B2E2E"/>
            </a:solidFill>
            <a:prstDash val="solid"/>
            <a:tailEnd type="triangle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NON-OPIOID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NSAIDs: Comprehensive Drug List (1 of 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019313"/>
              </p:ext>
            </p:extLst>
          </p:nvPr>
        </p:nvGraphicFramePr>
        <p:xfrm>
          <a:off x="548640" y="1234438"/>
          <a:ext cx="11064240" cy="502420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3657600"/>
                <a:gridCol w="3017520"/>
              </a:tblGrid>
              <a:tr h="620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Adult Dose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20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Ibuprofen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200–400mg q6–8h, max 2400mg/day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widely used OTC NSAID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Diclofenac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 / IM / Topical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50mg PO 2–3×/day; 75mg IM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 anti-inflammatory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20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Naproxen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250–500mg BID, max 1000mg/day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Longer half-life, BID dosing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300–600mg q4–6h (analgesic)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75–100mg/day for cardioprotection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20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Indomethacin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 / Rectal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25–50mg 2–3×/day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GI side-effect profile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Ketorolac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 / IM / IV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10mg PO q4–6h; 30mg IM/IV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use only, max 5 days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20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Mefenamic acid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500mg TID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Commonly used for dysmenorrhoea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1"/>
            <a:ext cx="10058400" cy="709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NON-OPIOID ANALGESICS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393668"/>
              </p:ext>
            </p:extLst>
          </p:nvPr>
        </p:nvGraphicFramePr>
        <p:xfrm>
          <a:off x="548640" y="1234440"/>
          <a:ext cx="11064240" cy="5340096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3657600"/>
                <a:gridCol w="3017520"/>
              </a:tblGrid>
              <a:tr h="6309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Adult Dose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Piroxicam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20mg once daily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half-life, once-daily dosing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Meloxicam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7.5–15mg once daily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Preferential COX-2 selectivity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Celecoxib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100–200mg once/twice daily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Selective COX-2 inhibitor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Etoricoxib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60–120mg once daily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Selective COX-2 inhibitor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Ketoprofen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 / Topical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50mg q6h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as topical gel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Nimesulide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100mg BID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Restricted/banned in several countries — hepatotoxicity risk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Etodolac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200–400mg BID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COX-2 preference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NON-OPIOID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NSAIDs: Clinical Uses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Musculoskeletal pain — osteoarthritis, rheumatoid arthritis</a:t>
            </a:r>
            <a:endParaRPr lang="en-US" sz="28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soft tissue injury — sprains, strains, post-operative pain</a:t>
            </a:r>
            <a:endParaRPr lang="en-US" sz="28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Dysmenorrhoea — reduces uterine prostaglandin-mediated cramping</a:t>
            </a:r>
            <a:endParaRPr lang="en-US" sz="28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 reduction in adults (antipyretic effect)</a:t>
            </a:r>
            <a:endParaRPr lang="en-US" sz="28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 and migraine — first-line in many protocols</a:t>
            </a:r>
            <a:endParaRPr lang="en-US" sz="28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pain and minor surgical procedures</a:t>
            </a:r>
            <a:endParaRPr lang="en-US" sz="28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Low-dose aspirin used for cardiovascular prophylaxis, not analgesia</a:t>
            </a:r>
            <a:endParaRPr lang="en-US" sz="28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Gout — acute flare management (e.g. indomethacin, naproxen)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NON-OPIOID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NSAIDs: Adverse Effects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Gastrointestinal: dyspepsia, peptic ulceration, GI bleeding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Renal: reduced renal blood flow, acute kidney injury risk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Cardiovascular: fluid retention, hypertension, increased CV risk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Hypersensitivity: bronchospasm in aspirin-sensitive asthmatics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Hematological: inhibited platelet aggregation, prolonged bleeding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Hepatic: rare but possible transaminase elevation (notably nimesulide)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Contraindicated in active peptic ulcer disease and severe renal impairment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cautiously in the elderly, pregnancy (especially 3rd trimester), and dehydration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NON-OPIOID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Paracetamol: Mechanism of 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mechanism is incompletely understood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to inhibit central COX (mainly COX-3 variant) in the CNS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minimal effect on peripheral COX — explains weak anti-inflammatory action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activate descending serotonergic pain-inhibitory pathways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central antipyretic action on the hypothalamic thermoregulatory centre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Lacks significant antiplatelet or gastric irritant effects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Metabolised in the liver via glucuronidation and sulfation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toxic metabolite (NAPQI) is normally detoxified by glutathione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NON-OPIOID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Paracetamol: Clinical Uses and Dosage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to moderate pain — headache, musculoskeletal pain, dental pain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 reduction in adults and children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analgesic in pregnancy and in NSAID-contraindicated patients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combined with opioids (e.g. paracetamol/codeine) for moderate pain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oral dose: 500–1000mg every 4–6 hours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adult dose: 4g per 24 hours (3g/day if hepatic risk factors)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Paediatric dosing is weight-based: 10–15mg/kg every 4–6 hours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orally, rectally, and intravenously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NON-OPIOID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Paracetamol: Adverse Effects and Toxicity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well tolerated at therapeutic doses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hypersensitivity reactions or skin rash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risk is hepatotoxicity in overdose (acute liver failure)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 occurs when glutathione stores are depleted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 NAPQI metabolite causes hepatocyte necrosis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N-acetylcysteine (NAC) is the antidote — replenishes glutathione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alcohol use and malnutrition increase hepatotoxicity risk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 must check for hidden paracetamol in combination products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Opioid Analgesics: Classification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5738" y="1280160"/>
            <a:ext cx="5757862" cy="5349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by potency: weak/moderate versus strong opioids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classified by receptor activity: agonist, partial agonist, antagonist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agonists: morphine, fentanyl — maximal receptor activation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agonists: buprenorphine — ceiling effect on respiration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Antagonists: naloxone, naltrexone — block receptor activity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main receptor types: mu (μ), kappa (κ), delta (δ)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agents (tramadol, tapentadol) have mixed mechanisms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Methadone and diamorphine have specialised clinical roles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40680" cy="5120640"/>
          </a:xfrm>
          <a:prstGeom prst="roundRect">
            <a:avLst>
              <a:gd name="adj" fmla="val 1071"/>
            </a:avLst>
          </a:prstGeom>
          <a:solidFill>
            <a:srgbClr val="F7F9FB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691640"/>
            <a:ext cx="4983480" cy="731520"/>
          </a:xfrm>
          <a:prstGeom prst="roundRect">
            <a:avLst>
              <a:gd name="adj" fmla="val 7500"/>
            </a:avLst>
          </a:prstGeom>
          <a:solidFill>
            <a:srgbClr val="1F386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691640"/>
            <a:ext cx="4983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 binds μ-receptor (presynaptic neuron)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892540" y="2441448"/>
            <a:ext cx="0" cy="73152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0" y="2532888"/>
            <a:ext cx="4983480" cy="731520"/>
          </a:xfrm>
          <a:prstGeom prst="roundRect">
            <a:avLst>
              <a:gd name="adj" fmla="val 7500"/>
            </a:avLst>
          </a:prstGeom>
          <a:solidFill>
            <a:srgbClr val="1F6F6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532888"/>
            <a:ext cx="4983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Adenylate cyclase → ↓ cAMP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92540" y="3282696"/>
            <a:ext cx="0" cy="73152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0" y="3374136"/>
            <a:ext cx="4983480" cy="731520"/>
          </a:xfrm>
          <a:prstGeom prst="roundRect">
            <a:avLst>
              <a:gd name="adj" fmla="val 7500"/>
            </a:avLst>
          </a:prstGeom>
          <a:solidFill>
            <a:srgbClr val="1F386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3374136"/>
            <a:ext cx="4983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Ca²⁺ influx + ↑ K⁺ efflux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92540" y="4123944"/>
            <a:ext cx="0" cy="73152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0" y="4215384"/>
            <a:ext cx="4983480" cy="731520"/>
          </a:xfrm>
          <a:prstGeom prst="roundRect">
            <a:avLst>
              <a:gd name="adj" fmla="val 7500"/>
            </a:avLst>
          </a:prstGeom>
          <a:solidFill>
            <a:srgbClr val="1F6F6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4215384"/>
            <a:ext cx="4983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Neurotransmitter release (substance P, glutamate)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892540" y="4965192"/>
            <a:ext cx="0" cy="73152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0" y="5056632"/>
            <a:ext cx="4983480" cy="731520"/>
          </a:xfrm>
          <a:prstGeom prst="roundRect">
            <a:avLst>
              <a:gd name="adj" fmla="val 7500"/>
            </a:avLst>
          </a:prstGeom>
          <a:solidFill>
            <a:srgbClr val="1F386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5056632"/>
            <a:ext cx="4983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Pain signal transmission to brain → Analgesia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Opioids: Mechanism of 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394960" cy="5349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primarily to mu (μ) opioid receptors on neurons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Receptors are G-protein coupled, found centrally and peripherally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inhibits adenylate cyclase, reducing cAMP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calcium influx decreases neurotransmitter release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potassium efflux hyperpolarises the neuron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reduced transmission of pain signals to higher centres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activates descending inhibitory pathways from the brainstem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analgesia, sedation, euphoria, and respiratory depression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40680" cy="5120640"/>
          </a:xfrm>
          <a:prstGeom prst="roundRect">
            <a:avLst>
              <a:gd name="adj" fmla="val 1071"/>
            </a:avLst>
          </a:prstGeom>
          <a:solidFill>
            <a:srgbClr val="F7F9FB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691640"/>
            <a:ext cx="4983480" cy="731520"/>
          </a:xfrm>
          <a:prstGeom prst="roundRect">
            <a:avLst>
              <a:gd name="adj" fmla="val 7500"/>
            </a:avLst>
          </a:prstGeom>
          <a:solidFill>
            <a:srgbClr val="1F386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691640"/>
            <a:ext cx="4983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 binds μ-receptor (presynaptic neuron)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892540" y="2441448"/>
            <a:ext cx="0" cy="73152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0" y="2532888"/>
            <a:ext cx="4983480" cy="731520"/>
          </a:xfrm>
          <a:prstGeom prst="roundRect">
            <a:avLst>
              <a:gd name="adj" fmla="val 7500"/>
            </a:avLst>
          </a:prstGeom>
          <a:solidFill>
            <a:srgbClr val="1F6F6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532888"/>
            <a:ext cx="4983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Adenylate cyclase → ↓ cAMP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92540" y="3282696"/>
            <a:ext cx="0" cy="73152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0" y="3374136"/>
            <a:ext cx="4983480" cy="731520"/>
          </a:xfrm>
          <a:prstGeom prst="roundRect">
            <a:avLst>
              <a:gd name="adj" fmla="val 7500"/>
            </a:avLst>
          </a:prstGeom>
          <a:solidFill>
            <a:srgbClr val="1F386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3374136"/>
            <a:ext cx="4983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Ca²⁺ influx + ↑ K⁺ efflux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92540" y="4123944"/>
            <a:ext cx="0" cy="73152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0" y="4215384"/>
            <a:ext cx="4983480" cy="731520"/>
          </a:xfrm>
          <a:prstGeom prst="roundRect">
            <a:avLst>
              <a:gd name="adj" fmla="val 7500"/>
            </a:avLst>
          </a:prstGeom>
          <a:solidFill>
            <a:srgbClr val="1F6F6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4215384"/>
            <a:ext cx="4983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Neurotransmitter release (substance P, glutamate)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892540" y="4965192"/>
            <a:ext cx="0" cy="73152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0" y="5056632"/>
            <a:ext cx="4983480" cy="731520"/>
          </a:xfrm>
          <a:prstGeom prst="roundRect">
            <a:avLst>
              <a:gd name="adj" fmla="val 7500"/>
            </a:avLst>
          </a:prstGeom>
          <a:solidFill>
            <a:srgbClr val="1F386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5056632"/>
            <a:ext cx="4983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Pain signal transmission to brain → Analgesia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88952" cy="1285875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</a:t>
            </a:r>
            <a:r>
              <a:rPr lang="en-US" sz="28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Opioids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27167"/>
              </p:ext>
            </p:extLst>
          </p:nvPr>
        </p:nvGraphicFramePr>
        <p:xfrm>
          <a:off x="548640" y="1295589"/>
          <a:ext cx="11064240" cy="5830222"/>
        </p:xfrm>
        <a:graphic>
          <a:graphicData uri="http://schemas.openxmlformats.org/drawingml/2006/table">
            <a:tbl>
              <a:tblPr/>
              <a:tblGrid>
                <a:gridCol w="2651760"/>
                <a:gridCol w="2377440"/>
                <a:gridCol w="3383280"/>
                <a:gridCol w="2651760"/>
              </a:tblGrid>
              <a:tr h="3743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Adult Dose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506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Morphine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 / IV / IM / SC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5–10mg PO q4h; 2.5–5mg IV/SC q4h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standard, titrate to effect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06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Fentanyl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 / Transdermal / Transmucosal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25–100mcg IV; patch 12–25mcg/h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potent, rapid onset IV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506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Oxycodone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5–10mg q4–6h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 strong opioid, good bioavailability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06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Hydromorphone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 / IV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2–4mg PO q4h; 0.2–1mg IV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~5× more potent than morphine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506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Methadone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 / IV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Individualised; specialist titration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Long, variable half-life — accumulation risk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06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Pethidine (meperidine)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 / IV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50–100mg q3–4h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Toxic metabolite (norpethidine) — limited use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506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Buprenorphine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Sublingual / Transdermal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0.2–0.4mg SL; patch 5–20mcg/h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agonist, respiratory ceiling effect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25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Tapentadol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50–100mg q4–6h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mu-agonist + noradrenaline reuptake inhibitor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506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Diamorphine (heroin)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 / IM / SC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2.5–5mg, titrated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 some health systems for acute/palliative pain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Opioids: Clinical Uses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acute pain — trauma, myocardial infarction, post-operative pain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pain at all stages, especially moderate to severe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Cornerstone of palliative and end-of-life pain management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step 3 of the WHO analgesic ladder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Fentanyl widely used in anaesthesia and procedural sedation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Buprenorphine increasingly used for chronic pain with lower misuse risk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Methadone used for both pain and opioid substitution therapy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careful titration and monitoring due to potency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/ Moderate Opioids: Comprehensive Drug List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257943"/>
              </p:ext>
            </p:extLst>
          </p:nvPr>
        </p:nvGraphicFramePr>
        <p:xfrm>
          <a:off x="548640" y="1234438"/>
          <a:ext cx="11064240" cy="5297147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3657600"/>
                <a:gridCol w="2377440"/>
              </a:tblGrid>
              <a:tr h="6641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Adult Dose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8855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Codeine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30–60mg q4–6h, max 240mg/day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Prodrug — converted to morphine via CYP2D6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55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Dihydrocodeine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30mg q4–6h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profile to codeine, slightly stronger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1245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Tramadol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 / IV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50–100mg q4–6h, max 400mg/day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Mu-agonist + serotonin/noradrenaline reuptake inhibition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55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Dextropropoxyphene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65mg q4h (largely withdrawn)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Withdrawn in many countries — cardiac toxicity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Opioids: Clinical Uses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moderate pain — step 2 of the WHO analgesic ladder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combined with paracetamol (e.g. co-codamol) for additive effect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Codeine also used as an antitussive (cough suppressant) at lower doses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Tramadol's dual mechanism gives some efficacy in neuropathic pain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as a step between non-opioids and strong opioids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abuse potential than strong opioids, but not absent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Codeine and tramadol require caution in renal/hepatic impairment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avoided in breastfeeding due to variable infant exposure (codeine)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Opioids: Adverse Effects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depression — the most dangerous and dose-limiting effect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Sedation and drowsiness, especially at initiation or dose increase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Constipation — almost universal, requires prophylactic laxatives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Nausea and vomiting, particularly at treatment initiation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Pruritus (itching), more common with morphine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Urinary retention from increased bladder sphincter tone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Miosis (pinpoint pupils) — a key diagnostic sign of opioid effect/overdose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Tolerance, physical dependence, and risk of misuse with prolonged use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Opioids: Tolerance, Dependence, and Withdrawal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Tolerance: need for increasing doses to achieve the same effect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dependence: body adapts, withdrawal occurs if stopped abruptly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dependence (addiction): compulsive use despite harm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and dependence can occur even with appropriate medical use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symptoms: anxiety, sweating, piloerection, abdominal cramps, diarrhoea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is distressing but rarely life-threatening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Opioids should be tapered gradually, not stopped abruptly, after prolonged use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dependence (physiological) from addiction (behavioural) in counselling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Opioid Antagonists: Drug List and Mechanism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449810"/>
              </p:ext>
            </p:extLst>
          </p:nvPr>
        </p:nvGraphicFramePr>
        <p:xfrm>
          <a:off x="548640" y="1234440"/>
          <a:ext cx="11064240" cy="5257800"/>
        </p:xfrm>
        <a:graphic>
          <a:graphicData uri="http://schemas.openxmlformats.org/drawingml/2006/table">
            <a:tbl>
              <a:tblPr/>
              <a:tblGrid>
                <a:gridCol w="2468880"/>
                <a:gridCol w="2468880"/>
                <a:gridCol w="3108960"/>
                <a:gridCol w="3017520"/>
              </a:tblGrid>
              <a:tr h="8468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Adult Dose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8468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Naloxone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 / IM / Intranasal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0.4–2mg IV, repeat q2–3min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First-line for opioid overdose reversal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68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Naltrexone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50mg once daily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Long-acting, used in relapse prevention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1129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Nalmefene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 / Oral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Specialist dosing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Longer duration of antagonism than naloxone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879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Methylnaltrexone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Subcutaneous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Weight-based dosing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Peripherally restricted — treats opioid-induced constipation without reversing analgesia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Naloxone: Mechanism of Reversal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394960" cy="5349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Naloxone is a competitive mu-receptor antagonist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higher receptor affinity than most opioid agonists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Rapidly reverses opioid-induced respiratory depression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first-line treatment in suspected opioid overdose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 within 1–2 minutes IV; shorter duration than most opioids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dosing or infusion often required to prevent re-sedation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precipitate acute withdrawal in opioid-dependent patients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Family/caregiver take-home naloxone kits are increasingly used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40680" cy="5120640"/>
          </a:xfrm>
          <a:prstGeom prst="roundRect">
            <a:avLst>
              <a:gd name="adj" fmla="val 1071"/>
            </a:avLst>
          </a:prstGeom>
          <a:solidFill>
            <a:srgbClr val="F7F9FB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3474720"/>
            <a:ext cx="1594714" cy="914400"/>
          </a:xfrm>
          <a:prstGeom prst="roundRect">
            <a:avLst>
              <a:gd name="adj" fmla="val 6000"/>
            </a:avLst>
          </a:prstGeom>
          <a:solidFill>
            <a:srgbClr val="8B2E2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3474720"/>
            <a:ext cx="159471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 bound 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μ-receptor (overdose)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95514" y="3931920"/>
            <a:ext cx="797357" cy="0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792870" y="3474720"/>
            <a:ext cx="1295705" cy="914400"/>
          </a:xfrm>
          <a:prstGeom prst="roundRect">
            <a:avLst>
              <a:gd name="adj" fmla="val 6000"/>
            </a:avLst>
          </a:prstGeom>
          <a:solidFill>
            <a:srgbClr val="1F6F6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92870" y="3474720"/>
            <a:ext cx="129570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Naloxone — higher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 affinity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88575" y="3931920"/>
            <a:ext cx="697687" cy="0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786262" y="3383280"/>
            <a:ext cx="598018" cy="1097280"/>
          </a:xfrm>
          <a:prstGeom prst="roundRect">
            <a:avLst>
              <a:gd name="adj" fmla="val 9174"/>
            </a:avLst>
          </a:prstGeom>
          <a:solidFill>
            <a:srgbClr val="C8932A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786262" y="3383280"/>
            <a:ext cx="598018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Displaces opioid 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respiratory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Adjuvant Analgesics: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not primarily designed as analgesics but effective for certain pain types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Particularly useful in neuropathic, bone, and chronic pain syndromes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antidepressants, anticonvulsants, local anesthetics, and corticosteroids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 NMDA antagonists, alpha-2 agonists, and muscle relaxants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used alongside, not instead of, conventional analgesics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opioid-sparing effects, reducing opioid-related adverse effects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based on pain mechanism rather than pain severity alone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 central part of multimodal and palliative pain regimens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Adjuvant Analgesics: Antidepressants and Anticonvulsants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527922"/>
              </p:ext>
            </p:extLst>
          </p:nvPr>
        </p:nvGraphicFramePr>
        <p:xfrm>
          <a:off x="548640" y="1234440"/>
          <a:ext cx="11064240" cy="5448331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3291840"/>
                <a:gridCol w="3200400"/>
              </a:tblGrid>
              <a:tr h="5595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Adult Dose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595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Amitriptyline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10–25mg at night, up to 75mg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dose than antidepressant use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1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Nortriptyline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10–25mg at night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anticholinergic effects than amitriptyline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595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Duloxetine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30–60mg daily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First-line for diabetic neuropathy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95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Venlafaxine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37.5–225mg daily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SNRI for neuropathic pain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595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Gabapentin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Anticonvulsant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300–3600mg/day, titrated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First-line neuropathic pain agent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95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Pregabalin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Anticonvulsant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150–600mg/day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titration than gabapentin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595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Carbamazepine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Anticonvulsant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200–1200mg/day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 of choice for trigeminal neuralgia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1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Valproate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Anticonvulsant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Variable, specialist-guided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Second-line neuropathic/migraine prophylaxis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Adjuvant Analgesics: Local Anesthetics, Steroids, and Others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434804"/>
              </p:ext>
            </p:extLst>
          </p:nvPr>
        </p:nvGraphicFramePr>
        <p:xfrm>
          <a:off x="548640" y="1234440"/>
          <a:ext cx="11064240" cy="595986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3383280"/>
                <a:gridCol w="3108960"/>
              </a:tblGrid>
              <a:tr h="493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93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Lidocaine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anesthetic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Infiltration, patches, IV infusion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Also used as antiarrhythmic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Bupivacaine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anesthetic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Epidural, regional blocks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Longer acting than lidocaine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93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Ropivacaine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anesthetic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Epidural, regional blocks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cardiotoxic than bupivacaine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Prilocaine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anesthetic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Infiltration, topical (with lidocaine)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 EMLA cream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96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Dexamethasone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Corticosteroid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4–16mg/day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nerve compression/bone pain, raised ICP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Prednisolone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Corticosteroid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5–60mg/day, tapered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 and some cancer-related pain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93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Ketamine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NMDA antagonist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Low-dose infusion, specialist use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 refractory/opioid-resistant pain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Clonidine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Alpha-2 agonist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Oral, epidural, transdermal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Adjunct for neuropathic and procedural pain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93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Baclofen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Muscle relaxant (GABA-B agonist)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5–80mg/day, titrated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Spasticity-related pain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Tizanidine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Muscle relaxant (alpha-2 agonist)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2–36mg/day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Muscle spasm-related pain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Anesthetics: Mechanism of 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394960" cy="5349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voltage-gated sodium channels in nerve membranes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nerve depolarisation and action potential propagation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regional blocks, epidurals, and infiltration anesthesia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Topical/transdermal forms used for localised neuropathic pain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Lidocaine patches used in postherpetic neuralgia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 and duration vary by agent and addition of vasoconstrictors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 (CNS excitation, cardiac arrhythmia) occurs with systemic absorption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Bupivacaine is more cardiotoxic than ropivacaine at equivalent doses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40680" cy="5120640"/>
          </a:xfrm>
          <a:prstGeom prst="roundRect">
            <a:avLst>
              <a:gd name="adj" fmla="val 1071"/>
            </a:avLst>
          </a:prstGeom>
          <a:solidFill>
            <a:srgbClr val="F7F9FB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3429000"/>
            <a:ext cx="1495044" cy="1005840"/>
          </a:xfrm>
          <a:prstGeom prst="roundRect">
            <a:avLst>
              <a:gd name="adj" fmla="val 5455"/>
            </a:avLst>
          </a:prstGeom>
          <a:solidFill>
            <a:srgbClr val="1F386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3429000"/>
            <a:ext cx="1495044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anesthetic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nerve fiber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95844" y="3931920"/>
            <a:ext cx="747522" cy="0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643366" y="3429000"/>
            <a:ext cx="1495044" cy="1005840"/>
          </a:xfrm>
          <a:prstGeom prst="roundRect">
            <a:avLst>
              <a:gd name="adj" fmla="val 5455"/>
            </a:avLst>
          </a:prstGeom>
          <a:solidFill>
            <a:srgbClr val="1F6F6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43366" y="3429000"/>
            <a:ext cx="1495044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voltage-gated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Na⁺ channels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138410" y="3931920"/>
            <a:ext cx="747522" cy="0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885932" y="3429000"/>
            <a:ext cx="498348" cy="1005840"/>
          </a:xfrm>
          <a:prstGeom prst="roundRect">
            <a:avLst>
              <a:gd name="adj" fmla="val 11009"/>
            </a:avLst>
          </a:prstGeom>
          <a:solidFill>
            <a:srgbClr val="C8932A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885932" y="3429000"/>
            <a:ext cx="49834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Na⁺ influx 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potential 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pain signal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Topical and Localised Analgesic Preparations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Topical NSAIDs (e.g. diclofenac, ketoprofen gel) for localised musculoskeletal pain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Lidocaine patches/gel for postherpetic neuralgia and localised neuropathic pain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Capsaicin cream depletes substance P from sensory neurons over time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EMLA cream (lidocaine/prilocaine) for procedural and minor skin pain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Topical agents minimise systemic adverse effects compared to oral therapy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in elderly patients or those with multiple drug interactions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directly over the painful area, avoiding broken skin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education on application frequency and hand hygiene after use is essential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CANNABINOID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Cannabis and Cannabinoids: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Cannabinoids are compounds derived from the cannabis plant or synthesised analogues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Increasingly used as adjuncts in selected chronic and cancer pain syndromes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status varies widely by country — prescription-only in most jurisdictions that permit use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Kenya, cannabis remains a controlled substance with very limited medical access pathways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robust evidence exists for chronic neuropathic pain and chemotherapy-induced nausea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considered first-line analgesics — reserved for refractory or palliative cases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from recreational cannabis use, which carries separate legal and clinical considerations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 must know local regulatory status before any discussion of use with patients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CANNABINOID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Cannabinoids: Mechanism of 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394960" cy="5349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the endocannabinoid system — CB1 and CB2 receptors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CB1 receptors are concentrated in the central nervous system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CB2 receptors are mainly found on immune cells (anti-inflammatory role)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THC is a partial agonist at CB1 — produces analgesic and psychoactive effects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 has low CB1 affinity — modulates pain via other pathways (e.g. TRPV1)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neurotransmitter release via retrograde signalling at synapses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Modulates descending pain pathways similarly to opioids, but distinct receptors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on pain perception are partly mediated by anxiolytic/mood effects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40680" cy="5120640"/>
          </a:xfrm>
          <a:prstGeom prst="roundRect">
            <a:avLst>
              <a:gd name="adj" fmla="val 1071"/>
            </a:avLst>
          </a:prstGeom>
          <a:solidFill>
            <a:srgbClr val="F7F9FB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691640"/>
            <a:ext cx="4983480" cy="731520"/>
          </a:xfrm>
          <a:prstGeom prst="roundRect">
            <a:avLst>
              <a:gd name="adj" fmla="val 7500"/>
            </a:avLst>
          </a:prstGeom>
          <a:solidFill>
            <a:srgbClr val="3C7A4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691640"/>
            <a:ext cx="4983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THC/CBD binds CB1 receptors (presynaptic, CNS)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892540" y="2441448"/>
            <a:ext cx="0" cy="73152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0" y="2532888"/>
            <a:ext cx="4983480" cy="731520"/>
          </a:xfrm>
          <a:prstGeom prst="roundRect">
            <a:avLst>
              <a:gd name="adj" fmla="val 7500"/>
            </a:avLst>
          </a:prstGeom>
          <a:solidFill>
            <a:srgbClr val="1F6F6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532888"/>
            <a:ext cx="4983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Endocannabinoid system activated (retrograde signalling)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92540" y="3282696"/>
            <a:ext cx="0" cy="73152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0" y="3374136"/>
            <a:ext cx="4983480" cy="731520"/>
          </a:xfrm>
          <a:prstGeom prst="roundRect">
            <a:avLst>
              <a:gd name="adj" fmla="val 7500"/>
            </a:avLst>
          </a:prstGeom>
          <a:solidFill>
            <a:srgbClr val="3C7A4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3374136"/>
            <a:ext cx="4983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Adenylate cyclase, modulates Ca²⁺ / K⁺ channels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92540" y="4123944"/>
            <a:ext cx="0" cy="73152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0" y="4215384"/>
            <a:ext cx="4983480" cy="731520"/>
          </a:xfrm>
          <a:prstGeom prst="roundRect">
            <a:avLst>
              <a:gd name="adj" fmla="val 7500"/>
            </a:avLst>
          </a:prstGeom>
          <a:solidFill>
            <a:srgbClr val="1F6F6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4215384"/>
            <a:ext cx="4983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Release of excitatory neurotransmitters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92540" y="4965192"/>
            <a:ext cx="0" cy="73152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0" y="5056632"/>
            <a:ext cx="4983480" cy="731520"/>
          </a:xfrm>
          <a:prstGeom prst="roundRect">
            <a:avLst>
              <a:gd name="adj" fmla="val 7500"/>
            </a:avLst>
          </a:prstGeom>
          <a:solidFill>
            <a:srgbClr val="3C7A4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5056632"/>
            <a:ext cx="4983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Pain transmission + altered pain perception centrally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CANNABINOID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Cannabinoids: Drug List and Clinical Use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427144"/>
              </p:ext>
            </p:extLst>
          </p:nvPr>
        </p:nvGraphicFramePr>
        <p:xfrm>
          <a:off x="548640" y="1234440"/>
          <a:ext cx="11064240" cy="5409249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3108960"/>
                <a:gridCol w="2468880"/>
              </a:tblGrid>
              <a:tr h="772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72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THC (tetrahydrocannabinol)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Psychoactive cannabinoid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 pain, spasticity, appetite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psychoactive component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CBD (cannabidiol)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Non-psychoactive cannabinoid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Pain, anxiety, some epilepsies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significant psychoactive effect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10303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Nabiximols (Sativex)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THC:CBD oromucosal spray, ~1:1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MS-related spasticity and pain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Licensed in several countries for MS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03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Dronabinol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THC, oral capsule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Chemotherapy-induced nausea, appetite, some pain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FDA-approved for nausea/appetite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10303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Nabilone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cannabinoid, oral capsule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Chemotherapy-induced nausea, refractory pain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when standard antiemetics fail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CANNABINOID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Cannabinoids: Clinical Uses in Pain Management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neuropathic pain refractory to standard adjuvants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Cancer-related pain, particularly when combined with nausea/appetite loss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Spasticity-related pain in multiple sclerosis (nabiximols)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Chemotherapy-induced nausea and vomiting with associated pain syndromes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evidence in fibromyalgia and chronic non-cancer pain, though less robust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used in palliative care to address pain, nausea, and appetite together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strongest as an adjunct, not as monotherapy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guidelines generally place cannabinoids after standard adjuvants have failed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CANNABINOID ANALGESICS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Cannabinoids: Adverse Effects and Considerations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 effects: sedation, dizziness, impaired coordination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Psychiatric effects: anxiety, dysphoria, rarely psychosis (mainly with THC)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Cardiovascular: tachycardia, postural hypotension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mouth and increased appetite (common, generally mild)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and mild dependence possible with prolonged use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interactions: additive sedation with opioids, benzodiazepines, alcohol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in adolescents, pregnancy, and patients with psychotic illness history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and operating machinery should be avoided while using cannabinoids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TOPICS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 Analgesic Ladder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394960" cy="5349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developed for cancer pain, now applied broadly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(mild pain): non-opioids ± adjuvant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(moderate pain): weak opioids ± non-opioid ± adjuvant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(severe pain): strong opioids ± non-opioid ± adjuvant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should move up or down the ladder based on response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Adjuvants (and increasingly cannabinoids) can be added at any step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Reassessment of pain is required at each step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practice increasingly favours individualised, mechanism-based selection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40680" cy="5120640"/>
          </a:xfrm>
          <a:prstGeom prst="roundRect">
            <a:avLst>
              <a:gd name="adj" fmla="val 1071"/>
            </a:avLst>
          </a:prstGeom>
          <a:solidFill>
            <a:srgbClr val="F7F9FB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22083" y="4617720"/>
            <a:ext cx="2740914" cy="1353312"/>
          </a:xfrm>
          <a:prstGeom prst="roundRect">
            <a:avLst>
              <a:gd name="adj" fmla="val 4054"/>
            </a:avLst>
          </a:prstGeom>
          <a:solidFill>
            <a:srgbClr val="1F386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22083" y="4617720"/>
            <a:ext cx="2740914" cy="1353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Severe pain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opioids ± adjuvant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(morphine, fentanyl)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023735" y="3154680"/>
            <a:ext cx="3737610" cy="1353312"/>
          </a:xfrm>
          <a:prstGeom prst="roundRect">
            <a:avLst>
              <a:gd name="adj" fmla="val 4054"/>
            </a:avLst>
          </a:prstGeom>
          <a:solidFill>
            <a:srgbClr val="1F6F6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23735" y="3154680"/>
            <a:ext cx="3737610" cy="1353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Moderate pain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opioids ± non-opioid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(codeine, tramadol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0" y="1691640"/>
            <a:ext cx="4983480" cy="1353312"/>
          </a:xfrm>
          <a:prstGeom prst="roundRect">
            <a:avLst>
              <a:gd name="adj" fmla="val 4054"/>
            </a:avLst>
          </a:prstGeom>
          <a:solidFill>
            <a:srgbClr val="C8932A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691640"/>
            <a:ext cx="4983480" cy="1353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Mild pain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Non-opioids ± adjuvant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(paracetamol, NSAIDs)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TOPICS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 the Appropriate Analgesic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pain type: nociceptive, neuropathic, or mixed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pain severity using a validated pain scale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pain duration: acute versus chronic pain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patient comorbidities (renal, hepatic, cardiac, GI disease)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age, pregnancy status, and drug interaction risk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 multimodal therapy to reduce reliance on any single class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adjuvants to pain mechanism (e.g. gabapentin for neuropathic pain)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regularly and adjust the regimen based on response and side effects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TOPICS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Analgesics in Special Populations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Pregnancy: paracetamol preferred; avoid NSAIDs, especially 3rd trimester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Lactation: paracetamol and most NSAIDs considered compatible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Elderly: start low, go slow; increased sensitivity to opioids and NSAIDs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impairment: avoid/reduce NSAIDs; adjust opioid and gabapentinoid doses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Hepatic impairment: reduce paracetamol dose; caution with opioid metabolism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Children: weight-based dosing; aspirin avoided due to Reye's syndrome risk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Opioid-tolerant patients: require individualised, often higher, dosing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asthma: caution with NSAIDs due to bronchospasm risk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PALLIATIVE &amp; END-OF-LIFE CARE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Management in End-Stage Disease: Principles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in advanced cancer, organ failure, and terminal illness is often multifactorial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pain concept: physical, psychological, social, and spiritual components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shifts from cure to comfort, function, and dignity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Regular, scheduled dosing is preferred over ‘as needed’ dosing for constant pain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opioids are used without an arbitrary ceiling dose in this context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pain is managed with immediate-release rescue doses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Adjuvants are matched to specific pain mechanisms (bone, neuropathic, visceral)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and caregiver involvement is central to effective symptom control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PALLIATIVE &amp; END-OF-LIFE CARE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Opioid Titration and Breakthrough Pain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394960" cy="5349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an appropriate opioid dose based on prior opioid exposure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Titrate the regular (background) dose upward based on response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dose is typically 10–16% of the total daily opioid dose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Immediate-release formulations are used for breakthrough episodes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and adjust the background dose if breakthrough use is frequent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opioids (rotation) may help when adverse effects limit titration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Equianalgesic dosing tables guide safe conversion between opioids</a:t>
            </a:r>
            <a:endParaRPr lang="en-US" sz="19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pain scores and breakthrough dose frequency at every review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1" y="1371600"/>
            <a:ext cx="6143624" cy="5120640"/>
          </a:xfrm>
          <a:prstGeom prst="roundRect">
            <a:avLst>
              <a:gd name="adj" fmla="val 1071"/>
            </a:avLst>
          </a:prstGeom>
          <a:solidFill>
            <a:srgbClr val="F7F9FB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3337560"/>
            <a:ext cx="868680" cy="1188720"/>
          </a:xfrm>
          <a:prstGeom prst="roundRect">
            <a:avLst>
              <a:gd name="adj" fmla="val 6316"/>
            </a:avLst>
          </a:prstGeom>
          <a:solidFill>
            <a:srgbClr val="1F386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3337560"/>
            <a:ext cx="86868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pain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goals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78624" y="3931920"/>
            <a:ext cx="128016" cy="0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24928" y="3337560"/>
            <a:ext cx="868680" cy="1188720"/>
          </a:xfrm>
          <a:prstGeom prst="roundRect">
            <a:avLst>
              <a:gd name="adj" fmla="val 6316"/>
            </a:avLst>
          </a:prstGeom>
          <a:solidFill>
            <a:srgbClr val="1F6F6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24928" y="3337560"/>
            <a:ext cx="86868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Start/titrate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02752" y="3931920"/>
            <a:ext cx="128016" cy="0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449056" y="3337560"/>
            <a:ext cx="868680" cy="1188720"/>
          </a:xfrm>
          <a:prstGeom prst="roundRect">
            <a:avLst>
              <a:gd name="adj" fmla="val 6316"/>
            </a:avLst>
          </a:prstGeom>
          <a:solidFill>
            <a:srgbClr val="C8932A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49056" y="3337560"/>
            <a:ext cx="86868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pain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26880" y="3931920"/>
            <a:ext cx="128016" cy="0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73184" y="3337560"/>
            <a:ext cx="868680" cy="1188720"/>
          </a:xfrm>
          <a:prstGeom prst="roundRect">
            <a:avLst>
              <a:gd name="adj" fmla="val 6316"/>
            </a:avLst>
          </a:prstGeom>
          <a:solidFill>
            <a:srgbClr val="1F6F6B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73184" y="3337560"/>
            <a:ext cx="86868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adjuvants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(bone/neuropathic)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351008" y="3931920"/>
            <a:ext cx="128016" cy="0"/>
          </a:xfrm>
          <a:prstGeom prst="line">
            <a:avLst/>
          </a:prstGeom>
          <a:noFill/>
          <a:ln w="285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497312" y="3337560"/>
            <a:ext cx="868680" cy="1188720"/>
          </a:xfrm>
          <a:prstGeom prst="roundRect">
            <a:avLst>
              <a:gd name="adj" fmla="val 6316"/>
            </a:avLst>
          </a:prstGeom>
          <a:solidFill>
            <a:srgbClr val="1F386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497312" y="3337560"/>
            <a:ext cx="86868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480060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continuous, cyclical process — not a one-time decision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PALLIATIVE &amp; END-OF-LIFE CARE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Cancer Bone Pain and Adjunct Therapies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metastases are a common and severe source of cancer pain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NSAIDs are particularly effective for bone pain due to local prostaglandin release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Bisphosphonates (e.g. zoledronic acid) reduce bone pain and fracture risk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Denosumab is an alternative to bisphosphonates in bone metastasis pain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Palliative radiotherapy is highly effective for localised bone pain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Corticosteroids (dexamethasone) reduce peri-tumoural inflammation and pain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opioids remain the backbone of systemic bone pain control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multimodal approach combining these agents gives the best outcomes</a:t>
            </a:r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PALLIATIVE &amp; END-OF-LIFE CARE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Neuropathic Pain in Advanced Cancer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Arises from tumour invasion, compression, or treatment-related nerve injury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Described by patients as burning, shooting, or electric shock-like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poorly responsive to opioids alone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Gabapentin or pregabalin are first-line adjuvants in this setting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Amitriptyline or duloxetine are alternative or additional adjuvants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Corticosteroids help when nerve compression is the underlying cause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Ketamine infusion may be used for severe, opioid-refractory neuropathic pain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Nerve blocks or interventional techniques considered in specialist palliative care</a:t>
            </a:r>
            <a:endParaRPr 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PALLIATIVE &amp; END-OF-LIFE CARE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Management in the Last Days of Life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route often becomes unreliable as death approaches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Subcutaneous route (intermittent or continuous syringe driver) is preferred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subcutaneous infusion provides steady symptom control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syringe driver combinations include opioid, antiemetic, and sedative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Doses are converted carefully when switching routes (e.g. oral to subcutaneous)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Non-verbal pain assessment tools are used when patients cannot self-report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Comfort, not cure, guides every medication decision at this stage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education on expected symptoms reduces distress and crisis calls</a:t>
            </a:r>
            <a:endParaRPr 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PALLIATIVE &amp; END-OF-LIFE CARE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Considerations in End-of-Life Pain Management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 of double effect: treating pain even if it may hasten death as a secondary, unintended effect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analgesia is an ethical and human rights obligation, not optional comfort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causing dependence should never limit analgesia in terminal illness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Sedation for refractory symptoms (palliative sedation) is distinct from euthanasia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consent and shared decision-making remain essential throughout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and spiritual beliefs about pain and dying must be respected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 rationale for dose changes protects both patient and clinician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Multidisciplinary team input supports ethically sound, consistent decisions</a:t>
            </a:r>
            <a:endParaRPr 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PRACTICE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Nursing Considerations and Monitoring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and document a baseline pain assessment before administration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rights of medication administration for every analgesic dose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respiratory rate and sedation level closely with opioids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signs of GI bleeding or renal changes with NSAIDs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liver function and total paracetamol intake across all sources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pain after administration to evaluate effectiveness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naloxone readily available where strong opioids are in use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analgesic response and adverse effects in the patient record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PRACTICE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Education on Analgesic Use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analgesics as prescribed; do not exceed maximum daily doses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combination products for hidden paracetamol or NSAID content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NSAIDs with food to reduce gastric irritation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alcohol with opioids, cannabinoids, and high-dose paracetamol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drive or operate machinery when sedated by opioids or cannabinoids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signs of GI bleeding: black stools, vomiting blood, severe abdominal pain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laxatives proactively when on regular opioid therapy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stop long-term opioid therapy abruptly without medical guidance</a:t>
            </a:r>
            <a:endParaRPr lang="en-US" sz="2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PRACTICE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Interactions of Analgesics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NSAIDs + anticoagulants: increased bleeding risk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NSAIDs + ACE inhibitors/diuretics: reduced antihypertensive effect, renal risk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Opioids + benzodiazepines/alcohol/cannabinoids: additive CNS and respiratory depression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Paracetamol + chronic alcohol use: increased hepatotoxicity risk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Tramadol + SSRIs/MAOIs: risk of serotonin syndrome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 + other NSAIDs: increased GI toxicity without added benefit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Gabapentinoids + CNS depressants: additive sedation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review the full medication list before adding any new analgesic</a:t>
            </a:r>
            <a:endParaRPr lang="en-US" sz="2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TOPICS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Analgesia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two or more analgesic classes with different mechanisms together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multiple points along the pain pathway simultaneously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pain control while allowing lower doses of each agent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opioid requirements and opioid-related adverse effects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example: paracetamol + NSAID + weak opioid post-operatively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incorporate regional anesthesia and non-pharmacological methods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Particularly valuable in enhanced recovery after surgery (ERAS) protocols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foundation of both acute and palliative pain regimens</a:t>
            </a:r>
            <a:endParaRPr 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and Key 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4922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 — Analgesics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Analgesics relieve pain via peripheral, spinal, or central mechanisms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groups: non-opioid, opioid, adjuvant, and cannabinoid analgesics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NSAIDs inhibit COX enzymes; paracetamol acts mainly centrally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Opioids act on mu receptors to reduce pain signal transmission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Adjuvants target neuropathic, bone, and other specific pain mechanisms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Cannabinoids are an emerging, tightly regulated adjunct for refractory pain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End-of-life pain management prioritises comfort, dignity, and ethical analgesia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education and vigilant monitoring underpin safe analgesic use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5392</Words>
  <Application>Microsoft Office PowerPoint</Application>
  <PresentationFormat>Widescreen</PresentationFormat>
  <Paragraphs>866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Analgesics - Nursing Pharmacology (Comprehensive)</dc:title>
  <dc:subject>PptxGenJS Presentation</dc:subject>
  <dc:creator>Ishmael Wango Makumi</dc:creator>
  <cp:lastModifiedBy>Hp</cp:lastModifiedBy>
  <cp:revision>6</cp:revision>
  <dcterms:created xsi:type="dcterms:W3CDTF">2026-06-29T07:21:51Z</dcterms:created>
  <dcterms:modified xsi:type="dcterms:W3CDTF">2026-06-29T09:49:44Z</dcterms:modified>
</cp:coreProperties>
</file>